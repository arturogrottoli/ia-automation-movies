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y="5143500" cx="9144000"/>
  <p:notesSz cx="6858000" cy="9144000"/>
  <p:embeddedFontLst>
    <p:embeddedFont>
      <p:font typeface="Plus Jakarta Sans ExtraBold"/>
      <p:bold r:id="rId45"/>
      <p:boldItalic r:id="rId46"/>
    </p:embeddedFont>
    <p:embeddedFont>
      <p:font typeface="Plus Jakarta Sans"/>
      <p:regular r:id="rId47"/>
      <p:bold r:id="rId48"/>
      <p:italic r:id="rId49"/>
      <p:boldItalic r:id="rId50"/>
    </p:embeddedFont>
    <p:embeddedFont>
      <p:font typeface="Plus Jakarta Sans Light"/>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5" roundtripDataSignature="AMtx7miggJ100HCJlX5vG5OxH3klgBos5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PlusJakartaSansExtraBold-boldItalic.fntdata"/><Relationship Id="rId45" Type="http://schemas.openxmlformats.org/officeDocument/2006/relationships/font" Target="fonts/PlusJakartaSansExtraBold-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PlusJakartaSans-bold.fntdata"/><Relationship Id="rId47" Type="http://schemas.openxmlformats.org/officeDocument/2006/relationships/font" Target="fonts/PlusJakartaSans-regular.fntdata"/><Relationship Id="rId49" Type="http://schemas.openxmlformats.org/officeDocument/2006/relationships/font" Target="fonts/PlusJakartaSans-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PlusJakartaSansLight-regular.fntdata"/><Relationship Id="rId50" Type="http://schemas.openxmlformats.org/officeDocument/2006/relationships/font" Target="fonts/PlusJakartaSans-boldItalic.fntdata"/><Relationship Id="rId53" Type="http://schemas.openxmlformats.org/officeDocument/2006/relationships/font" Target="fonts/PlusJakartaSansLight-italic.fntdata"/><Relationship Id="rId52" Type="http://schemas.openxmlformats.org/officeDocument/2006/relationships/font" Target="fonts/PlusJakartaSansLight-bold.fntdata"/><Relationship Id="rId11" Type="http://schemas.openxmlformats.org/officeDocument/2006/relationships/slide" Target="slides/slide6.xml"/><Relationship Id="rId55" Type="http://customschemas.google.com/relationships/presentationmetadata" Target="metadata"/><Relationship Id="rId10" Type="http://schemas.openxmlformats.org/officeDocument/2006/relationships/slide" Target="slides/slide5.xml"/><Relationship Id="rId54" Type="http://schemas.openxmlformats.org/officeDocument/2006/relationships/font" Target="fonts/PlusJakartaSansLight-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efadfc440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g3efadfc440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7" name="Google Shape;307;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3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3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6" name="Google Shape;376;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e">
  <p:cSld name="BLANK_1">
    <p:spTree>
      <p:nvGrpSpPr>
        <p:cNvPr id="9" name="Shape 9"/>
        <p:cNvGrpSpPr/>
        <p:nvPr/>
      </p:nvGrpSpPr>
      <p:grpSpPr>
        <a:xfrm>
          <a:off x="0" y="0"/>
          <a:ext cx="0" cy="0"/>
          <a:chOff x="0" y="0"/>
          <a:chExt cx="0" cy="0"/>
        </a:xfrm>
      </p:grpSpPr>
      <p:pic>
        <p:nvPicPr>
          <p:cNvPr id="10" name="Google Shape;10;p41" title="Coder Facebook (6).png"/>
          <p:cNvPicPr preferRelativeResize="0"/>
          <p:nvPr/>
        </p:nvPicPr>
        <p:blipFill rotWithShape="1">
          <a:blip r:embed="rId2">
            <a:alphaModFix/>
          </a:blip>
          <a:srcRect b="0" l="0" r="0" t="0"/>
          <a:stretch/>
        </p:blipFill>
        <p:spPr>
          <a:xfrm>
            <a:off x="-111725" y="0"/>
            <a:ext cx="9255725" cy="520635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co 1">
  <p:cSld name="BLANK_3">
    <p:bg>
      <p:bgPr>
        <a:solidFill>
          <a:schemeClr val="lt1"/>
        </a:solidFill>
      </p:bgPr>
    </p:bg>
    <p:spTree>
      <p:nvGrpSpPr>
        <p:cNvPr id="11" name="Shape 11"/>
        <p:cNvGrpSpPr/>
        <p:nvPr/>
      </p:nvGrpSpPr>
      <p:grpSpPr>
        <a:xfrm>
          <a:off x="0" y="0"/>
          <a:ext cx="0" cy="0"/>
          <a:chOff x="0" y="0"/>
          <a:chExt cx="0" cy="0"/>
        </a:xfrm>
      </p:grpSpPr>
      <p:sp>
        <p:nvSpPr>
          <p:cNvPr id="12" name="Google Shape;12;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
        <p:nvSpPr>
          <p:cNvPr id="13" name="Google Shape;13;p42"/>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Coderhouse</a:t>
            </a:r>
            <a:endParaRPr b="0" i="0" sz="500" u="none" cap="none" strike="noStrike">
              <a:solidFill>
                <a:srgbClr val="222224"/>
              </a:solidFill>
              <a:latin typeface="Plus Jakarta Sans"/>
              <a:ea typeface="Plus Jakarta Sans"/>
              <a:cs typeface="Plus Jakarta Sans"/>
              <a:sym typeface="Plus Jakarta Sans"/>
            </a:endParaRPr>
          </a:p>
        </p:txBody>
      </p:sp>
      <p:sp>
        <p:nvSpPr>
          <p:cNvPr id="14" name="Google Shape;14;p42"/>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Internal  Presentation</a:t>
            </a:r>
            <a:endParaRPr b="0" i="0" sz="500" u="none" cap="none" strike="noStrike">
              <a:solidFill>
                <a:srgbClr val="222224"/>
              </a:solidFill>
              <a:latin typeface="Plus Jakarta Sans"/>
              <a:ea typeface="Plus Jakarta Sans"/>
              <a:cs typeface="Plus Jakarta Sans"/>
              <a:sym typeface="Plus Jakarta Sans"/>
            </a:endParaRPr>
          </a:p>
        </p:txBody>
      </p:sp>
      <p:sp>
        <p:nvSpPr>
          <p:cNvPr id="15" name="Google Shape;15;p42"/>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2026</a:t>
            </a:r>
            <a:endParaRPr b="0" i="0" sz="500" u="none" cap="none" strike="noStrike">
              <a:solidFill>
                <a:srgbClr val="222224"/>
              </a:solidFill>
              <a:latin typeface="Plus Jakarta Sans"/>
              <a:ea typeface="Plus Jakarta Sans"/>
              <a:cs typeface="Plus Jakarta Sans"/>
              <a:sym typeface="Plus Jakarta Sans"/>
            </a:endParaRPr>
          </a:p>
        </p:txBody>
      </p:sp>
      <p:sp>
        <p:nvSpPr>
          <p:cNvPr id="16" name="Google Shape;16;p42"/>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222224"/>
                </a:solidFill>
                <a:latin typeface="Plus Jakarta Sans"/>
                <a:ea typeface="Plus Jakarta Sans"/>
                <a:cs typeface="Plus Jakarta Sans"/>
                <a:sym typeface="Plus Jakarta Sans"/>
              </a:rPr>
              <a:t>‹#›</a:t>
            </a:fld>
            <a:endParaRPr b="0" i="0" sz="500" u="none" cap="none" strike="noStrike">
              <a:solidFill>
                <a:srgbClr val="222224"/>
              </a:solidFill>
              <a:latin typeface="Plus Jakarta Sans"/>
              <a:ea typeface="Plus Jakarta Sans"/>
              <a:cs typeface="Plus Jakarta Sans"/>
              <a:sym typeface="Plus Jakarta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eige" type="blank">
  <p:cSld name="BLANK">
    <p:bg>
      <p:bgPr>
        <a:solidFill>
          <a:srgbClr val="F8F2E8"/>
        </a:solidFill>
      </p:bgPr>
    </p:bg>
    <p:spTree>
      <p:nvGrpSpPr>
        <p:cNvPr id="17" name="Shape 17"/>
        <p:cNvGrpSpPr/>
        <p:nvPr/>
      </p:nvGrpSpPr>
      <p:grpSpPr>
        <a:xfrm>
          <a:off x="0" y="0"/>
          <a:ext cx="0" cy="0"/>
          <a:chOff x="0" y="0"/>
          <a:chExt cx="0" cy="0"/>
        </a:xfrm>
      </p:grpSpPr>
      <p:sp>
        <p:nvSpPr>
          <p:cNvPr id="18" name="Google Shape;18;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ranja">
  <p:cSld name="BLANK_2_1_1">
    <p:bg>
      <p:bgPr>
        <a:solidFill>
          <a:srgbClr val="FF632B"/>
        </a:solidFill>
      </p:bgPr>
    </p:bg>
    <p:spTree>
      <p:nvGrpSpPr>
        <p:cNvPr id="19" name="Shape 19"/>
        <p:cNvGrpSpPr/>
        <p:nvPr/>
      </p:nvGrpSpPr>
      <p:grpSpPr>
        <a:xfrm>
          <a:off x="0" y="0"/>
          <a:ext cx="0" cy="0"/>
          <a:chOff x="0" y="0"/>
          <a:chExt cx="0" cy="0"/>
        </a:xfrm>
      </p:grpSpPr>
      <p:sp>
        <p:nvSpPr>
          <p:cNvPr id="20" name="Google Shape;20;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rón">
  <p:cSld name="BLANK_2_1">
    <p:bg>
      <p:bgPr>
        <a:solidFill>
          <a:srgbClr val="260700"/>
        </a:solidFill>
      </p:bgPr>
    </p:bg>
    <p:spTree>
      <p:nvGrpSpPr>
        <p:cNvPr id="21" name="Shape 21"/>
        <p:cNvGrpSpPr/>
        <p:nvPr/>
      </p:nvGrpSpPr>
      <p:grpSpPr>
        <a:xfrm>
          <a:off x="0" y="0"/>
          <a:ext cx="0" cy="0"/>
          <a:chOff x="0" y="0"/>
          <a:chExt cx="0" cy="0"/>
        </a:xfrm>
      </p:grpSpPr>
      <p:sp>
        <p:nvSpPr>
          <p:cNvPr id="22" name="Google Shape;22;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1 1">
  <p:cSld name="BLANK_3_1_1_1">
    <p:bg>
      <p:bgPr>
        <a:solidFill>
          <a:schemeClr val="lt1"/>
        </a:solidFill>
      </p:bgPr>
    </p:bg>
    <p:spTree>
      <p:nvGrpSpPr>
        <p:cNvPr id="23" name="Shape 23"/>
        <p:cNvGrpSpPr/>
        <p:nvPr/>
      </p:nvGrpSpPr>
      <p:grpSpPr>
        <a:xfrm>
          <a:off x="0" y="0"/>
          <a:ext cx="0" cy="0"/>
          <a:chOff x="0" y="0"/>
          <a:chExt cx="0" cy="0"/>
        </a:xfrm>
      </p:grpSpPr>
      <p:pic>
        <p:nvPicPr>
          <p:cNvPr id="24" name="Google Shape;24;p46" title="4d917f2d-7c08-49ef-b177-326a60a5c815.png"/>
          <p:cNvPicPr preferRelativeResize="0"/>
          <p:nvPr/>
        </p:nvPicPr>
        <p:blipFill rotWithShape="1">
          <a:blip r:embed="rId2">
            <a:alphaModFix/>
          </a:blip>
          <a:srcRect b="23542" l="0" r="0" t="34387"/>
          <a:stretch/>
        </p:blipFill>
        <p:spPr>
          <a:xfrm>
            <a:off x="-45875" y="-37100"/>
            <a:ext cx="9235753" cy="5180600"/>
          </a:xfrm>
          <a:prstGeom prst="rect">
            <a:avLst/>
          </a:prstGeom>
          <a:noFill/>
          <a:ln>
            <a:noFill/>
          </a:ln>
        </p:spPr>
      </p:pic>
      <p:sp>
        <p:nvSpPr>
          <p:cNvPr id="25" name="Google Shape;25;p46"/>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26" name="Google Shape;26;p46"/>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27" name="Google Shape;27;p46"/>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28" name="Google Shape;28;p46"/>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sa">
  <p:cSld name="BLANK_2_1_1_1">
    <p:bg>
      <p:bgPr>
        <a:solidFill>
          <a:srgbClr val="FE64A3"/>
        </a:solidFill>
      </p:bgPr>
    </p:bg>
    <p:spTree>
      <p:nvGrpSpPr>
        <p:cNvPr id="29" name="Shape 29"/>
        <p:cNvGrpSpPr/>
        <p:nvPr/>
      </p:nvGrpSpPr>
      <p:grpSpPr>
        <a:xfrm>
          <a:off x="0" y="0"/>
          <a:ext cx="0" cy="0"/>
          <a:chOff x="0" y="0"/>
          <a:chExt cx="0" cy="0"/>
        </a:xfrm>
      </p:grpSpPr>
      <p:sp>
        <p:nvSpPr>
          <p:cNvPr id="30" name="Google Shape;30;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tardecer">
  <p:cSld name="BLANK_4">
    <p:bg>
      <p:bgPr>
        <a:solidFill>
          <a:srgbClr val="F8F2E8"/>
        </a:solidFill>
      </p:bgPr>
    </p:bg>
    <p:spTree>
      <p:nvGrpSpPr>
        <p:cNvPr id="31" name="Shape 31"/>
        <p:cNvGrpSpPr/>
        <p:nvPr/>
      </p:nvGrpSpPr>
      <p:grpSpPr>
        <a:xfrm>
          <a:off x="0" y="0"/>
          <a:ext cx="0" cy="0"/>
          <a:chOff x="0" y="0"/>
          <a:chExt cx="0" cy="0"/>
        </a:xfrm>
      </p:grpSpPr>
      <p:sp>
        <p:nvSpPr>
          <p:cNvPr id="32" name="Google Shape;32;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pic>
        <p:nvPicPr>
          <p:cNvPr id="33" name="Google Shape;33;p48" title="Group 1321318181.png"/>
          <p:cNvPicPr preferRelativeResize="0"/>
          <p:nvPr/>
        </p:nvPicPr>
        <p:blipFill rotWithShape="1">
          <a:blip r:embed="rId2">
            <a:alphaModFix/>
          </a:blip>
          <a:srcRect b="0" l="0" r="0" t="0"/>
          <a:stretch/>
        </p:blipFill>
        <p:spPr>
          <a:xfrm>
            <a:off x="0" y="2076162"/>
            <a:ext cx="9143997" cy="3067338"/>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4" name="Shape 34"/>
        <p:cNvGrpSpPr/>
        <p:nvPr/>
      </p:nvGrpSpPr>
      <p:grpSpPr>
        <a:xfrm>
          <a:off x="0" y="0"/>
          <a:ext cx="0" cy="0"/>
          <a:chOff x="0" y="0"/>
          <a:chExt cx="0" cy="0"/>
        </a:xfrm>
      </p:grpSpPr>
      <p:sp>
        <p:nvSpPr>
          <p:cNvPr id="35" name="Google Shape;35;p4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6" name="Google Shape;36;p4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7" name="Google Shape;37;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sp>
        <p:nvSpPr>
          <p:cNvPr id="39" name="Google Shape;39;p5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0" name="Google Shape;40;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sp>
        <p:nvSpPr>
          <p:cNvPr id="42" name="Google Shape;42;p5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3" name="Google Shape;43;p5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4" name="Google Shape;44;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5" name="Shape 45"/>
        <p:cNvGrpSpPr/>
        <p:nvPr/>
      </p:nvGrpSpPr>
      <p:grpSpPr>
        <a:xfrm>
          <a:off x="0" y="0"/>
          <a:ext cx="0" cy="0"/>
          <a:chOff x="0" y="0"/>
          <a:chExt cx="0" cy="0"/>
        </a:xfrm>
      </p:grpSpPr>
      <p:sp>
        <p:nvSpPr>
          <p:cNvPr id="46" name="Google Shape;46;p5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7" name="Google Shape;47;p5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8" name="Google Shape;48;p5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9" name="Google Shape;49;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5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2" name="Google Shape;52;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3" name="Shape 53"/>
        <p:cNvGrpSpPr/>
        <p:nvPr/>
      </p:nvGrpSpPr>
      <p:grpSpPr>
        <a:xfrm>
          <a:off x="0" y="0"/>
          <a:ext cx="0" cy="0"/>
          <a:chOff x="0" y="0"/>
          <a:chExt cx="0" cy="0"/>
        </a:xfrm>
      </p:grpSpPr>
      <p:sp>
        <p:nvSpPr>
          <p:cNvPr id="54" name="Google Shape;54;p5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5" name="Google Shape;55;p5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6" name="Google Shape;56;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7" name="Shape 57"/>
        <p:cNvGrpSpPr/>
        <p:nvPr/>
      </p:nvGrpSpPr>
      <p:grpSpPr>
        <a:xfrm>
          <a:off x="0" y="0"/>
          <a:ext cx="0" cy="0"/>
          <a:chOff x="0" y="0"/>
          <a:chExt cx="0" cy="0"/>
        </a:xfrm>
      </p:grpSpPr>
      <p:sp>
        <p:nvSpPr>
          <p:cNvPr id="58" name="Google Shape;58;p5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9" name="Google Shape;59;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0" name="Shape 60"/>
        <p:cNvGrpSpPr/>
        <p:nvPr/>
      </p:nvGrpSpPr>
      <p:grpSpPr>
        <a:xfrm>
          <a:off x="0" y="0"/>
          <a:ext cx="0" cy="0"/>
          <a:chOff x="0" y="0"/>
          <a:chExt cx="0" cy="0"/>
        </a:xfrm>
      </p:grpSpPr>
      <p:sp>
        <p:nvSpPr>
          <p:cNvPr id="61" name="Google Shape;61;p5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5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63" name="Google Shape;63;p5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5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5" name="Google Shape;65;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5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68" name="Google Shape;68;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9" name="Shape 69"/>
        <p:cNvGrpSpPr/>
        <p:nvPr/>
      </p:nvGrpSpPr>
      <p:grpSpPr>
        <a:xfrm>
          <a:off x="0" y="0"/>
          <a:ext cx="0" cy="0"/>
          <a:chOff x="0" y="0"/>
          <a:chExt cx="0" cy="0"/>
        </a:xfrm>
      </p:grpSpPr>
      <p:sp>
        <p:nvSpPr>
          <p:cNvPr id="70" name="Google Shape;70;p5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71" name="Google Shape;71;p5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72" name="Google Shape;72;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p:cSld name="BLANK_3_1">
    <p:bg>
      <p:bgPr>
        <a:solidFill>
          <a:schemeClr val="lt1"/>
        </a:solidFill>
      </p:bgPr>
    </p:bg>
    <p:spTree>
      <p:nvGrpSpPr>
        <p:cNvPr id="73" name="Shape 73"/>
        <p:cNvGrpSpPr/>
        <p:nvPr/>
      </p:nvGrpSpPr>
      <p:grpSpPr>
        <a:xfrm>
          <a:off x="0" y="0"/>
          <a:ext cx="0" cy="0"/>
          <a:chOff x="0" y="0"/>
          <a:chExt cx="0" cy="0"/>
        </a:xfrm>
      </p:grpSpPr>
      <p:pic>
        <p:nvPicPr>
          <p:cNvPr id="74" name="Google Shape;74;p59" title="27800720-6c2b-4e33-a6ed-849e08f57757.png"/>
          <p:cNvPicPr preferRelativeResize="0"/>
          <p:nvPr/>
        </p:nvPicPr>
        <p:blipFill rotWithShape="1">
          <a:blip r:embed="rId2">
            <a:alphaModFix/>
          </a:blip>
          <a:srcRect b="53399" l="0" r="0" t="15047"/>
          <a:stretch/>
        </p:blipFill>
        <p:spPr>
          <a:xfrm>
            <a:off x="-45875" y="-37100"/>
            <a:ext cx="9235751" cy="5180600"/>
          </a:xfrm>
          <a:prstGeom prst="rect">
            <a:avLst/>
          </a:prstGeom>
          <a:noFill/>
          <a:ln>
            <a:noFill/>
          </a:ln>
        </p:spPr>
      </p:pic>
      <p:sp>
        <p:nvSpPr>
          <p:cNvPr id="75" name="Google Shape;75;p59"/>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76" name="Google Shape;76;p59"/>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77" name="Google Shape;77;p59"/>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78" name="Google Shape;78;p59"/>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1">
  <p:cSld name="BLANK_3_1_1">
    <p:bg>
      <p:bgPr>
        <a:solidFill>
          <a:schemeClr val="lt1"/>
        </a:solidFill>
      </p:bgPr>
    </p:bg>
    <p:spTree>
      <p:nvGrpSpPr>
        <p:cNvPr id="79" name="Shape 79"/>
        <p:cNvGrpSpPr/>
        <p:nvPr/>
      </p:nvGrpSpPr>
      <p:grpSpPr>
        <a:xfrm>
          <a:off x="0" y="0"/>
          <a:ext cx="0" cy="0"/>
          <a:chOff x="0" y="0"/>
          <a:chExt cx="0" cy="0"/>
        </a:xfrm>
      </p:grpSpPr>
      <p:pic>
        <p:nvPicPr>
          <p:cNvPr id="80" name="Google Shape;80;p60" title="pexels-dystopiasavagestudios-33048706 1.png"/>
          <p:cNvPicPr preferRelativeResize="0"/>
          <p:nvPr/>
        </p:nvPicPr>
        <p:blipFill rotWithShape="1">
          <a:blip r:embed="rId2">
            <a:alphaModFix/>
          </a:blip>
          <a:srcRect b="41728" l="0" r="0" t="13874"/>
          <a:stretch/>
        </p:blipFill>
        <p:spPr>
          <a:xfrm>
            <a:off x="-45875" y="-37100"/>
            <a:ext cx="9235753" cy="5180600"/>
          </a:xfrm>
          <a:prstGeom prst="rect">
            <a:avLst/>
          </a:prstGeom>
          <a:noFill/>
          <a:ln>
            <a:noFill/>
          </a:ln>
        </p:spPr>
      </p:pic>
      <p:sp>
        <p:nvSpPr>
          <p:cNvPr id="81" name="Google Shape;81;p60"/>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82" name="Google Shape;82;p60"/>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83" name="Google Shape;83;p60"/>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84" name="Google Shape;84;p60"/>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gro">
  <p:cSld name="BLANK_2">
    <p:bg>
      <p:bgPr>
        <a:solidFill>
          <a:srgbClr val="171717"/>
        </a:solidFill>
      </p:bgPr>
    </p:bg>
    <p:spTree>
      <p:nvGrpSpPr>
        <p:cNvPr id="85" name="Shape 85"/>
        <p:cNvGrpSpPr/>
        <p:nvPr/>
      </p:nvGrpSpPr>
      <p:grpSpPr>
        <a:xfrm>
          <a:off x="0" y="0"/>
          <a:ext cx="0" cy="0"/>
          <a:chOff x="0" y="0"/>
          <a:chExt cx="0" cy="0"/>
        </a:xfrm>
      </p:grpSpPr>
      <p:sp>
        <p:nvSpPr>
          <p:cNvPr id="86" name="Google Shape;86;p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9.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
          <p:cNvSpPr txBox="1"/>
          <p:nvPr/>
        </p:nvSpPr>
        <p:spPr>
          <a:xfrm>
            <a:off x="1340550" y="1539125"/>
            <a:ext cx="6462900" cy="1389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600"/>
              <a:buFont typeface="Arial"/>
              <a:buNone/>
            </a:pPr>
            <a:r>
              <a:rPr b="0" i="0" lang="es" sz="6600" u="none" cap="none" strike="noStrike">
                <a:solidFill>
                  <a:srgbClr val="F8F2E8"/>
                </a:solidFill>
                <a:latin typeface="Plus Jakarta Sans ExtraBold"/>
                <a:ea typeface="Plus Jakarta Sans ExtraBold"/>
                <a:cs typeface="Plus Jakarta Sans ExtraBold"/>
                <a:sym typeface="Plus Jakarta Sans ExtraBold"/>
              </a:rPr>
              <a:t>IA Automation</a:t>
            </a:r>
            <a:endParaRPr b="0" i="0" sz="96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92" name="Google Shape;92;p1"/>
          <p:cNvSpPr txBox="1"/>
          <p:nvPr/>
        </p:nvSpPr>
        <p:spPr>
          <a:xfrm>
            <a:off x="1340550" y="1338150"/>
            <a:ext cx="6462900" cy="318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s" sz="1000" u="none" cap="none" strike="noStrike">
                <a:solidFill>
                  <a:srgbClr val="F8F2E8"/>
                </a:solidFill>
                <a:latin typeface="Plus Jakarta Sans Light"/>
                <a:ea typeface="Plus Jakarta Sans Light"/>
                <a:cs typeface="Plus Jakarta Sans Light"/>
                <a:sym typeface="Plus Jakarta Sans Light"/>
              </a:rPr>
              <a:t>Programa · Comisión 2026</a:t>
            </a:r>
            <a:endParaRPr b="0" i="0" sz="1000" u="none" cap="none" strike="noStrike">
              <a:solidFill>
                <a:srgbClr val="F8F2E8"/>
              </a:solidFill>
              <a:latin typeface="Plus Jakarta Sans Light"/>
              <a:ea typeface="Plus Jakarta Sans Light"/>
              <a:cs typeface="Plus Jakarta Sans Light"/>
              <a:sym typeface="Plus Jakarta Sans Light"/>
            </a:endParaRPr>
          </a:p>
        </p:txBody>
      </p:sp>
      <p:pic>
        <p:nvPicPr>
          <p:cNvPr id="93" name="Google Shape;93;p1" title="logo gradient 1.png"/>
          <p:cNvPicPr preferRelativeResize="0"/>
          <p:nvPr/>
        </p:nvPicPr>
        <p:blipFill rotWithShape="1">
          <a:blip r:embed="rId3">
            <a:alphaModFix/>
          </a:blip>
          <a:srcRect b="0" l="0" r="0" t="0"/>
          <a:stretch/>
        </p:blipFill>
        <p:spPr>
          <a:xfrm>
            <a:off x="3830803" y="4523150"/>
            <a:ext cx="1547950" cy="452250"/>
          </a:xfrm>
          <a:prstGeom prst="rect">
            <a:avLst/>
          </a:prstGeom>
          <a:noFill/>
          <a:ln>
            <a:noFill/>
          </a:ln>
        </p:spPr>
      </p:pic>
      <p:sp>
        <p:nvSpPr>
          <p:cNvPr id="94" name="Google Shape;94;p1"/>
          <p:cNvSpPr txBox="1"/>
          <p:nvPr/>
        </p:nvSpPr>
        <p:spPr>
          <a:xfrm>
            <a:off x="1373325" y="3219550"/>
            <a:ext cx="6462900" cy="318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s" sz="1600" u="none" cap="none" strike="noStrike">
                <a:solidFill>
                  <a:srgbClr val="F8F2E8"/>
                </a:solidFill>
                <a:latin typeface="Plus Jakarta Sans"/>
                <a:ea typeface="Plus Jakarta Sans"/>
                <a:cs typeface="Plus Jakarta Sans"/>
                <a:sym typeface="Plus Jakarta Sans"/>
              </a:rPr>
              <a:t>Módulo 1</a:t>
            </a:r>
            <a:endParaRPr b="1" i="0" sz="1600" u="none" cap="none" strike="noStrike">
              <a:solidFill>
                <a:srgbClr val="F8F2E8"/>
              </a:solidFill>
              <a:latin typeface="Plus Jakarta Sans"/>
              <a:ea typeface="Plus Jakarta Sans"/>
              <a:cs typeface="Plus Jakarta Sans"/>
              <a:sym typeface="Plus Jakarta Sans"/>
            </a:endParaRPr>
          </a:p>
          <a:p>
            <a:pPr indent="0" lvl="0" marL="0" marR="0" rtl="0" algn="ctr">
              <a:lnSpc>
                <a:spcPct val="100000"/>
              </a:lnSpc>
              <a:spcBef>
                <a:spcPts val="0"/>
              </a:spcBef>
              <a:spcAft>
                <a:spcPts val="0"/>
              </a:spcAft>
              <a:buClr>
                <a:srgbClr val="000000"/>
              </a:buClr>
              <a:buSzPts val="1000"/>
              <a:buFont typeface="Arial"/>
              <a:buNone/>
            </a:pPr>
            <a:r>
              <a:rPr b="0" i="0" lang="es" sz="1600" u="none" cap="none" strike="noStrike">
                <a:solidFill>
                  <a:srgbClr val="F8F2E8"/>
                </a:solidFill>
                <a:latin typeface="Plus Jakarta Sans Light"/>
                <a:ea typeface="Plus Jakarta Sans Light"/>
                <a:cs typeface="Plus Jakarta Sans Light"/>
                <a:sym typeface="Plus Jakarta Sans Light"/>
              </a:rPr>
              <a:t>Fundamentos de IA y Mentalidad de Arquitecto de Automatización</a:t>
            </a:r>
            <a:endParaRPr b="0" i="0" sz="1600" u="none" cap="none" strike="noStrike">
              <a:solidFill>
                <a:srgbClr val="F8F2E8"/>
              </a:solidFill>
              <a:latin typeface="Plus Jakarta Sans Light"/>
              <a:ea typeface="Plus Jakarta Sans Light"/>
              <a:cs typeface="Plus Jakarta Sans Light"/>
              <a:sym typeface="Plus Jakarta Sans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
          <p:cNvSpPr txBox="1"/>
          <p:nvPr/>
        </p:nvSpPr>
        <p:spPr>
          <a:xfrm>
            <a:off x="1340550" y="656475"/>
            <a:ext cx="6462900" cy="840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s" sz="2800" u="none" cap="none" strike="noStrike">
                <a:solidFill>
                  <a:srgbClr val="260700"/>
                </a:solidFill>
                <a:latin typeface="Plus Jakarta Sans ExtraBold"/>
                <a:ea typeface="Plus Jakarta Sans ExtraBold"/>
                <a:cs typeface="Plus Jakarta Sans ExtraBold"/>
                <a:sym typeface="Plus Jakarta Sans ExtraBold"/>
              </a:rPr>
              <a:t>Presentación</a:t>
            </a:r>
            <a:endParaRPr b="0" i="0" sz="28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ctr">
              <a:lnSpc>
                <a:spcPct val="100000"/>
              </a:lnSpc>
              <a:spcBef>
                <a:spcPts val="0"/>
              </a:spcBef>
              <a:spcAft>
                <a:spcPts val="0"/>
              </a:spcAft>
              <a:buClr>
                <a:srgbClr val="000000"/>
              </a:buClr>
              <a:buSzPts val="2800"/>
              <a:buFont typeface="Arial"/>
              <a:buNone/>
            </a:pPr>
            <a:r>
              <a:rPr b="0" i="0" lang="es" sz="2800" u="none" cap="none" strike="noStrike">
                <a:solidFill>
                  <a:srgbClr val="260700"/>
                </a:solidFill>
                <a:latin typeface="Plus Jakarta Sans ExtraBold"/>
                <a:ea typeface="Plus Jakarta Sans ExtraBold"/>
                <a:cs typeface="Plus Jakarta Sans ExtraBold"/>
                <a:sym typeface="Plus Jakarta Sans ExtraBold"/>
              </a:rPr>
              <a:t>del </a:t>
            </a:r>
            <a:r>
              <a:rPr b="0" i="0" lang="es" sz="2800" u="none" cap="none" strike="noStrike">
                <a:solidFill>
                  <a:srgbClr val="260700"/>
                </a:solidFill>
                <a:highlight>
                  <a:srgbClr val="FDAB2E"/>
                </a:highlight>
                <a:latin typeface="Plus Jakarta Sans ExtraBold"/>
                <a:ea typeface="Plus Jakarta Sans ExtraBold"/>
                <a:cs typeface="Plus Jakarta Sans ExtraBold"/>
                <a:sym typeface="Plus Jakarta Sans ExtraBold"/>
              </a:rPr>
              <a:t>equipo</a:t>
            </a:r>
            <a:r>
              <a:rPr b="0" i="0" lang="es" sz="2800" u="none" cap="none" strike="noStrike">
                <a:solidFill>
                  <a:srgbClr val="260700"/>
                </a:solidFill>
                <a:latin typeface="Plus Jakarta Sans ExtraBold"/>
                <a:ea typeface="Plus Jakarta Sans ExtraBold"/>
                <a:cs typeface="Plus Jakarta Sans ExtraBold"/>
                <a:sym typeface="Plus Jakarta Sans ExtraBold"/>
              </a:rPr>
              <a:t>:</a:t>
            </a:r>
            <a:endParaRPr b="0" i="0" sz="2800" u="none" cap="none" strike="noStrike">
              <a:solidFill>
                <a:srgbClr val="260700"/>
              </a:solidFill>
              <a:latin typeface="Plus Jakarta Sans"/>
              <a:ea typeface="Plus Jakarta Sans"/>
              <a:cs typeface="Plus Jakarta Sans"/>
              <a:sym typeface="Plus Jakarta Sans"/>
            </a:endParaRPr>
          </a:p>
        </p:txBody>
      </p:sp>
      <p:grpSp>
        <p:nvGrpSpPr>
          <p:cNvPr id="100" name="Google Shape;100;p2"/>
          <p:cNvGrpSpPr/>
          <p:nvPr/>
        </p:nvGrpSpPr>
        <p:grpSpPr>
          <a:xfrm>
            <a:off x="1228250" y="2131275"/>
            <a:ext cx="2108575" cy="2116875"/>
            <a:chOff x="1157575" y="2131275"/>
            <a:chExt cx="2108575" cy="2116875"/>
          </a:xfrm>
        </p:grpSpPr>
        <p:pic>
          <p:nvPicPr>
            <p:cNvPr id="101" name="Google Shape;101;p2" title="bd164216-1890-4e45-86ba-f529a22ec08f.png"/>
            <p:cNvPicPr preferRelativeResize="0"/>
            <p:nvPr/>
          </p:nvPicPr>
          <p:blipFill rotWithShape="1">
            <a:blip r:embed="rId3">
              <a:alphaModFix/>
            </a:blip>
            <a:srcRect b="19652" l="0" r="0" t="0"/>
            <a:stretch/>
          </p:blipFill>
          <p:spPr>
            <a:xfrm>
              <a:off x="1161650" y="2131275"/>
              <a:ext cx="2104500" cy="2116800"/>
            </a:xfrm>
            <a:prstGeom prst="roundRect">
              <a:avLst>
                <a:gd fmla="val 11966" name="adj"/>
              </a:avLst>
            </a:prstGeom>
            <a:noFill/>
            <a:ln>
              <a:noFill/>
            </a:ln>
          </p:spPr>
        </p:pic>
        <p:sp>
          <p:nvSpPr>
            <p:cNvPr id="102" name="Google Shape;102;p2"/>
            <p:cNvSpPr/>
            <p:nvPr/>
          </p:nvSpPr>
          <p:spPr>
            <a:xfrm>
              <a:off x="1157575" y="3510150"/>
              <a:ext cx="2104500" cy="738000"/>
            </a:xfrm>
            <a:prstGeom prst="round2SameRect">
              <a:avLst>
                <a:gd fmla="val 0" name="adj1"/>
                <a:gd fmla="val 34038" name="adj2"/>
              </a:avLst>
            </a:prstGeom>
            <a:solidFill>
              <a:srgbClr val="FF632B"/>
            </a:solidFill>
            <a:ln>
              <a:noFill/>
            </a:ln>
          </p:spPr>
          <p:txBody>
            <a:bodyPr anchorCtr="0" anchor="ctr" bIns="91425" lIns="91425" spcFirstLastPara="1" rIns="91425" wrap="square" tIns="91425">
              <a:noAutofit/>
            </a:bodyPr>
            <a:lstStyle/>
            <a:p>
              <a:pPr indent="0" lvl="0" marL="165215" marR="0" rtl="0" algn="l">
                <a:lnSpc>
                  <a:spcPct val="100000"/>
                </a:lnSpc>
                <a:spcBef>
                  <a:spcPts val="0"/>
                </a:spcBef>
                <a:spcAft>
                  <a:spcPts val="0"/>
                </a:spcAft>
                <a:buClr>
                  <a:srgbClr val="000000"/>
                </a:buClr>
                <a:buSzPts val="1300"/>
                <a:buFont typeface="Arial"/>
                <a:buNone/>
              </a:pPr>
              <a:r>
                <a:rPr b="1" i="0" lang="es" sz="1300" u="none" cap="none" strike="noStrike">
                  <a:solidFill>
                    <a:srgbClr val="F8F2E8"/>
                  </a:solidFill>
                  <a:latin typeface="Plus Jakarta Sans"/>
                  <a:ea typeface="Plus Jakarta Sans"/>
                  <a:cs typeface="Plus Jakarta Sans"/>
                  <a:sym typeface="Plus Jakarta Sans"/>
                </a:rPr>
                <a:t>Profesor:</a:t>
              </a:r>
              <a:endParaRPr b="1" i="0" sz="1300" u="none" cap="none" strike="noStrike">
                <a:solidFill>
                  <a:srgbClr val="F8F2E8"/>
                </a:solidFill>
                <a:latin typeface="Plus Jakarta Sans"/>
                <a:ea typeface="Plus Jakarta Sans"/>
                <a:cs typeface="Plus Jakarta Sans"/>
                <a:sym typeface="Plus Jakarta Sans"/>
              </a:endParaRPr>
            </a:p>
            <a:p>
              <a:pPr indent="0" lvl="0" marL="165215" marR="0" rtl="0" algn="l">
                <a:lnSpc>
                  <a:spcPct val="100000"/>
                </a:lnSpc>
                <a:spcBef>
                  <a:spcPts val="0"/>
                </a:spcBef>
                <a:spcAft>
                  <a:spcPts val="0"/>
                </a:spcAft>
                <a:buClr>
                  <a:srgbClr val="000000"/>
                </a:buClr>
                <a:buSzPts val="800"/>
                <a:buFont typeface="Arial"/>
                <a:buNone/>
              </a:pPr>
              <a:r>
                <a:rPr b="0" i="0" lang="es" sz="800" u="none" cap="none" strike="noStrike">
                  <a:solidFill>
                    <a:srgbClr val="F8F2E8"/>
                  </a:solidFill>
                  <a:latin typeface="Plus Jakarta Sans"/>
                  <a:ea typeface="Plus Jakarta Sans"/>
                  <a:cs typeface="Plus Jakarta Sans"/>
                  <a:sym typeface="Plus Jakarta Sans"/>
                </a:rPr>
                <a:t>[Nombre del profesor/a]</a:t>
              </a:r>
              <a:endParaRPr b="0" i="0" sz="1400" u="none" cap="none" strike="noStrike">
                <a:solidFill>
                  <a:schemeClr val="lt1"/>
                </a:solidFill>
                <a:latin typeface="Arial"/>
                <a:ea typeface="Arial"/>
                <a:cs typeface="Arial"/>
                <a:sym typeface="Arial"/>
              </a:endParaRPr>
            </a:p>
          </p:txBody>
        </p:sp>
      </p:grpSp>
      <p:grpSp>
        <p:nvGrpSpPr>
          <p:cNvPr id="103" name="Google Shape;103;p2"/>
          <p:cNvGrpSpPr/>
          <p:nvPr/>
        </p:nvGrpSpPr>
        <p:grpSpPr>
          <a:xfrm>
            <a:off x="3517713" y="2131275"/>
            <a:ext cx="2108575" cy="2116875"/>
            <a:chOff x="1157575" y="2131275"/>
            <a:chExt cx="2108575" cy="2116875"/>
          </a:xfrm>
        </p:grpSpPr>
        <p:pic>
          <p:nvPicPr>
            <p:cNvPr id="104" name="Google Shape;104;p2" title="bd164216-1890-4e45-86ba-f529a22ec08f.png"/>
            <p:cNvPicPr preferRelativeResize="0"/>
            <p:nvPr/>
          </p:nvPicPr>
          <p:blipFill rotWithShape="1">
            <a:blip r:embed="rId3">
              <a:alphaModFix/>
            </a:blip>
            <a:srcRect b="19652" l="0" r="0" t="0"/>
            <a:stretch/>
          </p:blipFill>
          <p:spPr>
            <a:xfrm>
              <a:off x="1161650" y="2131275"/>
              <a:ext cx="2104500" cy="2116800"/>
            </a:xfrm>
            <a:prstGeom prst="roundRect">
              <a:avLst>
                <a:gd fmla="val 11966" name="adj"/>
              </a:avLst>
            </a:prstGeom>
            <a:noFill/>
            <a:ln>
              <a:noFill/>
            </a:ln>
          </p:spPr>
        </p:pic>
        <p:sp>
          <p:nvSpPr>
            <p:cNvPr id="105" name="Google Shape;105;p2"/>
            <p:cNvSpPr/>
            <p:nvPr/>
          </p:nvSpPr>
          <p:spPr>
            <a:xfrm>
              <a:off x="1157575" y="3510150"/>
              <a:ext cx="2104500" cy="738000"/>
            </a:xfrm>
            <a:prstGeom prst="round2SameRect">
              <a:avLst>
                <a:gd fmla="val 0" name="adj1"/>
                <a:gd fmla="val 34038" name="adj2"/>
              </a:avLst>
            </a:prstGeom>
            <a:solidFill>
              <a:srgbClr val="FF632B"/>
            </a:solidFill>
            <a:ln>
              <a:noFill/>
            </a:ln>
          </p:spPr>
          <p:txBody>
            <a:bodyPr anchorCtr="0" anchor="ctr" bIns="91425" lIns="91425" spcFirstLastPara="1" rIns="91425" wrap="square" tIns="91425">
              <a:noAutofit/>
            </a:bodyPr>
            <a:lstStyle/>
            <a:p>
              <a:pPr indent="0" lvl="0" marL="165215" marR="0" rtl="0" algn="l">
                <a:lnSpc>
                  <a:spcPct val="100000"/>
                </a:lnSpc>
                <a:spcBef>
                  <a:spcPts val="0"/>
                </a:spcBef>
                <a:spcAft>
                  <a:spcPts val="0"/>
                </a:spcAft>
                <a:buClr>
                  <a:schemeClr val="dk1"/>
                </a:buClr>
                <a:buSzPts val="1100"/>
                <a:buFont typeface="Arial"/>
                <a:buNone/>
              </a:pPr>
              <a:r>
                <a:rPr b="1" i="0" lang="es" sz="1300" u="none" cap="none" strike="noStrike">
                  <a:solidFill>
                    <a:srgbClr val="F8F2E8"/>
                  </a:solidFill>
                  <a:latin typeface="Plus Jakarta Sans"/>
                  <a:ea typeface="Plus Jakarta Sans"/>
                  <a:cs typeface="Plus Jakarta Sans"/>
                  <a:sym typeface="Plus Jakarta Sans"/>
                </a:rPr>
                <a:t>Coordinador:</a:t>
              </a:r>
              <a:endParaRPr b="1" i="0" sz="1300" u="none" cap="none" strike="noStrike">
                <a:solidFill>
                  <a:srgbClr val="F8F2E8"/>
                </a:solidFill>
                <a:latin typeface="Plus Jakarta Sans"/>
                <a:ea typeface="Plus Jakarta Sans"/>
                <a:cs typeface="Plus Jakarta Sans"/>
                <a:sym typeface="Plus Jakarta Sans"/>
              </a:endParaRPr>
            </a:p>
            <a:p>
              <a:pPr indent="0" lvl="0" marL="165215" marR="0" rtl="0" algn="l">
                <a:lnSpc>
                  <a:spcPct val="100000"/>
                </a:lnSpc>
                <a:spcBef>
                  <a:spcPts val="0"/>
                </a:spcBef>
                <a:spcAft>
                  <a:spcPts val="0"/>
                </a:spcAft>
                <a:buClr>
                  <a:schemeClr val="dk1"/>
                </a:buClr>
                <a:buSzPts val="1100"/>
                <a:buFont typeface="Arial"/>
                <a:buNone/>
              </a:pPr>
              <a:r>
                <a:rPr b="0" i="0" lang="es" sz="800" u="none" cap="none" strike="noStrike">
                  <a:solidFill>
                    <a:srgbClr val="F8F2E8"/>
                  </a:solidFill>
                  <a:latin typeface="Plus Jakarta Sans"/>
                  <a:ea typeface="Plus Jakarta Sans"/>
                  <a:cs typeface="Plus Jakarta Sans"/>
                  <a:sym typeface="Plus Jakarta Sans"/>
                </a:rPr>
                <a:t>[Nombre del coordinador/a]</a:t>
              </a:r>
              <a:endParaRPr b="1" i="0" sz="1300" u="none" cap="none" strike="noStrike">
                <a:solidFill>
                  <a:srgbClr val="F8F2E8"/>
                </a:solidFill>
                <a:latin typeface="Plus Jakarta Sans"/>
                <a:ea typeface="Plus Jakarta Sans"/>
                <a:cs typeface="Plus Jakarta Sans"/>
                <a:sym typeface="Plus Jakarta Sans"/>
              </a:endParaRPr>
            </a:p>
          </p:txBody>
        </p:sp>
      </p:grpSp>
      <p:grpSp>
        <p:nvGrpSpPr>
          <p:cNvPr id="106" name="Google Shape;106;p2"/>
          <p:cNvGrpSpPr/>
          <p:nvPr/>
        </p:nvGrpSpPr>
        <p:grpSpPr>
          <a:xfrm>
            <a:off x="5807200" y="2131275"/>
            <a:ext cx="2108575" cy="2116875"/>
            <a:chOff x="1157575" y="2131275"/>
            <a:chExt cx="2108575" cy="2116875"/>
          </a:xfrm>
        </p:grpSpPr>
        <p:pic>
          <p:nvPicPr>
            <p:cNvPr id="107" name="Google Shape;107;p2" title="bd164216-1890-4e45-86ba-f529a22ec08f.png"/>
            <p:cNvPicPr preferRelativeResize="0"/>
            <p:nvPr/>
          </p:nvPicPr>
          <p:blipFill rotWithShape="1">
            <a:blip r:embed="rId3">
              <a:alphaModFix/>
            </a:blip>
            <a:srcRect b="19652" l="0" r="0" t="0"/>
            <a:stretch/>
          </p:blipFill>
          <p:spPr>
            <a:xfrm>
              <a:off x="1161650" y="2131275"/>
              <a:ext cx="2104500" cy="2116800"/>
            </a:xfrm>
            <a:prstGeom prst="roundRect">
              <a:avLst>
                <a:gd fmla="val 11966" name="adj"/>
              </a:avLst>
            </a:prstGeom>
            <a:noFill/>
            <a:ln>
              <a:noFill/>
            </a:ln>
          </p:spPr>
        </p:pic>
        <p:sp>
          <p:nvSpPr>
            <p:cNvPr id="108" name="Google Shape;108;p2"/>
            <p:cNvSpPr/>
            <p:nvPr/>
          </p:nvSpPr>
          <p:spPr>
            <a:xfrm>
              <a:off x="1157575" y="3510150"/>
              <a:ext cx="2104500" cy="738000"/>
            </a:xfrm>
            <a:prstGeom prst="round2SameRect">
              <a:avLst>
                <a:gd fmla="val 0" name="adj1"/>
                <a:gd fmla="val 34038" name="adj2"/>
              </a:avLst>
            </a:prstGeom>
            <a:solidFill>
              <a:srgbClr val="FF632B"/>
            </a:solidFill>
            <a:ln>
              <a:noFill/>
            </a:ln>
          </p:spPr>
          <p:txBody>
            <a:bodyPr anchorCtr="0" anchor="ctr" bIns="91425" lIns="91425" spcFirstLastPara="1" rIns="91425" wrap="square" tIns="91425">
              <a:noAutofit/>
            </a:bodyPr>
            <a:lstStyle/>
            <a:p>
              <a:pPr indent="0" lvl="0" marL="165215" marR="0" rtl="0" algn="l">
                <a:lnSpc>
                  <a:spcPct val="100000"/>
                </a:lnSpc>
                <a:spcBef>
                  <a:spcPts val="0"/>
                </a:spcBef>
                <a:spcAft>
                  <a:spcPts val="0"/>
                </a:spcAft>
                <a:buClr>
                  <a:schemeClr val="dk1"/>
                </a:buClr>
                <a:buSzPts val="1100"/>
                <a:buFont typeface="Arial"/>
                <a:buNone/>
              </a:pPr>
              <a:r>
                <a:rPr b="1" i="0" lang="es" sz="1300" u="none" cap="none" strike="noStrike">
                  <a:solidFill>
                    <a:srgbClr val="F8F2E8"/>
                  </a:solidFill>
                  <a:latin typeface="Plus Jakarta Sans"/>
                  <a:ea typeface="Plus Jakarta Sans"/>
                  <a:cs typeface="Plus Jakarta Sans"/>
                  <a:sym typeface="Plus Jakarta Sans"/>
                </a:rPr>
                <a:t>Tutor:</a:t>
              </a:r>
              <a:endParaRPr b="1" i="0" sz="1300" u="none" cap="none" strike="noStrike">
                <a:solidFill>
                  <a:srgbClr val="F8F2E8"/>
                </a:solidFill>
                <a:latin typeface="Plus Jakarta Sans"/>
                <a:ea typeface="Plus Jakarta Sans"/>
                <a:cs typeface="Plus Jakarta Sans"/>
                <a:sym typeface="Plus Jakarta Sans"/>
              </a:endParaRPr>
            </a:p>
            <a:p>
              <a:pPr indent="0" lvl="0" marL="165215" marR="0" rtl="0" algn="l">
                <a:lnSpc>
                  <a:spcPct val="100000"/>
                </a:lnSpc>
                <a:spcBef>
                  <a:spcPts val="0"/>
                </a:spcBef>
                <a:spcAft>
                  <a:spcPts val="0"/>
                </a:spcAft>
                <a:buClr>
                  <a:schemeClr val="dk1"/>
                </a:buClr>
                <a:buSzPts val="1100"/>
                <a:buFont typeface="Arial"/>
                <a:buNone/>
              </a:pPr>
              <a:r>
                <a:rPr b="0" i="0" lang="es" sz="800" u="none" cap="none" strike="noStrike">
                  <a:solidFill>
                    <a:srgbClr val="F8F2E8"/>
                  </a:solidFill>
                  <a:latin typeface="Plus Jakarta Sans"/>
                  <a:ea typeface="Plus Jakarta Sans"/>
                  <a:cs typeface="Plus Jakarta Sans"/>
                  <a:sym typeface="Plus Jakarta Sans"/>
                </a:rPr>
                <a:t>[Nombre del tutor/a]</a:t>
              </a:r>
              <a:endParaRPr b="1" i="0" sz="1300" u="none" cap="none" strike="noStrike">
                <a:solidFill>
                  <a:srgbClr val="F8F2E8"/>
                </a:solidFill>
                <a:latin typeface="Plus Jakarta Sans"/>
                <a:ea typeface="Plus Jakarta Sans"/>
                <a:cs typeface="Plus Jakarta Sans"/>
                <a:sym typeface="Plus Jakarta Sans"/>
              </a:endParaRPr>
            </a:p>
          </p:txBody>
        </p:sp>
      </p:grpSp>
      <p:sp>
        <p:nvSpPr>
          <p:cNvPr id="109" name="Google Shape;109;p2"/>
          <p:cNvSpPr/>
          <p:nvPr/>
        </p:nvSpPr>
        <p:spPr>
          <a:xfrm>
            <a:off x="6624550" y="1200525"/>
            <a:ext cx="1117200" cy="424200"/>
          </a:xfrm>
          <a:prstGeom prst="wedgeRectCallout">
            <a:avLst>
              <a:gd fmla="val -33452" name="adj1"/>
              <a:gd fmla="val 98680" name="adj2"/>
            </a:avLst>
          </a:prstGeom>
          <a:solidFill>
            <a:srgbClr val="FF632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0" i="0" lang="es" sz="700" u="none" cap="none" strike="noStrike">
                <a:solidFill>
                  <a:srgbClr val="F8F2E8"/>
                </a:solidFill>
                <a:latin typeface="Plus Jakarta Sans"/>
                <a:ea typeface="Plus Jakarta Sans"/>
                <a:cs typeface="Plus Jakarta Sans"/>
                <a:sym typeface="Plus Jakarta Sans"/>
              </a:rPr>
              <a:t>COMISIÓN N° XXXX · IA Automation</a:t>
            </a:r>
            <a:endParaRPr b="0" i="0" sz="7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3"/>
          <p:cNvSpPr txBox="1"/>
          <p:nvPr/>
        </p:nvSpPr>
        <p:spPr>
          <a:xfrm>
            <a:off x="2832560" y="0"/>
            <a:ext cx="6462900" cy="138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9600"/>
              <a:buFont typeface="Arial"/>
              <a:buNone/>
            </a:pPr>
            <a:r>
              <a:rPr b="0" i="0" lang="es" sz="9600" u="none" cap="none" strike="noStrike">
                <a:solidFill>
                  <a:srgbClr val="FF632B"/>
                </a:solidFill>
                <a:latin typeface="Plus Jakarta Sans ExtraBold"/>
                <a:ea typeface="Plus Jakarta Sans ExtraBold"/>
                <a:cs typeface="Plus Jakarta Sans ExtraBold"/>
                <a:sym typeface="Plus Jakarta Sans ExtraBold"/>
              </a:rPr>
              <a:t>Objetivos</a:t>
            </a:r>
            <a:endParaRPr b="0" i="0" sz="9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15" name="Google Shape;115;p3"/>
          <p:cNvSpPr txBox="1"/>
          <p:nvPr/>
        </p:nvSpPr>
        <p:spPr>
          <a:xfrm>
            <a:off x="649500" y="2512850"/>
            <a:ext cx="6462900" cy="22695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Entender qué es la automatización de procesos (BPA) y por qué es tu nueva superpotencia.</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Pensar como arquitecto: descomponer cualquier proceso en Triggers, Inputs y Outputs.</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Diagramar flujos lógicos con los símbolos estándar (óvalo, rectángulo y rombo).</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Aplicar criterios de ética, privacidad y seguridad en tus automatizaciones.</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Diseñar el diagrama de arquitectura lógica de tu Pre-Entrega 1.</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4"/>
          <p:cNvSpPr txBox="1"/>
          <p:nvPr/>
        </p:nvSpPr>
        <p:spPr>
          <a:xfrm>
            <a:off x="2832560" y="0"/>
            <a:ext cx="6462900" cy="138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9600"/>
              <a:buFont typeface="Arial"/>
              <a:buNone/>
            </a:pPr>
            <a:r>
              <a:rPr b="0" i="0" lang="es" sz="9600" u="none" cap="none" strike="noStrike">
                <a:solidFill>
                  <a:srgbClr val="FF632B"/>
                </a:solidFill>
                <a:latin typeface="Plus Jakarta Sans ExtraBold"/>
                <a:ea typeface="Plus Jakarta Sans ExtraBold"/>
                <a:cs typeface="Plus Jakarta Sans ExtraBold"/>
                <a:sym typeface="Plus Jakarta Sans ExtraBold"/>
              </a:rPr>
              <a:t>Agenda</a:t>
            </a:r>
            <a:endParaRPr b="0" i="0" sz="9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21" name="Google Shape;121;p4"/>
          <p:cNvSpPr txBox="1"/>
          <p:nvPr/>
        </p:nvSpPr>
        <p:spPr>
          <a:xfrm>
            <a:off x="649500" y="2512850"/>
            <a:ext cx="6462900" cy="22695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Automatización de Procesos (BPA): del caos al control.</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Arquitectura de Flujos: Triggers, Inputs y Outputs.</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Ética y Seguridad: el código de honor del arquitecto.</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Pre-Entrega 1: tu Diagrama de Arquitectura Lógica.</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efadfc4406_0_0"/>
          <p:cNvSpPr txBox="1"/>
          <p:nvPr/>
        </p:nvSpPr>
        <p:spPr>
          <a:xfrm>
            <a:off x="652525" y="1605717"/>
            <a:ext cx="7911300" cy="171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800"/>
              <a:buFont typeface="Arial"/>
              <a:buNone/>
            </a:pPr>
            <a:r>
              <a:rPr b="0" i="0" lang="es" sz="4800" u="none" cap="none" strike="noStrike">
                <a:solidFill>
                  <a:srgbClr val="F8F2E8"/>
                </a:solidFill>
                <a:latin typeface="Plus Jakarta Sans ExtraBold"/>
                <a:ea typeface="Plus Jakarta Sans ExtraBold"/>
                <a:cs typeface="Plus Jakarta Sans ExtraBold"/>
                <a:sym typeface="Plus Jakarta Sans ExtraBold"/>
              </a:rPr>
              <a:t>¡Esta clase va a ser     grabada!	</a:t>
            </a:r>
            <a:endParaRPr b="0" i="0" sz="48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127" name="Google Shape;127;g3efadfc4406_0_0"/>
          <p:cNvSpPr/>
          <p:nvPr/>
        </p:nvSpPr>
        <p:spPr>
          <a:xfrm>
            <a:off x="4457845" y="3514842"/>
            <a:ext cx="228300" cy="228300"/>
          </a:xfrm>
          <a:prstGeom prst="ellipse">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6"/>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F632B"/>
                </a:solidFill>
                <a:latin typeface="Plus Jakarta Sans ExtraBold"/>
                <a:ea typeface="Plus Jakarta Sans ExtraBold"/>
                <a:cs typeface="Plus Jakarta Sans ExtraBold"/>
                <a:sym typeface="Plus Jakarta Sans ExtraBold"/>
              </a:rPr>
              <a:t>01</a:t>
            </a:r>
            <a:endParaRPr b="0" i="0" sz="13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33" name="Google Shape;133;p6"/>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s" sz="3000" u="none" cap="none" strike="noStrike">
                <a:solidFill>
                  <a:srgbClr val="F8F2E8"/>
                </a:solidFill>
                <a:latin typeface="Plus Jakarta Sans ExtraBold"/>
                <a:ea typeface="Plus Jakarta Sans ExtraBold"/>
                <a:cs typeface="Plus Jakarta Sans ExtraBold"/>
                <a:sym typeface="Plus Jakarta Sans ExtraBold"/>
              </a:rPr>
              <a:t>Automatización de Procesos (BPA)</a:t>
            </a:r>
            <a:endParaRPr b="0" i="0" sz="30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7"/>
          <p:cNvSpPr txBox="1"/>
          <p:nvPr/>
        </p:nvSpPr>
        <p:spPr>
          <a:xfrm>
            <a:off x="739075" y="2481425"/>
            <a:ext cx="69402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BPA es usar tecnología para ejecutar tareas y procesos repetitivos con la </a:t>
            </a:r>
            <a:r>
              <a:rPr b="1" i="0" lang="es" sz="1150" u="none" cap="none" strike="noStrike">
                <a:solidFill>
                  <a:srgbClr val="171717"/>
                </a:solidFill>
                <a:latin typeface="Plus Jakarta Sans"/>
                <a:ea typeface="Plus Jakarta Sans"/>
                <a:cs typeface="Plus Jakarta Sans"/>
                <a:sym typeface="Plus Jakarta Sans"/>
              </a:rPr>
              <a:t>mínima intervención humana</a:t>
            </a:r>
            <a:r>
              <a:rPr b="0" i="0" lang="es" sz="1150" u="none" cap="none" strike="noStrike">
                <a:solidFill>
                  <a:srgbClr val="171717"/>
                </a:solidFill>
                <a:latin typeface="Plus Jakarta Sans"/>
                <a:ea typeface="Plus Jakarta Sans"/>
                <a:cs typeface="Plus Jakarta Sans"/>
                <a:sym typeface="Plus Jakarta Sans"/>
              </a:rPr>
              <a:t>.</a:t>
            </a:r>
            <a:endParaRPr/>
          </a:p>
          <a:p>
            <a:pPr indent="0" lvl="0" marL="0" marR="0" rtl="0" algn="l">
              <a:lnSpc>
                <a:spcPct val="110000"/>
              </a:lnSpc>
              <a:spcBef>
                <a:spcPts val="40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En vez de ser vos el </a:t>
            </a:r>
            <a:r>
              <a:rPr b="0" i="1" lang="es" sz="1150" u="none" cap="none" strike="noStrike">
                <a:solidFill>
                  <a:srgbClr val="171717"/>
                </a:solidFill>
                <a:latin typeface="Plus Jakarta Sans"/>
                <a:ea typeface="Plus Jakarta Sans"/>
                <a:cs typeface="Plus Jakarta Sans"/>
                <a:sym typeface="Plus Jakarta Sans"/>
              </a:rPr>
              <a:t>"motor"</a:t>
            </a:r>
            <a:r>
              <a:rPr b="0" i="0" lang="es" sz="1150" u="none" cap="none" strike="noStrike">
                <a:solidFill>
                  <a:srgbClr val="171717"/>
                </a:solidFill>
                <a:latin typeface="Plus Jakarta Sans"/>
                <a:ea typeface="Plus Jakarta Sans"/>
                <a:cs typeface="Plus Jakarta Sans"/>
                <a:sym typeface="Plus Jakarta Sans"/>
              </a:rPr>
              <a:t> que mueve la información, armás un sistema que lo hace por vos siguiendo reglas.</a:t>
            </a:r>
            <a:endParaRPr/>
          </a:p>
          <a:p>
            <a:pPr indent="0" lvl="0" marL="0" marR="0" rtl="0" algn="l">
              <a:lnSpc>
                <a:spcPct val="110000"/>
              </a:lnSpc>
              <a:spcBef>
                <a:spcPts val="4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Antes vs. hoy: </a:t>
            </a:r>
            <a:r>
              <a:rPr b="0" i="0" lang="es" sz="1150" u="none" cap="none" strike="noStrike">
                <a:solidFill>
                  <a:srgbClr val="171717"/>
                </a:solidFill>
                <a:latin typeface="Plus Jakarta Sans"/>
                <a:ea typeface="Plus Jakarta Sans"/>
                <a:cs typeface="Plus Jakarta Sans"/>
                <a:sym typeface="Plus Jakarta Sans"/>
              </a:rPr>
              <a:t>automatizar requería programadores y miles de dólares; hoy, con el </a:t>
            </a:r>
            <a:r>
              <a:rPr b="1" i="0" lang="es" sz="1150" u="none" cap="none" strike="noStrike">
                <a:solidFill>
                  <a:srgbClr val="171717"/>
                </a:solidFill>
                <a:latin typeface="Plus Jakarta Sans"/>
                <a:ea typeface="Plus Jakarta Sans"/>
                <a:cs typeface="Plus Jakarta Sans"/>
                <a:sym typeface="Plus Jakarta Sans"/>
              </a:rPr>
              <a:t>No-Code</a:t>
            </a:r>
            <a:r>
              <a:rPr b="0" i="0" lang="es" sz="1150" u="none" cap="none" strike="noStrike">
                <a:solidFill>
                  <a:srgbClr val="171717"/>
                </a:solidFill>
                <a:latin typeface="Plus Jakarta Sans"/>
                <a:ea typeface="Plus Jakarta Sans"/>
                <a:cs typeface="Plus Jakarta Sans"/>
                <a:sym typeface="Plus Jakarta Sans"/>
              </a:rPr>
              <a:t> (Make, n8n, Zapier), lo hace cualquiera.</a:t>
            </a:r>
            <a:endParaRPr/>
          </a:p>
        </p:txBody>
      </p:sp>
      <p:sp>
        <p:nvSpPr>
          <p:cNvPr id="139" name="Google Shape;139;p7"/>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171717"/>
                </a:solidFill>
                <a:latin typeface="Plus Jakarta Sans ExtraBold"/>
                <a:ea typeface="Plus Jakarta Sans ExtraBold"/>
                <a:cs typeface="Plus Jakarta Sans ExtraBold"/>
                <a:sym typeface="Plus Jakarta Sans ExtraBold"/>
              </a:rPr>
              <a:t>¿Qué es la BPA?</a:t>
            </a:r>
            <a:endParaRPr b="0" i="0" sz="40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140" name="Google Shape;140;p7"/>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Business Process Automation</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8"/>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a:ea typeface="Plus Jakarta Sans"/>
                <a:cs typeface="Plus Jakarta Sans"/>
                <a:sym typeface="Plus Jakarta Sans"/>
              </a:rPr>
              <a:t>La automatización no es magia ni "tiene mente propia". Se basa en una lógica simple de dos partes:</a:t>
            </a:r>
            <a:endParaRPr/>
          </a:p>
          <a:p>
            <a:pPr indent="-228600" lvl="0" marL="228600" marR="0" rtl="0" algn="l">
              <a:lnSpc>
                <a:spcPct val="110000"/>
              </a:lnSpc>
              <a:spcBef>
                <a:spcPts val="40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Disparador (Trigger): </a:t>
            </a:r>
            <a:r>
              <a:rPr b="0" i="0" lang="es" sz="1300" u="none" cap="none" strike="noStrike">
                <a:solidFill>
                  <a:srgbClr val="171717"/>
                </a:solidFill>
                <a:latin typeface="Plus Jakarta Sans"/>
                <a:ea typeface="Plus Jakarta Sans"/>
                <a:cs typeface="Plus Jakarta Sans"/>
                <a:sym typeface="Plus Jakarta Sans"/>
              </a:rPr>
              <a:t>"cuando ocurra este evento…" (ej. recibo un email con la palabra Presupuesto).</a:t>
            </a:r>
            <a:endParaRPr/>
          </a:p>
          <a:p>
            <a:pPr indent="-228600" lvl="0" marL="228600" marR="0" rtl="0" algn="l">
              <a:lnSpc>
                <a:spcPct val="110000"/>
              </a:lnSpc>
              <a:spcBef>
                <a:spcPts val="20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Acción (Action): </a:t>
            </a:r>
            <a:r>
              <a:rPr b="0" i="0" lang="es" sz="1300" u="none" cap="none" strike="noStrike">
                <a:solidFill>
                  <a:srgbClr val="171717"/>
                </a:solidFill>
                <a:latin typeface="Plus Jakarta Sans"/>
                <a:ea typeface="Plus Jakarta Sans"/>
                <a:cs typeface="Plus Jakarta Sans"/>
                <a:sym typeface="Plus Jakarta Sans"/>
              </a:rPr>
              <a:t>"…hacé esto automáticamente" (ej. respondo con mis tarifas y guardo el contacto).</a:t>
            </a:r>
            <a:endParaRPr/>
          </a:p>
          <a:p>
            <a:pPr indent="0" lvl="0" marL="0" marR="0" rtl="0" algn="l">
              <a:lnSpc>
                <a:spcPct val="110000"/>
              </a:lnSpc>
              <a:spcBef>
                <a:spcPts val="400"/>
              </a:spcBef>
              <a:spcAft>
                <a:spcPts val="0"/>
              </a:spcAft>
              <a:buClr>
                <a:srgbClr val="000000"/>
              </a:buClr>
              <a:buSzPts val="1300"/>
              <a:buFont typeface="Arial"/>
              <a:buNone/>
            </a:pPr>
            <a:r>
              <a:rPr b="0" i="0" lang="es" sz="1300" u="none" cap="none" strike="noStrike">
                <a:solidFill>
                  <a:srgbClr val="171717"/>
                </a:solidFill>
                <a:latin typeface="Plus Jakarta Sans"/>
                <a:ea typeface="Plus Jakarta Sans"/>
                <a:cs typeface="Plus Jakarta Sans"/>
                <a:sym typeface="Plus Jakarta Sans"/>
              </a:rPr>
              <a:t>Si podés describir un proceso como </a:t>
            </a:r>
            <a:r>
              <a:rPr b="1" i="0" lang="es" sz="1300" u="none" cap="none" strike="noStrike">
                <a:solidFill>
                  <a:srgbClr val="171717"/>
                </a:solidFill>
                <a:latin typeface="Plus Jakarta Sans"/>
                <a:ea typeface="Plus Jakarta Sans"/>
                <a:cs typeface="Plus Jakarta Sans"/>
                <a:sym typeface="Plus Jakarta Sans"/>
              </a:rPr>
              <a:t>"Si pasa X, entonces hacé Y"</a:t>
            </a:r>
            <a:r>
              <a:rPr b="0" i="0" lang="es" sz="1300" u="none" cap="none" strike="noStrike">
                <a:solidFill>
                  <a:srgbClr val="171717"/>
                </a:solidFill>
                <a:latin typeface="Plus Jakarta Sans"/>
                <a:ea typeface="Plus Jakarta Sans"/>
                <a:cs typeface="Plus Jakarta Sans"/>
                <a:sym typeface="Plus Jakarta Sans"/>
              </a:rPr>
              <a:t>, ya podés automatizarlo.</a:t>
            </a:r>
            <a:endParaRPr/>
          </a:p>
        </p:txBody>
      </p:sp>
      <p:sp>
        <p:nvSpPr>
          <p:cNvPr id="146" name="Google Shape;146;p8"/>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Disparador → Acción</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47" name="Google Shape;147;p8"/>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latin typeface="Plus Jakarta Sans"/>
                <a:ea typeface="Plus Jakarta Sans"/>
                <a:cs typeface="Plus Jakarta Sans"/>
                <a:sym typeface="Plus Jakarta Sans"/>
              </a:rPr>
              <a:t>El corazón de toda automatización</a:t>
            </a:r>
            <a:endParaRPr b="0" i="0" sz="22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9"/>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F632B"/>
                </a:solidFill>
                <a:latin typeface="Plus Jakarta Sans ExtraBold"/>
                <a:ea typeface="Plus Jakarta Sans ExtraBold"/>
                <a:cs typeface="Plus Jakarta Sans ExtraBold"/>
                <a:sym typeface="Plus Jakarta Sans ExtraBold"/>
              </a:rPr>
              <a:t>3 beneficios</a:t>
            </a:r>
            <a:r>
              <a:rPr b="0" i="0" lang="es" sz="2400" u="none" cap="none" strike="noStrike">
                <a:solidFill>
                  <a:srgbClr val="260700"/>
                </a:solidFill>
                <a:latin typeface="Plus Jakarta Sans"/>
                <a:ea typeface="Plus Jakarta Sans"/>
                <a:cs typeface="Plus Jakarta Sans"/>
                <a:sym typeface="Plus Jakarta Sans"/>
              </a:rPr>
              <a:t> clave</a:t>
            </a:r>
            <a:endParaRPr b="0" i="0" sz="2400" u="none" cap="none" strike="noStrike">
              <a:solidFill>
                <a:srgbClr val="260700"/>
              </a:solidFill>
              <a:latin typeface="Plus Jakarta Sans"/>
              <a:ea typeface="Plus Jakarta Sans"/>
              <a:cs typeface="Plus Jakarta Sans"/>
              <a:sym typeface="Plus Jakarta Sans"/>
            </a:endParaRPr>
          </a:p>
        </p:txBody>
      </p:sp>
      <p:sp>
        <p:nvSpPr>
          <p:cNvPr id="153" name="Google Shape;153;p9"/>
          <p:cNvSpPr/>
          <p:nvPr/>
        </p:nvSpPr>
        <p:spPr>
          <a:xfrm>
            <a:off x="667475"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Eficiencia</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Lo que hacías en 10 minutos, ahora toma segundos. Recuperás horas cada día.</a:t>
            </a:r>
            <a:endParaRPr/>
          </a:p>
        </p:txBody>
      </p:sp>
      <p:sp>
        <p:nvSpPr>
          <p:cNvPr id="154" name="Google Shape;154;p9"/>
          <p:cNvSpPr/>
          <p:nvPr/>
        </p:nvSpPr>
        <p:spPr>
          <a:xfrm>
            <a:off x="4766370"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Cero error humano</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La máquina ejecuta igual la vez 1 y la vez 1.000. No se cansa ni se distrae.</a:t>
            </a:r>
            <a:endParaRPr/>
          </a:p>
        </p:txBody>
      </p:sp>
      <p:sp>
        <p:nvSpPr>
          <p:cNvPr id="155" name="Google Shape;155;p9"/>
          <p:cNvSpPr/>
          <p:nvPr/>
        </p:nvSpPr>
        <p:spPr>
          <a:xfrm>
            <a:off x="667475" y="3866726"/>
            <a:ext cx="8041200" cy="840300"/>
          </a:xfrm>
          <a:prstGeom prst="roundRect">
            <a:avLst>
              <a:gd fmla="val 30840"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Escalabilidad</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Manejás 10× más volumen con el mismo esfuerzo, sin sumar costos ni estrés.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0"/>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0000"/>
              </a:lnSpc>
              <a:spcBef>
                <a:spcPts val="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RPA — el "mono digital": </a:t>
            </a:r>
            <a:r>
              <a:rPr b="0" i="0" lang="es" sz="1300" u="none" cap="none" strike="noStrike">
                <a:solidFill>
                  <a:srgbClr val="171717"/>
                </a:solidFill>
                <a:latin typeface="Plus Jakarta Sans"/>
                <a:ea typeface="Plus Jakarta Sans"/>
                <a:cs typeface="Plus Jakarta Sans"/>
                <a:sym typeface="Plus Jakarta Sans"/>
              </a:rPr>
              <a:t>bots que imitan lo que hace un humano en pantalla (clic, copiar, abrir apps). Útil para sistemas viejos.</a:t>
            </a:r>
            <a:endParaRPr/>
          </a:p>
          <a:p>
            <a:pPr indent="-228600" lvl="0" marL="228600" marR="0" rtl="0" algn="l">
              <a:lnSpc>
                <a:spcPct val="110000"/>
              </a:lnSpc>
              <a:spcBef>
                <a:spcPts val="20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BPA — el "director de orquesta": </a:t>
            </a:r>
            <a:r>
              <a:rPr b="0" i="0" lang="es" sz="1300" u="none" cap="none" strike="noStrike">
                <a:solidFill>
                  <a:srgbClr val="171717"/>
                </a:solidFill>
                <a:latin typeface="Plus Jakarta Sans"/>
                <a:ea typeface="Plus Jakarta Sans"/>
                <a:cs typeface="Plus Jakarta Sans"/>
                <a:sym typeface="Plus Jakarta Sans"/>
              </a:rPr>
              <a:t>conecta apps distintas (ej. Gmail con Sheets) para rediseñar y optimizar un flujo completo.</a:t>
            </a:r>
            <a:endParaRPr/>
          </a:p>
          <a:p>
            <a:pPr indent="0" lvl="0" marL="0" marR="0" rtl="0" algn="l">
              <a:lnSpc>
                <a:spcPct val="110000"/>
              </a:lnSpc>
              <a:spcBef>
                <a:spcPts val="400"/>
              </a:spcBef>
              <a:spcAft>
                <a:spcPts val="0"/>
              </a:spcAft>
              <a:buClr>
                <a:srgbClr val="000000"/>
              </a:buClr>
              <a:buSzPts val="1300"/>
              <a:buFont typeface="Arial"/>
              <a:buNone/>
            </a:pPr>
            <a:r>
              <a:rPr b="1" i="0" lang="es" sz="1300" u="none" cap="none" strike="noStrike">
                <a:solidFill>
                  <a:srgbClr val="171717"/>
                </a:solidFill>
                <a:latin typeface="Plus Jakarta Sans"/>
                <a:ea typeface="Plus Jakarta Sans"/>
                <a:cs typeface="Plus Jakarta Sans"/>
                <a:sym typeface="Plus Jakarta Sans"/>
              </a:rPr>
              <a:t>Ejemplo: </a:t>
            </a:r>
            <a:r>
              <a:rPr b="0" i="0" lang="es" sz="1300" u="none" cap="none" strike="noStrike">
                <a:solidFill>
                  <a:srgbClr val="171717"/>
                </a:solidFill>
                <a:latin typeface="Plus Jakarta Sans"/>
                <a:ea typeface="Plus Jakarta Sans"/>
                <a:cs typeface="Plus Jakarta Sans"/>
                <a:sym typeface="Plus Jakarta Sans"/>
              </a:rPr>
              <a:t>el RPA descarga el extracto del banco imitando tus clics; el BPA lo recibe por API, lo categoriza y te avisa por Slack si el saldo está bajo.</a:t>
            </a:r>
            <a:endParaRPr/>
          </a:p>
          <a:p>
            <a:pPr indent="0" lvl="0" marL="0" marR="0" rtl="0" algn="l">
              <a:lnSpc>
                <a:spcPct val="110000"/>
              </a:lnSpc>
              <a:spcBef>
                <a:spcPts val="300"/>
              </a:spcBef>
              <a:spcAft>
                <a:spcPts val="0"/>
              </a:spcAft>
              <a:buClr>
                <a:srgbClr val="000000"/>
              </a:buClr>
              <a:buSzPts val="1300"/>
              <a:buFont typeface="Arial"/>
              <a:buNone/>
            </a:pPr>
            <a:r>
              <a:rPr b="0" i="0" lang="es" sz="1300" u="none" cap="none" strike="noStrike">
                <a:solidFill>
                  <a:srgbClr val="171717"/>
                </a:solidFill>
                <a:latin typeface="Plus Jakarta Sans"/>
                <a:ea typeface="Plus Jakarta Sans"/>
                <a:cs typeface="Plus Jakarta Sans"/>
                <a:sym typeface="Plus Jakarta Sans"/>
              </a:rPr>
              <a:t>En este curso nos enfocamos en </a:t>
            </a:r>
            <a:r>
              <a:rPr b="1" i="0" lang="es" sz="1300" u="none" cap="none" strike="noStrike">
                <a:solidFill>
                  <a:srgbClr val="171717"/>
                </a:solidFill>
                <a:latin typeface="Plus Jakarta Sans"/>
                <a:ea typeface="Plus Jakarta Sans"/>
                <a:cs typeface="Plus Jakarta Sans"/>
                <a:sym typeface="Plus Jakarta Sans"/>
              </a:rPr>
              <a:t>BPA + IA</a:t>
            </a:r>
            <a:r>
              <a:rPr b="0" i="0" lang="es" sz="1300" u="none" cap="none" strike="noStrike">
                <a:solidFill>
                  <a:srgbClr val="171717"/>
                </a:solidFill>
                <a:latin typeface="Plus Jakarta Sans"/>
                <a:ea typeface="Plus Jakarta Sans"/>
                <a:cs typeface="Plus Jakarta Sans"/>
                <a:sym typeface="Plus Jakarta Sans"/>
              </a:rPr>
              <a:t>: la combinación que crea sistemas inteligentes y flexibles.</a:t>
            </a:r>
            <a:endParaRPr/>
          </a:p>
        </p:txBody>
      </p:sp>
      <p:sp>
        <p:nvSpPr>
          <p:cNvPr id="161" name="Google Shape;161;p10"/>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F632B"/>
                </a:solidFill>
                <a:latin typeface="Plus Jakarta Sans ExtraBold"/>
                <a:ea typeface="Plus Jakarta Sans ExtraBold"/>
                <a:cs typeface="Plus Jakarta Sans ExtraBold"/>
                <a:sym typeface="Plus Jakarta Sans ExtraBold"/>
              </a:rPr>
              <a:t>BPA vs. RPA</a:t>
            </a:r>
            <a:endParaRPr b="0" i="0" sz="48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62" name="Google Shape;162;p10"/>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rgbClr val="171717"/>
                </a:solidFill>
                <a:latin typeface="Plus Jakarta Sans"/>
                <a:ea typeface="Plus Jakarta Sans"/>
                <a:cs typeface="Plus Jakarta Sans"/>
                <a:sym typeface="Plus Jakarta Sans"/>
              </a:rPr>
              <a:t>No te confundas</a:t>
            </a:r>
            <a:endParaRPr b="0" i="0" sz="25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1"/>
          <p:cNvSpPr txBox="1"/>
          <p:nvPr/>
        </p:nvSpPr>
        <p:spPr>
          <a:xfrm>
            <a:off x="642950" y="2106475"/>
            <a:ext cx="68439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Post-venta: </a:t>
            </a:r>
            <a:r>
              <a:rPr b="0" i="0" lang="es" sz="1150" u="none" cap="none" strike="noStrike">
                <a:solidFill>
                  <a:srgbClr val="171717"/>
                </a:solidFill>
                <a:latin typeface="Plus Jakarta Sans"/>
                <a:ea typeface="Plus Jakarta Sans"/>
                <a:cs typeface="Plus Jakarta Sans"/>
                <a:sym typeface="Plus Jakarta Sans"/>
              </a:rPr>
              <a:t>cuando una orden se marca como "entregada" en Shopify, el sistema espera 3 días y envía una encuesta; si la respuesta es negativa, te avisa.</a:t>
            </a:r>
            <a:endParaRPr/>
          </a:p>
          <a:p>
            <a:pPr indent="0" lvl="0" marL="0" marR="0" rtl="0" algn="l">
              <a:lnSpc>
                <a:spcPct val="110000"/>
              </a:lnSpc>
              <a:spcBef>
                <a:spcPts val="4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Onboarding: </a:t>
            </a:r>
            <a:r>
              <a:rPr b="0" i="0" lang="es" sz="1150" u="none" cap="none" strike="noStrike">
                <a:solidFill>
                  <a:srgbClr val="171717"/>
                </a:solidFill>
                <a:latin typeface="Plus Jakarta Sans"/>
                <a:ea typeface="Plus Jakarta Sans"/>
                <a:cs typeface="Plus Jakarta Sans"/>
                <a:sym typeface="Plus Jakarta Sans"/>
              </a:rPr>
              <a:t>el cliente llena un formulario y el sistema genera el contrato, lo manda a firmar, crea la carpeta en Drive y envía el mail de bienvenida.</a:t>
            </a:r>
            <a:endParaRPr/>
          </a:p>
          <a:p>
            <a:pPr indent="0" lvl="0" marL="0" marR="0" rtl="0" algn="l">
              <a:lnSpc>
                <a:spcPct val="110000"/>
              </a:lnSpc>
              <a:spcBef>
                <a:spcPts val="400"/>
              </a:spcBef>
              <a:spcAft>
                <a:spcPts val="0"/>
              </a:spcAft>
              <a:buClr>
                <a:srgbClr val="000000"/>
              </a:buClr>
              <a:buSzPts val="1150"/>
              <a:buFont typeface="Arial"/>
              <a:buNone/>
            </a:pPr>
            <a:r>
              <a:rPr b="0" i="1" lang="es" sz="1150" u="none" cap="none" strike="noStrike">
                <a:solidFill>
                  <a:srgbClr val="171717"/>
                </a:solidFill>
                <a:latin typeface="Plus Jakarta Sans"/>
                <a:ea typeface="Plus Jakarta Sans"/>
                <a:cs typeface="Plus Jakarta Sans"/>
                <a:sym typeface="Plus Jakarta Sans"/>
              </a:rPr>
              <a:t>La misma tarea, sin que vos muevas un dedo.</a:t>
            </a:r>
            <a:endParaRPr/>
          </a:p>
        </p:txBody>
      </p:sp>
      <p:sp>
        <p:nvSpPr>
          <p:cNvPr id="168" name="Google Shape;168;p11"/>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s" sz="3600" u="none" cap="none" strike="noStrike">
                <a:solidFill>
                  <a:srgbClr val="171717"/>
                </a:solidFill>
                <a:latin typeface="Plus Jakarta Sans ExtraBold"/>
                <a:ea typeface="Plus Jakarta Sans ExtraBold"/>
                <a:cs typeface="Plus Jakarta Sans ExtraBold"/>
                <a:sym typeface="Plus Jakarta Sans ExtraBold"/>
              </a:rPr>
              <a:t>Del caos al control</a:t>
            </a:r>
            <a:endParaRPr b="0" i="0" sz="36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169" name="Google Shape;169;p11"/>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Ejemplos cotidianos</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2"/>
          <p:cNvSpPr txBox="1"/>
          <p:nvPr/>
        </p:nvSpPr>
        <p:spPr>
          <a:xfrm>
            <a:off x="601100" y="678225"/>
            <a:ext cx="82200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700"/>
              <a:buFont typeface="Arial"/>
              <a:buNone/>
            </a:pPr>
            <a:r>
              <a:rPr b="0" i="0" lang="es" sz="3700" u="none" cap="none" strike="noStrike">
                <a:solidFill>
                  <a:srgbClr val="260700"/>
                </a:solidFill>
                <a:latin typeface="Plus Jakarta Sans ExtraBold"/>
                <a:ea typeface="Plus Jakarta Sans ExtraBold"/>
                <a:cs typeface="Plus Jakarta Sans ExtraBold"/>
                <a:sym typeface="Plus Jakarta Sans ExtraBold"/>
              </a:rPr>
              <a:t>Errores comunes al empezar a automatizar</a:t>
            </a:r>
            <a:endParaRPr b="0" i="0" sz="3700" u="none" cap="none" strike="noStrike">
              <a:solidFill>
                <a:srgbClr val="260700"/>
              </a:solidFill>
              <a:latin typeface="Plus Jakarta Sans"/>
              <a:ea typeface="Plus Jakarta Sans"/>
              <a:cs typeface="Plus Jakarta Sans"/>
              <a:sym typeface="Plus Jakarta Sans"/>
            </a:endParaRPr>
          </a:p>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rgbClr val="260700"/>
              </a:solidFill>
              <a:latin typeface="Plus Jakarta Sans ExtraBold"/>
              <a:ea typeface="Plus Jakarta Sans ExtraBold"/>
              <a:cs typeface="Plus Jakarta Sans ExtraBold"/>
              <a:sym typeface="Plus Jakarta Sans ExtraBold"/>
            </a:endParaRPr>
          </a:p>
        </p:txBody>
      </p:sp>
      <p:sp>
        <p:nvSpPr>
          <p:cNvPr id="175" name="Google Shape;175;p12"/>
          <p:cNvSpPr/>
          <p:nvPr/>
        </p:nvSpPr>
        <p:spPr>
          <a:xfrm flipH="1">
            <a:off x="752578" y="2177175"/>
            <a:ext cx="2328900" cy="2328900"/>
          </a:xfrm>
          <a:prstGeom prst="foldedCorner">
            <a:avLst>
              <a:gd fmla="val 16667" name="adj"/>
            </a:avLst>
          </a:prstGeom>
          <a:solidFill>
            <a:srgbClr val="FF632B"/>
          </a:solidFill>
          <a:ln>
            <a:noFill/>
          </a:ln>
        </p:spPr>
        <p:txBody>
          <a:bodyPr anchorCtr="0" anchor="ctr" bIns="80250" lIns="80250" spcFirstLastPara="1" rIns="80250" wrap="square" tIns="80250">
            <a:noAutofit/>
          </a:bodyPr>
          <a:lstStyle/>
          <a:p>
            <a:pPr indent="0" lvl="0" marL="0" marR="0" rtl="0" algn="ctr">
              <a:lnSpc>
                <a:spcPct val="105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Optimizá, después automatizá</a:t>
            </a:r>
            <a:endParaRPr/>
          </a:p>
          <a:p>
            <a:pPr indent="0" lvl="0" marL="0" marR="0" rtl="0" algn="ctr">
              <a:lnSpc>
                <a:spcPct val="105000"/>
              </a:lnSpc>
              <a:spcBef>
                <a:spcPts val="250"/>
              </a:spcBef>
              <a:spcAft>
                <a:spcPts val="0"/>
              </a:spcAft>
              <a:buClr>
                <a:srgbClr val="000000"/>
              </a:buClr>
              <a:buSzPts val="1000"/>
              <a:buFont typeface="Arial"/>
              <a:buNone/>
            </a:pPr>
            <a:r>
              <a:rPr b="0" i="0" lang="es" sz="1000" u="none" cap="none" strike="noStrike">
                <a:solidFill>
                  <a:srgbClr val="171717"/>
                </a:solidFill>
                <a:latin typeface="Plus Jakarta Sans"/>
                <a:ea typeface="Plus Jakarta Sans"/>
                <a:cs typeface="Plus Jakarta Sans"/>
                <a:sym typeface="Plus Jakarta Sans"/>
              </a:rPr>
              <a:t>Si tu proceso es un caos, automatizarlo solo hace que el caos pase más rápido.</a:t>
            </a:r>
            <a:endParaRPr/>
          </a:p>
        </p:txBody>
      </p:sp>
      <p:sp>
        <p:nvSpPr>
          <p:cNvPr id="176" name="Google Shape;176;p12"/>
          <p:cNvSpPr/>
          <p:nvPr/>
        </p:nvSpPr>
        <p:spPr>
          <a:xfrm flipH="1">
            <a:off x="3215420" y="2177175"/>
            <a:ext cx="2328900" cy="2328900"/>
          </a:xfrm>
          <a:prstGeom prst="foldedCorner">
            <a:avLst>
              <a:gd fmla="val 16667" name="adj"/>
            </a:avLst>
          </a:prstGeom>
          <a:solidFill>
            <a:srgbClr val="FE64A3"/>
          </a:solidFill>
          <a:ln>
            <a:noFill/>
          </a:ln>
        </p:spPr>
        <p:txBody>
          <a:bodyPr anchorCtr="0" anchor="ctr" bIns="80250" lIns="80250" spcFirstLastPara="1" rIns="80250" wrap="square" tIns="80250">
            <a:noAutofit/>
          </a:bodyPr>
          <a:lstStyle/>
          <a:p>
            <a:pPr indent="0" lvl="0" marL="0" marR="0" rtl="0" algn="ctr">
              <a:lnSpc>
                <a:spcPct val="105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Empezá de a poco</a:t>
            </a:r>
            <a:endParaRPr/>
          </a:p>
          <a:p>
            <a:pPr indent="0" lvl="0" marL="0" marR="0" rtl="0" algn="ctr">
              <a:lnSpc>
                <a:spcPct val="105000"/>
              </a:lnSpc>
              <a:spcBef>
                <a:spcPts val="250"/>
              </a:spcBef>
              <a:spcAft>
                <a:spcPts val="0"/>
              </a:spcAft>
              <a:buClr>
                <a:srgbClr val="000000"/>
              </a:buClr>
              <a:buSzPts val="1000"/>
              <a:buFont typeface="Arial"/>
              <a:buNone/>
            </a:pPr>
            <a:r>
              <a:rPr b="0" i="0" lang="es" sz="1000" u="none" cap="none" strike="noStrike">
                <a:solidFill>
                  <a:srgbClr val="171717"/>
                </a:solidFill>
                <a:latin typeface="Plus Jakarta Sans"/>
                <a:ea typeface="Plus Jakarta Sans"/>
                <a:cs typeface="Plus Jakarta Sans"/>
                <a:sym typeface="Plus Jakarta Sans"/>
              </a:rPr>
              <a:t>No armes el sistema perfecto el día 1. Arrancá por la tarea que más tiempo te quita.</a:t>
            </a:r>
            <a:endParaRPr/>
          </a:p>
        </p:txBody>
      </p:sp>
      <p:sp>
        <p:nvSpPr>
          <p:cNvPr id="177" name="Google Shape;177;p12"/>
          <p:cNvSpPr/>
          <p:nvPr/>
        </p:nvSpPr>
        <p:spPr>
          <a:xfrm flipH="1">
            <a:off x="5741925" y="2177175"/>
            <a:ext cx="2328900" cy="2328900"/>
          </a:xfrm>
          <a:prstGeom prst="foldedCorner">
            <a:avLst>
              <a:gd fmla="val 16667" name="adj"/>
            </a:avLst>
          </a:prstGeom>
          <a:solidFill>
            <a:srgbClr val="FDAB2E"/>
          </a:solidFill>
          <a:ln>
            <a:noFill/>
          </a:ln>
        </p:spPr>
        <p:txBody>
          <a:bodyPr anchorCtr="0" anchor="ctr" bIns="80250" lIns="80250" spcFirstLastPara="1" rIns="80250" wrap="square" tIns="80250">
            <a:noAutofit/>
          </a:bodyPr>
          <a:lstStyle/>
          <a:p>
            <a:pPr indent="0" lvl="0" marL="0" marR="0" rtl="0" algn="ctr">
              <a:lnSpc>
                <a:spcPct val="105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No pierdas el toque humano</a:t>
            </a:r>
            <a:endParaRPr/>
          </a:p>
          <a:p>
            <a:pPr indent="0" lvl="0" marL="0" marR="0" rtl="0" algn="ctr">
              <a:lnSpc>
                <a:spcPct val="105000"/>
              </a:lnSpc>
              <a:spcBef>
                <a:spcPts val="250"/>
              </a:spcBef>
              <a:spcAft>
                <a:spcPts val="0"/>
              </a:spcAft>
              <a:buClr>
                <a:srgbClr val="000000"/>
              </a:buClr>
              <a:buSzPts val="1000"/>
              <a:buFont typeface="Arial"/>
              <a:buNone/>
            </a:pPr>
            <a:r>
              <a:rPr b="0" i="0" lang="es" sz="1000" u="none" cap="none" strike="noStrike">
                <a:solidFill>
                  <a:srgbClr val="171717"/>
                </a:solidFill>
                <a:latin typeface="Plus Jakarta Sans"/>
                <a:ea typeface="Plus Jakarta Sans"/>
                <a:cs typeface="Plus Jakarta Sans"/>
                <a:sym typeface="Plus Jakarta Sans"/>
              </a:rPr>
              <a:t>Automatizá lo mecánico; reservá tu tiempo para empatía, creatividad y estrategia.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3"/>
          <p:cNvSpPr/>
          <p:nvPr/>
        </p:nvSpPr>
        <p:spPr>
          <a:xfrm>
            <a:off x="0" y="0"/>
            <a:ext cx="9144000" cy="1950900"/>
          </a:xfrm>
          <a:prstGeom prst="rect">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3"/>
          <p:cNvSpPr txBox="1"/>
          <p:nvPr/>
        </p:nvSpPr>
        <p:spPr>
          <a:xfrm>
            <a:off x="600250" y="656475"/>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Momentos de la Clase:</a:t>
            </a:r>
            <a:endParaRPr b="0" i="0" sz="5000" u="none" cap="none" strike="noStrike">
              <a:solidFill>
                <a:srgbClr val="F8F2E8"/>
              </a:solidFill>
              <a:latin typeface="Plus Jakarta Sans"/>
              <a:ea typeface="Plus Jakarta Sans"/>
              <a:cs typeface="Plus Jakarta Sans"/>
              <a:sym typeface="Plus Jakarta Sans"/>
            </a:endParaRPr>
          </a:p>
        </p:txBody>
      </p:sp>
      <p:sp>
        <p:nvSpPr>
          <p:cNvPr id="184" name="Google Shape;184;p13"/>
          <p:cNvSpPr txBox="1"/>
          <p:nvPr/>
        </p:nvSpPr>
        <p:spPr>
          <a:xfrm>
            <a:off x="730900" y="2015917"/>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Actividad colaborativa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260700"/>
                </a:solidFill>
                <a:latin typeface="Plus Jakarta Sans ExtraBold"/>
                <a:ea typeface="Plus Jakarta Sans ExtraBold"/>
                <a:cs typeface="Plus Jakarta Sans ExtraBold"/>
                <a:sym typeface="Plus Jakarta Sans ExtraBold"/>
              </a:rPr>
              <a:t>Para pensar</a:t>
            </a:r>
            <a:endParaRPr b="0" i="0" sz="50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Para recordar</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Coder Tips</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Material ampliado</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Cuestionario de tarea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#FindTheBug</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185" name="Google Shape;185;p13"/>
          <p:cNvSpPr txBox="1"/>
          <p:nvPr/>
        </p:nvSpPr>
        <p:spPr>
          <a:xfrm>
            <a:off x="6363575" y="2481425"/>
            <a:ext cx="2457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Pensá en el proceso más repetitivo de tu semana. ¿Está ordenado o primero hay que optimizarlo? Ese proceso doloroso es tu mejor candidato para automatizar en la Pre-Entrega.</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4"/>
          <p:cNvSpPr txBox="1"/>
          <p:nvPr/>
        </p:nvSpPr>
        <p:spPr>
          <a:xfrm>
            <a:off x="739075" y="2481425"/>
            <a:ext cx="68055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Objetivo: </a:t>
            </a:r>
            <a:r>
              <a:rPr b="0" i="0" lang="es" sz="1150" u="none" cap="none" strike="noStrike">
                <a:solidFill>
                  <a:srgbClr val="171717"/>
                </a:solidFill>
                <a:latin typeface="Plus Jakarta Sans"/>
                <a:ea typeface="Plus Jakarta Sans"/>
                <a:cs typeface="Plus Jakarta Sans"/>
                <a:sym typeface="Plus Jakarta Sans"/>
              </a:rPr>
              <a:t>definir qué proceso real de tu negocio vas a automatizar.</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Manos a la obra:</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Elegí una tarea repetitiva que te quite tiempo (responder consultas, cargar presupuestos).</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Describila en una frase: </a:t>
            </a:r>
            <a:r>
              <a:rPr b="1" i="0" lang="es" sz="1150" u="none" cap="none" strike="noStrike">
                <a:solidFill>
                  <a:srgbClr val="171717"/>
                </a:solidFill>
                <a:latin typeface="Plus Jakarta Sans"/>
                <a:ea typeface="Plus Jakarta Sans"/>
                <a:cs typeface="Plus Jakarta Sans"/>
                <a:sym typeface="Plus Jakarta Sans"/>
              </a:rPr>
              <a:t>"Cuando pasa X, hacé Y".</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Resultado: </a:t>
            </a:r>
            <a:r>
              <a:rPr b="0" i="0" lang="es" sz="1150" u="none" cap="none" strike="noStrike">
                <a:solidFill>
                  <a:srgbClr val="171717"/>
                </a:solidFill>
                <a:latin typeface="Plus Jakarta Sans"/>
                <a:ea typeface="Plus Jakarta Sans"/>
                <a:cs typeface="Plus Jakarta Sans"/>
                <a:sym typeface="Plus Jakarta Sans"/>
              </a:rPr>
              <a:t>un proceso elegido y descrito. Es el ladrillo 1 de tu Pre-Entrega.</a:t>
            </a:r>
            <a:endParaRPr/>
          </a:p>
        </p:txBody>
      </p:sp>
      <p:sp>
        <p:nvSpPr>
          <p:cNvPr id="191" name="Google Shape;191;p14"/>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171717"/>
                </a:solidFill>
                <a:latin typeface="Plus Jakarta Sans ExtraBold"/>
                <a:ea typeface="Plus Jakarta Sans ExtraBold"/>
                <a:cs typeface="Plus Jakarta Sans ExtraBold"/>
                <a:sym typeface="Plus Jakarta Sans ExtraBold"/>
              </a:rPr>
              <a:t>Práctica · Paso 1</a:t>
            </a:r>
            <a:endParaRPr b="0" i="0" sz="32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192" name="Google Shape;192;p14"/>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highlight>
                  <a:srgbClr val="FDAB2E"/>
                </a:highlight>
                <a:latin typeface="Plus Jakarta Sans"/>
                <a:ea typeface="Plus Jakarta Sans"/>
                <a:cs typeface="Plus Jakarta Sans"/>
                <a:sym typeface="Plus Jakarta Sans"/>
              </a:rPr>
              <a:t>Elegí tu proceso</a:t>
            </a:r>
            <a:endParaRPr b="0" i="0" sz="22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5"/>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DAB2E"/>
                </a:solidFill>
                <a:latin typeface="Plus Jakarta Sans ExtraBold"/>
                <a:ea typeface="Plus Jakarta Sans ExtraBold"/>
                <a:cs typeface="Plus Jakarta Sans ExtraBold"/>
                <a:sym typeface="Plus Jakarta Sans ExtraBold"/>
              </a:rPr>
              <a:t>02</a:t>
            </a:r>
            <a:endParaRPr b="0" i="0" sz="13000" u="none" cap="none" strike="noStrike">
              <a:solidFill>
                <a:srgbClr val="FDAB2E"/>
              </a:solidFill>
              <a:latin typeface="Plus Jakarta Sans ExtraBold"/>
              <a:ea typeface="Plus Jakarta Sans ExtraBold"/>
              <a:cs typeface="Plus Jakarta Sans ExtraBold"/>
              <a:sym typeface="Plus Jakarta Sans ExtraBold"/>
            </a:endParaRPr>
          </a:p>
        </p:txBody>
      </p:sp>
      <p:sp>
        <p:nvSpPr>
          <p:cNvPr id="198" name="Google Shape;198;p15"/>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s" sz="3600" u="none" cap="none" strike="noStrike">
                <a:solidFill>
                  <a:srgbClr val="F8F2E8"/>
                </a:solidFill>
                <a:latin typeface="Plus Jakarta Sans ExtraBold"/>
                <a:ea typeface="Plus Jakarta Sans ExtraBold"/>
                <a:cs typeface="Plus Jakarta Sans ExtraBold"/>
                <a:sym typeface="Plus Jakarta Sans ExtraBold"/>
              </a:rPr>
              <a:t>Arquitectura de Flujos</a:t>
            </a:r>
            <a:endParaRPr b="0" i="0" sz="36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6"/>
          <p:cNvSpPr txBox="1"/>
          <p:nvPr/>
        </p:nvSpPr>
        <p:spPr>
          <a:xfrm>
            <a:off x="602400" y="1971875"/>
            <a:ext cx="69903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Trigger (el "cuándo"): </a:t>
            </a:r>
            <a:r>
              <a:rPr b="0" i="0" lang="es" sz="1150" u="none" cap="none" strike="noStrike">
                <a:solidFill>
                  <a:srgbClr val="171717"/>
                </a:solidFill>
                <a:latin typeface="Plus Jakarta Sans"/>
                <a:ea typeface="Plus Jakarta Sans"/>
                <a:cs typeface="Plus Jakarta Sans"/>
                <a:sym typeface="Plus Jakarta Sans"/>
              </a:rPr>
              <a:t>el evento que despierta al flujo. Por evento (llega un formulario) o programado (lunes 8 AM).</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Input (el "con qué"): </a:t>
            </a:r>
            <a:r>
              <a:rPr b="0" i="0" lang="es" sz="1150" u="none" cap="none" strike="noStrike">
                <a:solidFill>
                  <a:srgbClr val="171717"/>
                </a:solidFill>
                <a:latin typeface="Plus Jakarta Sans"/>
                <a:ea typeface="Plus Jakarta Sans"/>
                <a:cs typeface="Plus Jakarta Sans"/>
                <a:sym typeface="Plus Jakarta Sans"/>
              </a:rPr>
              <a:t>la materia prima: nombre, email, el texto del mensaje.</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Output (el "resultado"): </a:t>
            </a:r>
            <a:r>
              <a:rPr b="0" i="0" lang="es" sz="1150" u="none" cap="none" strike="noStrike">
                <a:solidFill>
                  <a:srgbClr val="171717"/>
                </a:solidFill>
                <a:latin typeface="Plus Jakarta Sans"/>
                <a:ea typeface="Plus Jakarta Sans"/>
                <a:cs typeface="Plus Jakarta Sans"/>
                <a:sym typeface="Plus Jakarta Sans"/>
              </a:rPr>
              <a:t>el producto final: un PDF, un mensaje en Slack, una fila nueva en Sheets.</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Clave: el output de un paso suele ser el input del siguiente.</a:t>
            </a:r>
            <a:endParaRPr/>
          </a:p>
        </p:txBody>
      </p:sp>
      <p:sp>
        <p:nvSpPr>
          <p:cNvPr id="204" name="Google Shape;204;p16"/>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s" sz="3000" u="none" cap="none" strike="noStrike">
                <a:solidFill>
                  <a:srgbClr val="171717"/>
                </a:solidFill>
                <a:latin typeface="Plus Jakarta Sans ExtraBold"/>
                <a:ea typeface="Plus Jakarta Sans ExtraBold"/>
                <a:cs typeface="Plus Jakarta Sans ExtraBold"/>
                <a:sym typeface="Plus Jakarta Sans ExtraBold"/>
              </a:rPr>
              <a:t>El esqueleto de un flujo</a:t>
            </a:r>
            <a:endParaRPr b="0" i="0" sz="30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205" name="Google Shape;205;p16"/>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Trigger, Input y Output</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7"/>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F632B"/>
                </a:solidFill>
                <a:latin typeface="Plus Jakarta Sans ExtraBold"/>
                <a:ea typeface="Plus Jakarta Sans ExtraBold"/>
                <a:cs typeface="Plus Jakarta Sans ExtraBold"/>
                <a:sym typeface="Plus Jakarta Sans ExtraBold"/>
              </a:rPr>
              <a:t>3 símbolos</a:t>
            </a:r>
            <a:r>
              <a:rPr b="0" i="0" lang="es" sz="2400" u="none" cap="none" strike="noStrike">
                <a:solidFill>
                  <a:srgbClr val="260700"/>
                </a:solidFill>
                <a:latin typeface="Plus Jakarta Sans"/>
                <a:ea typeface="Plus Jakarta Sans"/>
                <a:cs typeface="Plus Jakarta Sans"/>
                <a:sym typeface="Plus Jakarta Sans"/>
              </a:rPr>
              <a:t> del flujo</a:t>
            </a:r>
            <a:endParaRPr b="0" i="0" sz="2400" u="none" cap="none" strike="noStrike">
              <a:solidFill>
                <a:srgbClr val="260700"/>
              </a:solidFill>
              <a:latin typeface="Plus Jakarta Sans"/>
              <a:ea typeface="Plus Jakarta Sans"/>
              <a:cs typeface="Plus Jakarta Sans"/>
              <a:sym typeface="Plus Jakarta Sans"/>
            </a:endParaRPr>
          </a:p>
        </p:txBody>
      </p:sp>
      <p:sp>
        <p:nvSpPr>
          <p:cNvPr id="211" name="Google Shape;211;p17"/>
          <p:cNvSpPr/>
          <p:nvPr/>
        </p:nvSpPr>
        <p:spPr>
          <a:xfrm>
            <a:off x="667475"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Óvalo = Inicio / Fin</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Dónde empieza (Trigger) y dónde termina el proceso.</a:t>
            </a:r>
            <a:endParaRPr/>
          </a:p>
        </p:txBody>
      </p:sp>
      <p:sp>
        <p:nvSpPr>
          <p:cNvPr id="212" name="Google Shape;212;p17"/>
          <p:cNvSpPr/>
          <p:nvPr/>
        </p:nvSpPr>
        <p:spPr>
          <a:xfrm>
            <a:off x="4766370"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Rectángulo = Acción</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Algo que la IA o la app hace: enviar, resumir, guardar.</a:t>
            </a:r>
            <a:endParaRPr/>
          </a:p>
        </p:txBody>
      </p:sp>
      <p:sp>
        <p:nvSpPr>
          <p:cNvPr id="213" name="Google Shape;213;p17"/>
          <p:cNvSpPr/>
          <p:nvPr/>
        </p:nvSpPr>
        <p:spPr>
          <a:xfrm>
            <a:off x="667475" y="3866726"/>
            <a:ext cx="8041200" cy="840300"/>
          </a:xfrm>
          <a:prstGeom prst="roundRect">
            <a:avLst>
              <a:gd fmla="val 30840"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Rombo = Decisión</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La bifurcación: una pregunta de Sí o No que parte el camino.</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8"/>
          <p:cNvSpPr/>
          <p:nvPr/>
        </p:nvSpPr>
        <p:spPr>
          <a:xfrm>
            <a:off x="6824125" y="2759980"/>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Trigger: mensaje nuevo</a:t>
            </a:r>
            <a:endParaRPr b="0" i="0" sz="1200" u="none" cap="none" strike="noStrike">
              <a:solidFill>
                <a:srgbClr val="FAFAFA"/>
              </a:solidFill>
              <a:latin typeface="Plus Jakarta Sans"/>
              <a:ea typeface="Plus Jakarta Sans"/>
              <a:cs typeface="Plus Jakarta Sans"/>
              <a:sym typeface="Plus Jakarta Sans"/>
            </a:endParaRPr>
          </a:p>
        </p:txBody>
      </p:sp>
      <p:sp>
        <p:nvSpPr>
          <p:cNvPr id="219" name="Google Shape;219;p18"/>
          <p:cNvSpPr/>
          <p:nvPr/>
        </p:nvSpPr>
        <p:spPr>
          <a:xfrm>
            <a:off x="3403275" y="2073153"/>
            <a:ext cx="2405100" cy="997200"/>
          </a:xfrm>
          <a:prstGeom prst="roundRect">
            <a:avLst>
              <a:gd fmla="val 16667" name="adj"/>
            </a:avLst>
          </a:prstGeom>
          <a:solidFill>
            <a:srgbClr val="FF632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s" sz="2000" u="none" cap="none" strike="noStrike">
                <a:solidFill>
                  <a:srgbClr val="260700"/>
                </a:solidFill>
                <a:latin typeface="Plus Jakarta Sans"/>
                <a:ea typeface="Plus Jakarta Sans"/>
                <a:cs typeface="Plus Jakarta Sans"/>
                <a:sym typeface="Plus Jakarta Sans"/>
              </a:rPr>
              <a:t>Consulta WhatsApp · Inmobiliaria</a:t>
            </a:r>
            <a:endParaRPr b="1" i="0" sz="2000" u="none" cap="none" strike="noStrike">
              <a:solidFill>
                <a:srgbClr val="260700"/>
              </a:solidFill>
              <a:latin typeface="Plus Jakarta Sans"/>
              <a:ea typeface="Plus Jakarta Sans"/>
              <a:cs typeface="Plus Jakarta Sans"/>
              <a:sym typeface="Plus Jakarta Sans"/>
            </a:endParaRPr>
          </a:p>
        </p:txBody>
      </p:sp>
      <p:sp>
        <p:nvSpPr>
          <p:cNvPr id="220" name="Google Shape;220;p18"/>
          <p:cNvSpPr/>
          <p:nvPr/>
        </p:nvSpPr>
        <p:spPr>
          <a:xfrm>
            <a:off x="6824125" y="3618097"/>
            <a:ext cx="1399200" cy="580200"/>
          </a:xfrm>
          <a:prstGeom prst="roundRect">
            <a:avLst>
              <a:gd fmla="val 16667" name="adj"/>
            </a:avLst>
          </a:prstGeom>
          <a:noFill/>
          <a:ln cap="flat" cmpd="sng" w="9525">
            <a:solidFill>
              <a:srgbClr val="2222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222224"/>
                </a:solidFill>
                <a:latin typeface="Plus Jakarta Sans"/>
                <a:ea typeface="Plus Jakarta Sans"/>
                <a:cs typeface="Plus Jakarta Sans"/>
                <a:sym typeface="Plus Jakarta Sans"/>
              </a:rPr>
              <a:t>Input: nombre + texto</a:t>
            </a:r>
            <a:endParaRPr b="0" i="0" sz="1200" u="none" cap="none" strike="noStrike">
              <a:solidFill>
                <a:srgbClr val="222224"/>
              </a:solidFill>
              <a:latin typeface="Plus Jakarta Sans"/>
              <a:ea typeface="Plus Jakarta Sans"/>
              <a:cs typeface="Plus Jakarta Sans"/>
              <a:sym typeface="Plus Jakarta Sans"/>
            </a:endParaRPr>
          </a:p>
        </p:txBody>
      </p:sp>
      <p:cxnSp>
        <p:nvCxnSpPr>
          <p:cNvPr id="221" name="Google Shape;221;p18"/>
          <p:cNvCxnSpPr>
            <a:stCxn id="218" idx="2"/>
            <a:endCxn id="220" idx="0"/>
          </p:cNvCxnSpPr>
          <p:nvPr/>
        </p:nvCxnSpPr>
        <p:spPr>
          <a:xfrm>
            <a:off x="7523725" y="3340180"/>
            <a:ext cx="0" cy="277800"/>
          </a:xfrm>
          <a:prstGeom prst="straightConnector1">
            <a:avLst/>
          </a:prstGeom>
          <a:noFill/>
          <a:ln cap="flat" cmpd="sng" w="9525">
            <a:solidFill>
              <a:srgbClr val="CCCCCC"/>
            </a:solidFill>
            <a:prstDash val="solid"/>
            <a:round/>
            <a:headEnd len="sm" w="sm" type="none"/>
            <a:tailEnd len="med" w="med" type="oval"/>
          </a:ln>
        </p:spPr>
      </p:cxnSp>
      <p:sp>
        <p:nvSpPr>
          <p:cNvPr id="222" name="Google Shape;222;p18"/>
          <p:cNvSpPr/>
          <p:nvPr/>
        </p:nvSpPr>
        <p:spPr>
          <a:xfrm>
            <a:off x="920675" y="2759918"/>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IA analiza intención</a:t>
            </a:r>
            <a:endParaRPr b="0" i="0" sz="1200" u="none" cap="none" strike="noStrike">
              <a:solidFill>
                <a:srgbClr val="FAFAFA"/>
              </a:solidFill>
              <a:latin typeface="Plus Jakarta Sans"/>
              <a:ea typeface="Plus Jakarta Sans"/>
              <a:cs typeface="Plus Jakarta Sans"/>
              <a:sym typeface="Plus Jakarta Sans"/>
            </a:endParaRPr>
          </a:p>
        </p:txBody>
      </p:sp>
      <p:sp>
        <p:nvSpPr>
          <p:cNvPr id="223" name="Google Shape;223;p18"/>
          <p:cNvSpPr/>
          <p:nvPr/>
        </p:nvSpPr>
        <p:spPr>
          <a:xfrm>
            <a:off x="920675" y="3618035"/>
            <a:ext cx="1399200" cy="580200"/>
          </a:xfrm>
          <a:prstGeom prst="roundRect">
            <a:avLst>
              <a:gd fmla="val 16667" name="adj"/>
            </a:avLst>
          </a:prstGeom>
          <a:noFill/>
          <a:ln cap="flat" cmpd="sng" w="9525">
            <a:solidFill>
              <a:srgbClr val="2222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222224"/>
                </a:solidFill>
                <a:latin typeface="Plus Jakarta Sans"/>
                <a:ea typeface="Plus Jakarta Sans"/>
                <a:cs typeface="Plus Jakarta Sans"/>
                <a:sym typeface="Plus Jakarta Sans"/>
              </a:rPr>
              <a:t>Decisión: ¿compra?</a:t>
            </a:r>
            <a:endParaRPr b="0" i="0" sz="1200" u="none" cap="none" strike="noStrike">
              <a:solidFill>
                <a:srgbClr val="222224"/>
              </a:solidFill>
              <a:latin typeface="Plus Jakarta Sans"/>
              <a:ea typeface="Plus Jakarta Sans"/>
              <a:cs typeface="Plus Jakarta Sans"/>
              <a:sym typeface="Plus Jakarta Sans"/>
            </a:endParaRPr>
          </a:p>
        </p:txBody>
      </p:sp>
      <p:cxnSp>
        <p:nvCxnSpPr>
          <p:cNvPr id="224" name="Google Shape;224;p18"/>
          <p:cNvCxnSpPr>
            <a:stCxn id="222" idx="2"/>
            <a:endCxn id="223" idx="0"/>
          </p:cNvCxnSpPr>
          <p:nvPr/>
        </p:nvCxnSpPr>
        <p:spPr>
          <a:xfrm>
            <a:off x="1620275" y="3340118"/>
            <a:ext cx="0" cy="277800"/>
          </a:xfrm>
          <a:prstGeom prst="straightConnector1">
            <a:avLst/>
          </a:prstGeom>
          <a:noFill/>
          <a:ln cap="flat" cmpd="sng" w="9525">
            <a:solidFill>
              <a:srgbClr val="CCCCCC"/>
            </a:solidFill>
            <a:prstDash val="solid"/>
            <a:round/>
            <a:headEnd len="sm" w="sm" type="none"/>
            <a:tailEnd len="med" w="med" type="oval"/>
          </a:ln>
        </p:spPr>
      </p:cxnSp>
      <p:sp>
        <p:nvSpPr>
          <p:cNvPr id="225" name="Google Shape;225;p18"/>
          <p:cNvSpPr/>
          <p:nvPr/>
        </p:nvSpPr>
        <p:spPr>
          <a:xfrm>
            <a:off x="3906225" y="3618093"/>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Sí → agendar cita</a:t>
            </a:r>
            <a:endParaRPr b="0" i="0" sz="1200" u="none" cap="none" strike="noStrike">
              <a:solidFill>
                <a:srgbClr val="FAFAFA"/>
              </a:solidFill>
              <a:latin typeface="Plus Jakarta Sans"/>
              <a:ea typeface="Plus Jakarta Sans"/>
              <a:cs typeface="Plus Jakarta Sans"/>
              <a:sym typeface="Plus Jakarta Sans"/>
            </a:endParaRPr>
          </a:p>
        </p:txBody>
      </p:sp>
      <p:cxnSp>
        <p:nvCxnSpPr>
          <p:cNvPr id="226" name="Google Shape;226;p18"/>
          <p:cNvCxnSpPr>
            <a:stCxn id="225" idx="0"/>
            <a:endCxn id="219" idx="2"/>
          </p:cNvCxnSpPr>
          <p:nvPr/>
        </p:nvCxnSpPr>
        <p:spPr>
          <a:xfrm rot="10800000">
            <a:off x="4605825" y="3070293"/>
            <a:ext cx="0" cy="547800"/>
          </a:xfrm>
          <a:prstGeom prst="straightConnector1">
            <a:avLst/>
          </a:prstGeom>
          <a:noFill/>
          <a:ln cap="flat" cmpd="sng" w="9525">
            <a:solidFill>
              <a:srgbClr val="CCCCCC"/>
            </a:solidFill>
            <a:prstDash val="solid"/>
            <a:round/>
            <a:headEnd len="med" w="med" type="oval"/>
            <a:tailEnd len="sm" w="sm" type="none"/>
          </a:ln>
        </p:spPr>
      </p:cxnSp>
      <p:sp>
        <p:nvSpPr>
          <p:cNvPr id="227" name="Google Shape;227;p18"/>
          <p:cNvSpPr/>
          <p:nvPr/>
        </p:nvSpPr>
        <p:spPr>
          <a:xfrm>
            <a:off x="920675" y="1411418"/>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No → enviar catálogo</a:t>
            </a:r>
            <a:endParaRPr b="0" i="0" sz="1200" u="none" cap="none" strike="noStrike">
              <a:solidFill>
                <a:srgbClr val="FAFAFA"/>
              </a:solidFill>
              <a:latin typeface="Plus Jakarta Sans"/>
              <a:ea typeface="Plus Jakarta Sans"/>
              <a:cs typeface="Plus Jakarta Sans"/>
              <a:sym typeface="Plus Jakarta Sans"/>
            </a:endParaRPr>
          </a:p>
        </p:txBody>
      </p:sp>
      <p:sp>
        <p:nvSpPr>
          <p:cNvPr id="228" name="Google Shape;228;p18"/>
          <p:cNvSpPr/>
          <p:nvPr/>
        </p:nvSpPr>
        <p:spPr>
          <a:xfrm>
            <a:off x="6824125" y="1411468"/>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Output: respuesta</a:t>
            </a:r>
            <a:endParaRPr b="0" i="0" sz="1200" u="none" cap="none" strike="noStrike">
              <a:solidFill>
                <a:srgbClr val="FAFAFA"/>
              </a:solidFill>
              <a:latin typeface="Plus Jakarta Sans"/>
              <a:ea typeface="Plus Jakarta Sans"/>
              <a:cs typeface="Plus Jakarta Sans"/>
              <a:sym typeface="Plus Jakarta Sans"/>
            </a:endParaRPr>
          </a:p>
        </p:txBody>
      </p:sp>
      <p:cxnSp>
        <p:nvCxnSpPr>
          <p:cNvPr id="229" name="Google Shape;229;p18"/>
          <p:cNvCxnSpPr>
            <a:stCxn id="227" idx="3"/>
            <a:endCxn id="219" idx="1"/>
          </p:cNvCxnSpPr>
          <p:nvPr/>
        </p:nvCxnSpPr>
        <p:spPr>
          <a:xfrm>
            <a:off x="2319875" y="1701518"/>
            <a:ext cx="1083300" cy="870300"/>
          </a:xfrm>
          <a:prstGeom prst="bentConnector3">
            <a:avLst>
              <a:gd fmla="val 50005" name="adj1"/>
            </a:avLst>
          </a:prstGeom>
          <a:noFill/>
          <a:ln cap="flat" cmpd="sng" w="9525">
            <a:solidFill>
              <a:srgbClr val="CCCCCC"/>
            </a:solidFill>
            <a:prstDash val="solid"/>
            <a:round/>
            <a:headEnd len="med" w="med" type="oval"/>
            <a:tailEnd len="sm" w="sm" type="none"/>
          </a:ln>
        </p:spPr>
      </p:cxnSp>
      <p:cxnSp>
        <p:nvCxnSpPr>
          <p:cNvPr id="230" name="Google Shape;230;p18"/>
          <p:cNvCxnSpPr>
            <a:stCxn id="228" idx="1"/>
            <a:endCxn id="219" idx="3"/>
          </p:cNvCxnSpPr>
          <p:nvPr/>
        </p:nvCxnSpPr>
        <p:spPr>
          <a:xfrm flipH="1">
            <a:off x="5808325" y="1701568"/>
            <a:ext cx="1015800" cy="870300"/>
          </a:xfrm>
          <a:prstGeom prst="bentConnector3">
            <a:avLst>
              <a:gd fmla="val 49998" name="adj1"/>
            </a:avLst>
          </a:prstGeom>
          <a:noFill/>
          <a:ln cap="flat" cmpd="sng" w="9525">
            <a:solidFill>
              <a:srgbClr val="CCCCCC"/>
            </a:solidFill>
            <a:prstDash val="solid"/>
            <a:round/>
            <a:headEnd len="med" w="med" type="oval"/>
            <a:tailEnd len="sm" w="sm" type="none"/>
          </a:ln>
        </p:spPr>
      </p:cxnSp>
      <p:cxnSp>
        <p:nvCxnSpPr>
          <p:cNvPr id="231" name="Google Shape;231;p18"/>
          <p:cNvCxnSpPr>
            <a:stCxn id="222" idx="0"/>
            <a:endCxn id="219" idx="1"/>
          </p:cNvCxnSpPr>
          <p:nvPr/>
        </p:nvCxnSpPr>
        <p:spPr>
          <a:xfrm rot="-5400000">
            <a:off x="2417675" y="1774418"/>
            <a:ext cx="188100" cy="1782900"/>
          </a:xfrm>
          <a:prstGeom prst="bentConnector2">
            <a:avLst/>
          </a:prstGeom>
          <a:noFill/>
          <a:ln cap="flat" cmpd="sng" w="9525">
            <a:solidFill>
              <a:srgbClr val="CCCCCC"/>
            </a:solidFill>
            <a:prstDash val="solid"/>
            <a:round/>
            <a:headEnd len="med" w="med" type="oval"/>
            <a:tailEnd len="sm" w="sm" type="none"/>
          </a:ln>
        </p:spPr>
      </p:cxnSp>
      <p:cxnSp>
        <p:nvCxnSpPr>
          <p:cNvPr id="232" name="Google Shape;232;p18"/>
          <p:cNvCxnSpPr>
            <a:stCxn id="219" idx="3"/>
            <a:endCxn id="218" idx="0"/>
          </p:cNvCxnSpPr>
          <p:nvPr/>
        </p:nvCxnSpPr>
        <p:spPr>
          <a:xfrm>
            <a:off x="5808375" y="2571753"/>
            <a:ext cx="1715400" cy="188100"/>
          </a:xfrm>
          <a:prstGeom prst="bentConnector2">
            <a:avLst/>
          </a:prstGeom>
          <a:noFill/>
          <a:ln cap="flat" cmpd="sng" w="9525">
            <a:solidFill>
              <a:srgbClr val="CCCCCC"/>
            </a:solidFill>
            <a:prstDash val="solid"/>
            <a:round/>
            <a:headEnd len="sm" w="sm" type="none"/>
            <a:tailEnd len="med" w="med" type="oval"/>
          </a:ln>
        </p:spPr>
      </p:cxnSp>
      <p:sp>
        <p:nvSpPr>
          <p:cNvPr id="233" name="Google Shape;233;p18"/>
          <p:cNvSpPr/>
          <p:nvPr/>
        </p:nvSpPr>
        <p:spPr>
          <a:xfrm>
            <a:off x="3906225" y="945193"/>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Queda registrado (logs)</a:t>
            </a:r>
            <a:endParaRPr b="0" i="0" sz="1200" u="none" cap="none" strike="noStrike">
              <a:solidFill>
                <a:srgbClr val="FAFAFA"/>
              </a:solidFill>
              <a:latin typeface="Plus Jakarta Sans"/>
              <a:ea typeface="Plus Jakarta Sans"/>
              <a:cs typeface="Plus Jakarta Sans"/>
              <a:sym typeface="Plus Jakarta Sans"/>
            </a:endParaRPr>
          </a:p>
        </p:txBody>
      </p:sp>
      <p:cxnSp>
        <p:nvCxnSpPr>
          <p:cNvPr id="234" name="Google Shape;234;p18"/>
          <p:cNvCxnSpPr>
            <a:stCxn id="219" idx="0"/>
            <a:endCxn id="233" idx="2"/>
          </p:cNvCxnSpPr>
          <p:nvPr/>
        </p:nvCxnSpPr>
        <p:spPr>
          <a:xfrm rot="10800000">
            <a:off x="4605825" y="1525353"/>
            <a:ext cx="0" cy="547800"/>
          </a:xfrm>
          <a:prstGeom prst="straightConnector1">
            <a:avLst/>
          </a:prstGeom>
          <a:noFill/>
          <a:ln cap="flat" cmpd="sng" w="9525">
            <a:solidFill>
              <a:srgbClr val="CCCCCC"/>
            </a:solidFill>
            <a:prstDash val="solid"/>
            <a:round/>
            <a:headEnd len="sm" w="sm" type="none"/>
            <a:tailEnd len="med" w="med" type="oval"/>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9"/>
          <p:cNvSpPr/>
          <p:nvPr/>
        </p:nvSpPr>
        <p:spPr>
          <a:xfrm>
            <a:off x="0" y="0"/>
            <a:ext cx="9144000" cy="1950900"/>
          </a:xfrm>
          <a:prstGeom prst="rect">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19"/>
          <p:cNvSpPr txBox="1"/>
          <p:nvPr/>
        </p:nvSpPr>
        <p:spPr>
          <a:xfrm>
            <a:off x="600250" y="656475"/>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Momentos de la Clase:</a:t>
            </a:r>
            <a:endParaRPr b="0" i="0" sz="5000" u="none" cap="none" strike="noStrike">
              <a:solidFill>
                <a:srgbClr val="F8F2E8"/>
              </a:solidFill>
              <a:latin typeface="Plus Jakarta Sans"/>
              <a:ea typeface="Plus Jakarta Sans"/>
              <a:cs typeface="Plus Jakarta Sans"/>
              <a:sym typeface="Plus Jakarta Sans"/>
            </a:endParaRPr>
          </a:p>
        </p:txBody>
      </p:sp>
      <p:sp>
        <p:nvSpPr>
          <p:cNvPr id="241" name="Google Shape;241;p19"/>
          <p:cNvSpPr txBox="1"/>
          <p:nvPr/>
        </p:nvSpPr>
        <p:spPr>
          <a:xfrm>
            <a:off x="730900" y="2015917"/>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Para recordar</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260700"/>
                </a:solidFill>
                <a:latin typeface="Plus Jakarta Sans ExtraBold"/>
                <a:ea typeface="Plus Jakarta Sans ExtraBold"/>
                <a:cs typeface="Plus Jakarta Sans ExtraBold"/>
                <a:sym typeface="Plus Jakarta Sans ExtraBold"/>
              </a:rPr>
              <a:t>Coder Tips</a:t>
            </a:r>
            <a:endParaRPr b="0" i="0" sz="50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Material ampliado</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Cuestionario de tarea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#FindTheBug</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242" name="Google Shape;242;p19"/>
          <p:cNvSpPr txBox="1"/>
          <p:nvPr/>
        </p:nvSpPr>
        <p:spPr>
          <a:xfrm>
            <a:off x="6363575" y="2481425"/>
            <a:ext cx="21912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La regla de la receta de cocina: Trigger (horno a 180°) → Inputs (harina, huevos) → Acción (mezclar) → Decisión (¿esponjosa?) → Output (pastel). Si podés explicar tu proceso como una receta, podés automatizarlo.</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0"/>
          <p:cNvSpPr txBox="1"/>
          <p:nvPr/>
        </p:nvSpPr>
        <p:spPr>
          <a:xfrm>
            <a:off x="739075" y="3510226"/>
            <a:ext cx="7815600" cy="274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rPr b="0" i="0" lang="es" sz="1200" u="none" cap="none" strike="noStrike">
                <a:solidFill>
                  <a:srgbClr val="F8F2E8"/>
                </a:solidFill>
                <a:latin typeface="Plus Jakarta Sans Light"/>
                <a:ea typeface="Plus Jakarta Sans Light"/>
                <a:cs typeface="Plus Jakarta Sans Light"/>
                <a:sym typeface="Plus Jakarta Sans Light"/>
              </a:rPr>
              <a:t>Un motor potente sin mapa solo te lleva más rápido al lugar equivocado.</a:t>
            </a:r>
            <a:endParaRPr b="0" i="0" sz="1200" u="none" cap="none" strike="noStrike">
              <a:solidFill>
                <a:srgbClr val="F8F2E8"/>
              </a:solidFill>
              <a:latin typeface="Plus Jakarta Sans Light"/>
              <a:ea typeface="Plus Jakarta Sans Light"/>
              <a:cs typeface="Plus Jakarta Sans Light"/>
              <a:sym typeface="Plus Jakarta Sans Light"/>
            </a:endParaRPr>
          </a:p>
        </p:txBody>
      </p:sp>
      <p:sp>
        <p:nvSpPr>
          <p:cNvPr id="248" name="Google Shape;248;p20"/>
          <p:cNvSpPr txBox="1"/>
          <p:nvPr/>
        </p:nvSpPr>
        <p:spPr>
          <a:xfrm>
            <a:off x="1415425" y="2371426"/>
            <a:ext cx="6462900" cy="1138800"/>
          </a:xfrm>
          <a:prstGeom prst="rect">
            <a:avLst/>
          </a:prstGeom>
          <a:noFill/>
          <a:ln>
            <a:noFill/>
          </a:ln>
        </p:spPr>
        <p:txBody>
          <a:bodyPr anchorCtr="0" anchor="t" bIns="91425" lIns="91425" spcFirstLastPara="1" rIns="91425" wrap="square" tIns="91425">
            <a:noAutofit/>
          </a:bodyPr>
          <a:lstStyle/>
          <a:p>
            <a:pPr indent="0" lvl="0" marL="0" marR="0" rtl="0" algn="ctr">
              <a:lnSpc>
                <a:spcPct val="70000"/>
              </a:lnSpc>
              <a:spcBef>
                <a:spcPts val="0"/>
              </a:spcBef>
              <a:spcAft>
                <a:spcPts val="0"/>
              </a:spcAft>
              <a:buClr>
                <a:srgbClr val="000000"/>
              </a:buClr>
              <a:buSzPts val="3600"/>
              <a:buFont typeface="Arial"/>
              <a:buNone/>
            </a:pPr>
            <a:r>
              <a:rPr b="0" i="0" lang="es" sz="3600" u="none" cap="none" strike="noStrike">
                <a:solidFill>
                  <a:srgbClr val="F8F2E8"/>
                </a:solidFill>
                <a:latin typeface="Plus Jakarta Sans ExtraBold"/>
                <a:ea typeface="Plus Jakarta Sans ExtraBold"/>
                <a:cs typeface="Plus Jakarta Sans ExtraBold"/>
                <a:sym typeface="Plus Jakarta Sans ExtraBold"/>
              </a:rPr>
              <a:t>La lógica es el mapa; la IA es el motor.</a:t>
            </a:r>
            <a:endParaRPr b="0" i="0" sz="36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1"/>
          <p:cNvSpPr txBox="1"/>
          <p:nvPr/>
        </p:nvSpPr>
        <p:spPr>
          <a:xfrm>
            <a:off x="739075" y="2048800"/>
            <a:ext cx="68727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Objetivo: </a:t>
            </a:r>
            <a:r>
              <a:rPr b="0" i="0" lang="es" sz="1150" u="none" cap="none" strike="noStrike">
                <a:solidFill>
                  <a:srgbClr val="171717"/>
                </a:solidFill>
                <a:latin typeface="Plus Jakarta Sans"/>
                <a:ea typeface="Plus Jakarta Sans"/>
                <a:cs typeface="Plus Jakarta Sans"/>
                <a:sym typeface="Plus Jakarta Sans"/>
              </a:rPr>
              <a:t>convertir tu proceso en un diagrama lógico.</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Manos a la obra:</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Dibujá el flujo con los 3 símbolos: óvalo (inicio/fin), rectángulo (acción), rombo (decisión).</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Etiquetá el Trigger, los Inputs y el Output final.</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Resultado: </a:t>
            </a:r>
            <a:r>
              <a:rPr b="0" i="0" lang="es" sz="1150" u="none" cap="none" strike="noStrike">
                <a:solidFill>
                  <a:srgbClr val="171717"/>
                </a:solidFill>
                <a:latin typeface="Plus Jakarta Sans"/>
                <a:ea typeface="Plus Jakarta Sans"/>
                <a:cs typeface="Plus Jakarta Sans"/>
                <a:sym typeface="Plus Jakarta Sans"/>
              </a:rPr>
              <a:t>tu proceso convertido en diagrama. Es el ladrillo 2 de tu Pre-Entrega.</a:t>
            </a:r>
            <a:endParaRPr/>
          </a:p>
        </p:txBody>
      </p:sp>
      <p:sp>
        <p:nvSpPr>
          <p:cNvPr id="254" name="Google Shape;254;p21"/>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171717"/>
                </a:solidFill>
                <a:latin typeface="Plus Jakarta Sans ExtraBold"/>
                <a:ea typeface="Plus Jakarta Sans ExtraBold"/>
                <a:cs typeface="Plus Jakarta Sans ExtraBold"/>
                <a:sym typeface="Plus Jakarta Sans ExtraBold"/>
              </a:rPr>
              <a:t>Práctica · Paso 2</a:t>
            </a:r>
            <a:endParaRPr b="0" i="0" sz="32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255" name="Google Shape;255;p21"/>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highlight>
                  <a:srgbClr val="FDAB2E"/>
                </a:highlight>
                <a:latin typeface="Plus Jakarta Sans"/>
                <a:ea typeface="Plus Jakarta Sans"/>
                <a:cs typeface="Plus Jakarta Sans"/>
                <a:sym typeface="Plus Jakarta Sans"/>
              </a:rPr>
              <a:t>Diagramá tu flujo</a:t>
            </a:r>
            <a:endParaRPr b="0" i="0" sz="22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2"/>
          <p:cNvSpPr txBox="1"/>
          <p:nvPr/>
        </p:nvSpPr>
        <p:spPr>
          <a:xfrm>
            <a:off x="652525" y="1336525"/>
            <a:ext cx="6254700" cy="2441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0"/>
              <a:buFont typeface="Arial"/>
              <a:buNone/>
            </a:pPr>
            <a:r>
              <a:rPr b="0" i="0" lang="es" sz="6000" u="none" cap="none" strike="noStrike">
                <a:solidFill>
                  <a:srgbClr val="F8F2E8"/>
                </a:solidFill>
                <a:latin typeface="Plus Jakarta Sans ExtraBold"/>
                <a:ea typeface="Plus Jakarta Sans ExtraBold"/>
                <a:cs typeface="Plus Jakarta Sans ExtraBold"/>
                <a:sym typeface="Plus Jakarta Sans ExtraBold"/>
              </a:rPr>
              <a:t>Break,</a:t>
            </a:r>
            <a:endParaRPr b="0" i="0" sz="6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rgbClr val="F8F2E8"/>
                </a:solidFill>
                <a:latin typeface="Plus Jakarta Sans"/>
                <a:ea typeface="Plus Jakarta Sans"/>
                <a:cs typeface="Plus Jakarta Sans"/>
                <a:sym typeface="Plus Jakarta Sans"/>
              </a:rPr>
              <a:t>andá por un cafecito</a:t>
            </a:r>
            <a:endParaRPr b="0" i="0" sz="2400" u="none" cap="none" strike="noStrike">
              <a:solidFill>
                <a:srgbClr val="F8F2E8"/>
              </a:solidFill>
              <a:latin typeface="Plus Jakarta Sans"/>
              <a:ea typeface="Plus Jakarta Sans"/>
              <a:cs typeface="Plus Jakarta Sans"/>
              <a:sym typeface="Plus Jakarta Sans"/>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rgbClr val="F8F2E8"/>
                </a:solidFill>
                <a:latin typeface="Plus Jakarta Sans"/>
                <a:ea typeface="Plus Jakarta Sans"/>
                <a:cs typeface="Plus Jakarta Sans"/>
                <a:sym typeface="Plus Jakarta Sans"/>
              </a:rPr>
              <a:t>o mate, ¡y volvemos!</a:t>
            </a:r>
            <a:endParaRPr b="0" i="0" sz="2400" u="none" cap="none" strike="noStrike">
              <a:solidFill>
                <a:srgbClr val="F8F2E8"/>
              </a:solidFill>
              <a:latin typeface="Plus Jakarta Sans"/>
              <a:ea typeface="Plus Jakarta Sans"/>
              <a:cs typeface="Plus Jakarta Sans"/>
              <a:sym typeface="Plus Jakarta Sans"/>
            </a:endParaRPr>
          </a:p>
        </p:txBody>
      </p:sp>
      <p:pic>
        <p:nvPicPr>
          <p:cNvPr id="261" name="Google Shape;261;p22" title="Vector.png"/>
          <p:cNvPicPr preferRelativeResize="0"/>
          <p:nvPr/>
        </p:nvPicPr>
        <p:blipFill rotWithShape="1">
          <a:blip r:embed="rId3">
            <a:alphaModFix/>
          </a:blip>
          <a:srcRect b="0" l="29" r="39" t="0"/>
          <a:stretch/>
        </p:blipFill>
        <p:spPr>
          <a:xfrm>
            <a:off x="7520578" y="2347936"/>
            <a:ext cx="524575" cy="4476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3"/>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F632B"/>
                </a:solidFill>
                <a:latin typeface="Plus Jakarta Sans ExtraBold"/>
                <a:ea typeface="Plus Jakarta Sans ExtraBold"/>
                <a:cs typeface="Plus Jakarta Sans ExtraBold"/>
                <a:sym typeface="Plus Jakarta Sans ExtraBold"/>
              </a:rPr>
              <a:t>03</a:t>
            </a:r>
            <a:endParaRPr b="0" i="0" sz="13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67" name="Google Shape;267;p23"/>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400"/>
              <a:buFont typeface="Arial"/>
              <a:buNone/>
            </a:pPr>
            <a:r>
              <a:rPr b="0" i="0" lang="es" sz="4400" u="none" cap="none" strike="noStrike">
                <a:solidFill>
                  <a:srgbClr val="F8F2E8"/>
                </a:solidFill>
                <a:latin typeface="Plus Jakarta Sans ExtraBold"/>
                <a:ea typeface="Plus Jakarta Sans ExtraBold"/>
                <a:cs typeface="Plus Jakarta Sans ExtraBold"/>
                <a:sym typeface="Plus Jakarta Sans ExtraBold"/>
              </a:rPr>
              <a:t>Ética y Seguridad</a:t>
            </a:r>
            <a:endParaRPr b="0" i="0" sz="44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4"/>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F632B"/>
                </a:solidFill>
                <a:latin typeface="Plus Jakarta Sans ExtraBold"/>
                <a:ea typeface="Plus Jakarta Sans ExtraBold"/>
                <a:cs typeface="Plus Jakarta Sans ExtraBold"/>
                <a:sym typeface="Plus Jakarta Sans ExtraBold"/>
              </a:rPr>
              <a:t>3 pilares</a:t>
            </a:r>
            <a:r>
              <a:rPr b="0" i="0" lang="es" sz="2400" u="none" cap="none" strike="noStrike">
                <a:solidFill>
                  <a:srgbClr val="260700"/>
                </a:solidFill>
                <a:latin typeface="Plus Jakarta Sans"/>
                <a:ea typeface="Plus Jakarta Sans"/>
                <a:cs typeface="Plus Jakarta Sans"/>
                <a:sym typeface="Plus Jakarta Sans"/>
              </a:rPr>
              <a:t> de la ética en la IA</a:t>
            </a:r>
            <a:endParaRPr b="0" i="0" sz="2400" u="none" cap="none" strike="noStrike">
              <a:solidFill>
                <a:srgbClr val="260700"/>
              </a:solidFill>
              <a:latin typeface="Plus Jakarta Sans"/>
              <a:ea typeface="Plus Jakarta Sans"/>
              <a:cs typeface="Plus Jakarta Sans"/>
              <a:sym typeface="Plus Jakarta Sans"/>
            </a:endParaRPr>
          </a:p>
        </p:txBody>
      </p:sp>
      <p:sp>
        <p:nvSpPr>
          <p:cNvPr id="273" name="Google Shape;273;p24"/>
          <p:cNvSpPr/>
          <p:nvPr/>
        </p:nvSpPr>
        <p:spPr>
          <a:xfrm>
            <a:off x="667475"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Privacidad</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Las personas controlan su info. Recolectá solo lo estrictamente necesario.</a:t>
            </a:r>
            <a:endParaRPr/>
          </a:p>
        </p:txBody>
      </p:sp>
      <p:sp>
        <p:nvSpPr>
          <p:cNvPr id="274" name="Google Shape;274;p24"/>
          <p:cNvSpPr/>
          <p:nvPr/>
        </p:nvSpPr>
        <p:spPr>
          <a:xfrm>
            <a:off x="4766370"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Equidad</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Trato justo para todos. Cuidá que tus filtros no creen barreras invisibles.</a:t>
            </a:r>
            <a:endParaRPr/>
          </a:p>
        </p:txBody>
      </p:sp>
      <p:sp>
        <p:nvSpPr>
          <p:cNvPr id="275" name="Google Shape;275;p24"/>
          <p:cNvSpPr/>
          <p:nvPr/>
        </p:nvSpPr>
        <p:spPr>
          <a:xfrm>
            <a:off x="667475" y="3866726"/>
            <a:ext cx="8041200" cy="840300"/>
          </a:xfrm>
          <a:prstGeom prst="roundRect">
            <a:avLst>
              <a:gd fmla="val 30840"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Transparencia</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Poder explicar en simple por qué la automatización decidió algo. Adiós a la "caja negra".</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5"/>
          <p:cNvSpPr txBox="1"/>
          <p:nvPr/>
        </p:nvSpPr>
        <p:spPr>
          <a:xfrm>
            <a:off x="739075" y="2164150"/>
            <a:ext cx="69402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Una automatización no es "configurar y olvidar". En sistemas de alto riesgo siempre debe haber un humano que pueda supervisar y frenar el proceso.</a:t>
            </a:r>
            <a:endParaRPr/>
          </a:p>
          <a:p>
            <a:pPr indent="0" lvl="0" marL="0" marR="0" rtl="0" algn="l">
              <a:lnSpc>
                <a:spcPct val="110000"/>
              </a:lnSpc>
              <a:spcBef>
                <a:spcPts val="4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El "botón de parada": </a:t>
            </a:r>
            <a:r>
              <a:rPr b="0" i="0" lang="es" sz="1150" u="none" cap="none" strike="noStrike">
                <a:solidFill>
                  <a:srgbClr val="171717"/>
                </a:solidFill>
                <a:latin typeface="Plus Jakarta Sans"/>
                <a:ea typeface="Plus Jakarta Sans"/>
                <a:cs typeface="Plus Jakarta Sans"/>
                <a:sym typeface="Plus Jakarta Sans"/>
              </a:rPr>
              <a:t>ante decisiones importantes (aprobar un reembolso, enviar un contrato), sumá un paso de aprobación manual.</a:t>
            </a:r>
            <a:endParaRPr/>
          </a:p>
          <a:p>
            <a:pPr indent="0" lvl="0" marL="0" marR="0" rtl="0" algn="l">
              <a:lnSpc>
                <a:spcPct val="110000"/>
              </a:lnSpc>
              <a:spcBef>
                <a:spcPts val="35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En Make o n8n: una notificación a Slack o un mail con botón </a:t>
            </a:r>
            <a:r>
              <a:rPr b="1" i="0" lang="es" sz="1150" u="none" cap="none" strike="noStrike">
                <a:solidFill>
                  <a:srgbClr val="171717"/>
                </a:solidFill>
                <a:latin typeface="Plus Jakarta Sans"/>
                <a:ea typeface="Plus Jakarta Sans"/>
                <a:cs typeface="Plus Jakarta Sans"/>
                <a:sym typeface="Plus Jakarta Sans"/>
              </a:rPr>
              <a:t>"Aprobar / Rechazar"</a:t>
            </a:r>
            <a:r>
              <a:rPr b="0" i="0" lang="es" sz="1150" u="none" cap="none" strike="noStrike">
                <a:solidFill>
                  <a:srgbClr val="171717"/>
                </a:solidFill>
                <a:latin typeface="Plus Jakarta Sans"/>
                <a:ea typeface="Plus Jakarta Sans"/>
                <a:cs typeface="Plus Jakarta Sans"/>
                <a:sym typeface="Plus Jakarta Sans"/>
              </a:rPr>
              <a:t> antes de la acción final.</a:t>
            </a:r>
            <a:endParaRPr/>
          </a:p>
        </p:txBody>
      </p:sp>
      <p:sp>
        <p:nvSpPr>
          <p:cNvPr id="281" name="Google Shape;281;p25"/>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s" sz="3600" u="none" cap="none" strike="noStrike">
                <a:solidFill>
                  <a:srgbClr val="171717"/>
                </a:solidFill>
                <a:latin typeface="Plus Jakarta Sans ExtraBold"/>
                <a:ea typeface="Plus Jakarta Sans ExtraBold"/>
                <a:cs typeface="Plus Jakarta Sans ExtraBold"/>
                <a:sym typeface="Plus Jakarta Sans ExtraBold"/>
              </a:rPr>
              <a:t>Supervisión humana</a:t>
            </a:r>
            <a:endParaRPr b="0" i="0" sz="36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282" name="Google Shape;282;p25"/>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Human-in-the-loop</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6"/>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0000"/>
              </a:lnSpc>
              <a:spcBef>
                <a:spcPts val="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Minimización: </a:t>
            </a:r>
            <a:r>
              <a:rPr b="0" i="0" lang="es" sz="1300" u="none" cap="none" strike="noStrike">
                <a:solidFill>
                  <a:srgbClr val="171717"/>
                </a:solidFill>
                <a:latin typeface="Plus Jakarta Sans"/>
                <a:ea typeface="Plus Jakarta Sans"/>
                <a:cs typeface="Plus Jakarta Sans"/>
                <a:sym typeface="Plus Jakarta Sans"/>
              </a:rPr>
              <a:t>"si no lo usás, no lo pidas". Menos datos guardados = menos riesgo ante un hackeo.</a:t>
            </a:r>
            <a:endParaRPr/>
          </a:p>
          <a:p>
            <a:pPr indent="-228600" lvl="0" marL="228600" marR="0" rtl="0" algn="l">
              <a:lnSpc>
                <a:spcPct val="110000"/>
              </a:lnSpc>
              <a:spcBef>
                <a:spcPts val="20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Trazabilidad: </a:t>
            </a:r>
            <a:r>
              <a:rPr b="0" i="0" lang="es" sz="1300" u="none" cap="none" strike="noStrike">
                <a:solidFill>
                  <a:srgbClr val="171717"/>
                </a:solidFill>
                <a:latin typeface="Plus Jakarta Sans"/>
                <a:ea typeface="Plus Jakarta Sans"/>
                <a:cs typeface="Plus Jakarta Sans"/>
                <a:sym typeface="Plus Jakarta Sans"/>
              </a:rPr>
              <a:t>el registro de qué entró, qué decidió la IA y qué salió en cada paso. Te deja encontrar dónde falló el flujo.</a:t>
            </a:r>
            <a:endParaRPr/>
          </a:p>
          <a:p>
            <a:pPr indent="0" lvl="0" marL="0" marR="0" rtl="0" algn="l">
              <a:lnSpc>
                <a:spcPct val="110000"/>
              </a:lnSpc>
              <a:spcBef>
                <a:spcPts val="400"/>
              </a:spcBef>
              <a:spcAft>
                <a:spcPts val="0"/>
              </a:spcAft>
              <a:buClr>
                <a:srgbClr val="000000"/>
              </a:buClr>
              <a:buSzPts val="1300"/>
              <a:buFont typeface="Arial"/>
              <a:buNone/>
            </a:pPr>
            <a:r>
              <a:rPr b="1" i="0" lang="es" sz="1300" u="none" cap="none" strike="noStrike">
                <a:solidFill>
                  <a:srgbClr val="171717"/>
                </a:solidFill>
                <a:latin typeface="Plus Jakarta Sans"/>
                <a:ea typeface="Plus Jakarta Sans"/>
                <a:cs typeface="Plus Jakarta Sans"/>
                <a:sym typeface="Plus Jakarta Sans"/>
              </a:rPr>
              <a:t>¿Dónde se ve? </a:t>
            </a:r>
            <a:r>
              <a:rPr b="0" i="0" lang="es" sz="1300" u="none" cap="none" strike="noStrike">
                <a:solidFill>
                  <a:srgbClr val="171717"/>
                </a:solidFill>
                <a:latin typeface="Plus Jakarta Sans"/>
                <a:ea typeface="Plus Jakarta Sans"/>
                <a:cs typeface="Plus Jakarta Sans"/>
                <a:sym typeface="Plus Jakarta Sans"/>
              </a:rPr>
              <a:t>en Make, la pestaña History; en n8n, la pestaña Executions. Las herramientas ya lo guardan solas.</a:t>
            </a:r>
            <a:endParaRPr/>
          </a:p>
          <a:p>
            <a:pPr indent="0" lvl="0" marL="0" marR="0" rtl="0" algn="l">
              <a:lnSpc>
                <a:spcPct val="110000"/>
              </a:lnSpc>
              <a:spcBef>
                <a:spcPts val="300"/>
              </a:spcBef>
              <a:spcAft>
                <a:spcPts val="0"/>
              </a:spcAft>
              <a:buClr>
                <a:srgbClr val="000000"/>
              </a:buClr>
              <a:buSzPts val="1300"/>
              <a:buFont typeface="Arial"/>
              <a:buNone/>
            </a:pPr>
            <a:r>
              <a:rPr b="1" i="0" lang="es" sz="1300" u="none" cap="none" strike="noStrike">
                <a:solidFill>
                  <a:srgbClr val="171717"/>
                </a:solidFill>
                <a:latin typeface="Plus Jakarta Sans"/>
                <a:ea typeface="Plus Jakarta Sans"/>
                <a:cs typeface="Plus Jakarta Sans"/>
                <a:sym typeface="Plus Jakarta Sans"/>
              </a:rPr>
              <a:t>Buena práctica: </a:t>
            </a:r>
            <a:r>
              <a:rPr b="0" i="0" lang="es" sz="1300" u="none" cap="none" strike="noStrike">
                <a:solidFill>
                  <a:srgbClr val="171717"/>
                </a:solidFill>
                <a:latin typeface="Plus Jakarta Sans"/>
                <a:ea typeface="Plus Jakarta Sans"/>
                <a:cs typeface="Plus Jakarta Sans"/>
                <a:sym typeface="Plus Jakarta Sans"/>
              </a:rPr>
              <a:t>para errores críticos, mandá el detalle del fallo a un canal de Slack o una fila de Sheets.</a:t>
            </a:r>
            <a:endParaRPr/>
          </a:p>
        </p:txBody>
      </p:sp>
      <p:sp>
        <p:nvSpPr>
          <p:cNvPr id="288" name="Google Shape;288;p26"/>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s" sz="3000" u="none" cap="none" strike="noStrike">
                <a:solidFill>
                  <a:srgbClr val="FF632B"/>
                </a:solidFill>
                <a:latin typeface="Plus Jakarta Sans ExtraBold"/>
                <a:ea typeface="Plus Jakarta Sans ExtraBold"/>
                <a:cs typeface="Plus Jakarta Sans ExtraBold"/>
                <a:sym typeface="Plus Jakarta Sans ExtraBold"/>
              </a:rPr>
              <a:t>Minimización y trazabilidad</a:t>
            </a:r>
            <a:endParaRPr b="0" i="0" sz="3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89" name="Google Shape;289;p26"/>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latin typeface="Plus Jakarta Sans"/>
                <a:ea typeface="Plus Jakarta Sans"/>
                <a:cs typeface="Plus Jakarta Sans"/>
                <a:sym typeface="Plus Jakarta Sans"/>
              </a:rPr>
              <a:t>Manejo responsable de datos</a:t>
            </a:r>
            <a:endParaRPr b="0" i="0" sz="22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7"/>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0000"/>
              </a:lnSpc>
              <a:spcBef>
                <a:spcPts val="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GDPR: </a:t>
            </a:r>
            <a:r>
              <a:rPr b="0" i="0" lang="es" sz="1300" u="none" cap="none" strike="noStrike">
                <a:solidFill>
                  <a:srgbClr val="171717"/>
                </a:solidFill>
                <a:latin typeface="Plus Jakarta Sans"/>
                <a:ea typeface="Plus Jakarta Sans"/>
                <a:cs typeface="Plus Jakarta Sans"/>
                <a:sym typeface="Plus Jakarta Sans"/>
              </a:rPr>
              <a:t>exige consentimiento explícito. No podés sumar a alguien a tu lista solo porque te escribió; debe aceptar.</a:t>
            </a:r>
            <a:endParaRPr/>
          </a:p>
          <a:p>
            <a:pPr indent="0" lvl="0" marL="0" marR="0" rtl="0" algn="l">
              <a:lnSpc>
                <a:spcPct val="110000"/>
              </a:lnSpc>
              <a:spcBef>
                <a:spcPts val="350"/>
              </a:spcBef>
              <a:spcAft>
                <a:spcPts val="0"/>
              </a:spcAft>
              <a:buClr>
                <a:srgbClr val="000000"/>
              </a:buClr>
              <a:buSzPts val="1300"/>
              <a:buFont typeface="Arial"/>
              <a:buNone/>
            </a:pPr>
            <a:r>
              <a:rPr b="1" i="0" lang="es" sz="1300" u="none" cap="none" strike="noStrike">
                <a:solidFill>
                  <a:srgbClr val="171717"/>
                </a:solidFill>
                <a:latin typeface="Plus Jakarta Sans"/>
                <a:ea typeface="Plus Jakarta Sans"/>
                <a:cs typeface="Plus Jakarta Sans"/>
                <a:sym typeface="Plus Jakarta Sans"/>
              </a:rPr>
              <a:t>IA Act (2026): </a:t>
            </a:r>
            <a:r>
              <a:rPr b="0" i="0" lang="es" sz="1300" u="none" cap="none" strike="noStrike">
                <a:solidFill>
                  <a:srgbClr val="171717"/>
                </a:solidFill>
                <a:latin typeface="Plus Jakarta Sans"/>
                <a:ea typeface="Plus Jakarta Sans"/>
                <a:cs typeface="Plus Jakarta Sans"/>
                <a:sym typeface="Plus Jakarta Sans"/>
              </a:rPr>
              <a:t>clasifica los sistemas de IA por nivel de riesgo:</a:t>
            </a:r>
            <a:endParaRPr/>
          </a:p>
          <a:p>
            <a:pPr indent="-228600" lvl="0" marL="228600" marR="0" rtl="0" algn="l">
              <a:lnSpc>
                <a:spcPct val="110000"/>
              </a:lnSpc>
              <a:spcBef>
                <a:spcPts val="1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Inaceptable: </a:t>
            </a:r>
            <a:r>
              <a:rPr b="0" i="0" lang="es" sz="1300" u="none" cap="none" strike="noStrike">
                <a:solidFill>
                  <a:srgbClr val="171717"/>
                </a:solidFill>
                <a:latin typeface="Plus Jakarta Sans"/>
                <a:ea typeface="Plus Jakarta Sans"/>
                <a:cs typeface="Plus Jakarta Sans"/>
                <a:sym typeface="Plus Jakarta Sans"/>
              </a:rPr>
              <a:t>prohibido (manipula el comportamiento humano).</a:t>
            </a:r>
            <a:endParaRPr/>
          </a:p>
          <a:p>
            <a:pPr indent="-228600" lvl="0" marL="228600" marR="0" rtl="0" algn="l">
              <a:lnSpc>
                <a:spcPct val="110000"/>
              </a:lnSpc>
              <a:spcBef>
                <a:spcPts val="1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Alto riesgo: </a:t>
            </a:r>
            <a:r>
              <a:rPr b="0" i="0" lang="es" sz="1300" u="none" cap="none" strike="noStrike">
                <a:solidFill>
                  <a:srgbClr val="171717"/>
                </a:solidFill>
                <a:latin typeface="Plus Jakarta Sans"/>
                <a:ea typeface="Plus Jakarta Sans"/>
                <a:cs typeface="Plus Jakarta Sans"/>
                <a:sym typeface="Plus Jakarta Sans"/>
              </a:rPr>
              <a:t>regulado (salud, RRHH, educación): auditoría y transparencia.</a:t>
            </a:r>
            <a:endParaRPr/>
          </a:p>
          <a:p>
            <a:pPr indent="-228600" lvl="0" marL="228600" marR="0" rtl="0" algn="l">
              <a:lnSpc>
                <a:spcPct val="110000"/>
              </a:lnSpc>
              <a:spcBef>
                <a:spcPts val="1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Riesgo bajo: </a:t>
            </a:r>
            <a:r>
              <a:rPr b="0" i="0" lang="es" sz="1300" u="none" cap="none" strike="noStrike">
                <a:solidFill>
                  <a:srgbClr val="171717"/>
                </a:solidFill>
                <a:latin typeface="Plus Jakarta Sans"/>
                <a:ea typeface="Plus Jakarta Sans"/>
                <a:cs typeface="Plus Jakarta Sans"/>
                <a:sym typeface="Plus Jakarta Sans"/>
              </a:rPr>
              <a:t>la mayoría del marketing: basta avisar que se interactúa con una IA.</a:t>
            </a:r>
            <a:endParaRPr/>
          </a:p>
        </p:txBody>
      </p:sp>
      <p:sp>
        <p:nvSpPr>
          <p:cNvPr id="295" name="Google Shape;295;p27"/>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s" sz="2800" u="none" cap="none" strike="noStrike">
                <a:solidFill>
                  <a:srgbClr val="FF632B"/>
                </a:solidFill>
                <a:latin typeface="Plus Jakarta Sans ExtraBold"/>
                <a:ea typeface="Plus Jakarta Sans ExtraBold"/>
                <a:cs typeface="Plus Jakarta Sans ExtraBold"/>
                <a:sym typeface="Plus Jakarta Sans ExtraBold"/>
              </a:rPr>
              <a:t>Marco legal: GDPR e IA Act</a:t>
            </a:r>
            <a:endParaRPr b="0" i="0" sz="28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96" name="Google Shape;296;p27"/>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latin typeface="Plus Jakarta Sans"/>
                <a:ea typeface="Plus Jakarta Sans"/>
                <a:cs typeface="Plus Jakarta Sans"/>
                <a:sym typeface="Plus Jakarta Sans"/>
              </a:rPr>
              <a:t>Las reglas del juego 2026</a:t>
            </a:r>
            <a:endParaRPr b="0" i="0" sz="22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8"/>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F632B"/>
                </a:solidFill>
                <a:latin typeface="Plus Jakarta Sans ExtraBold"/>
                <a:ea typeface="Plus Jakarta Sans ExtraBold"/>
                <a:cs typeface="Plus Jakarta Sans ExtraBold"/>
                <a:sym typeface="Plus Jakarta Sans ExtraBold"/>
              </a:rPr>
              <a:t>Mitos</a:t>
            </a:r>
            <a:r>
              <a:rPr b="0" i="0" lang="es" sz="2400" u="none" cap="none" strike="noStrike">
                <a:solidFill>
                  <a:srgbClr val="260700"/>
                </a:solidFill>
                <a:latin typeface="Plus Jakarta Sans"/>
                <a:ea typeface="Plus Jakarta Sans"/>
                <a:cs typeface="Plus Jakarta Sans"/>
                <a:sym typeface="Plus Jakarta Sans"/>
              </a:rPr>
              <a:t> que conviene desarmar</a:t>
            </a:r>
            <a:endParaRPr b="0" i="0" sz="2400" u="none" cap="none" strike="noStrike">
              <a:solidFill>
                <a:srgbClr val="260700"/>
              </a:solidFill>
              <a:latin typeface="Plus Jakarta Sans"/>
              <a:ea typeface="Plus Jakarta Sans"/>
              <a:cs typeface="Plus Jakarta Sans"/>
              <a:sym typeface="Plus Jakarta Sans"/>
            </a:endParaRPr>
          </a:p>
        </p:txBody>
      </p:sp>
      <p:sp>
        <p:nvSpPr>
          <p:cNvPr id="302" name="Google Shape;302;p28"/>
          <p:cNvSpPr/>
          <p:nvPr/>
        </p:nvSpPr>
        <p:spPr>
          <a:xfrm>
            <a:off x="667475"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"Es 100% autónoma"</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Falso. La IA necesita revisión: un cambio en el modelo puede romper tu prompt.</a:t>
            </a:r>
            <a:endParaRPr/>
          </a:p>
        </p:txBody>
      </p:sp>
      <p:sp>
        <p:nvSpPr>
          <p:cNvPr id="303" name="Google Shape;303;p28"/>
          <p:cNvSpPr/>
          <p:nvPr/>
        </p:nvSpPr>
        <p:spPr>
          <a:xfrm>
            <a:off x="4766370"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"Más datos = más lista"</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Error. Más datos = más riesgo de filtración. Calidad sobre cantidad.</a:t>
            </a:r>
            <a:endParaRPr/>
          </a:p>
        </p:txBody>
      </p:sp>
      <p:sp>
        <p:nvSpPr>
          <p:cNvPr id="304" name="Google Shape;304;p28"/>
          <p:cNvSpPr/>
          <p:nvPr/>
        </p:nvSpPr>
        <p:spPr>
          <a:xfrm>
            <a:off x="667475" y="3866726"/>
            <a:ext cx="8041200" cy="840300"/>
          </a:xfrm>
          <a:prstGeom prst="roundRect">
            <a:avLst>
              <a:gd fmla="val 30840"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"La ética es solo para grandes empresas"</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Falso. Un freelance que maneja mal 10 datos arruina su reputación. La confianza es ventaja competitiva.</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9"/>
          <p:cNvSpPr/>
          <p:nvPr/>
        </p:nvSpPr>
        <p:spPr>
          <a:xfrm>
            <a:off x="0" y="0"/>
            <a:ext cx="9144000" cy="1950900"/>
          </a:xfrm>
          <a:prstGeom prst="rect">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29"/>
          <p:cNvSpPr txBox="1"/>
          <p:nvPr/>
        </p:nvSpPr>
        <p:spPr>
          <a:xfrm>
            <a:off x="600250" y="656475"/>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Momentos de la Clase:</a:t>
            </a:r>
            <a:endParaRPr b="0" i="0" sz="5000" u="none" cap="none" strike="noStrike">
              <a:solidFill>
                <a:srgbClr val="F8F2E8"/>
              </a:solidFill>
              <a:latin typeface="Plus Jakarta Sans"/>
              <a:ea typeface="Plus Jakarta Sans"/>
              <a:cs typeface="Plus Jakarta Sans"/>
              <a:sym typeface="Plus Jakarta Sans"/>
            </a:endParaRPr>
          </a:p>
        </p:txBody>
      </p:sp>
      <p:sp>
        <p:nvSpPr>
          <p:cNvPr id="311" name="Google Shape;311;p29"/>
          <p:cNvSpPr txBox="1"/>
          <p:nvPr/>
        </p:nvSpPr>
        <p:spPr>
          <a:xfrm>
            <a:off x="730900" y="2015944"/>
            <a:ext cx="8220900" cy="2936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Actividad colaborativa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Para pensar</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260700"/>
                </a:solidFill>
                <a:latin typeface="Plus Jakarta Sans ExtraBold"/>
                <a:ea typeface="Plus Jakarta Sans ExtraBold"/>
                <a:cs typeface="Plus Jakarta Sans ExtraBold"/>
                <a:sym typeface="Plus Jakarta Sans ExtraBold"/>
              </a:rPr>
              <a:t>Para recordar</a:t>
            </a:r>
            <a:endParaRPr b="0" i="0" sz="50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Coder Tips</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Material ampliado</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Cuestionario de tarea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#FindTheBug</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312" name="Google Shape;312;p29"/>
          <p:cNvSpPr txBox="1"/>
          <p:nvPr/>
        </p:nvSpPr>
        <p:spPr>
          <a:xfrm>
            <a:off x="6363575" y="2994750"/>
            <a:ext cx="2191200" cy="1756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Tu Checklist de Integridad para cada automatización: ¿es necesario este dato? ¿hay un humano que pueda frenarla? ¿puedo explicar por qué decidió lo que decidió? Si las tres dan sí, vas bien.</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0"/>
          <p:cNvSpPr txBox="1"/>
          <p:nvPr/>
        </p:nvSpPr>
        <p:spPr>
          <a:xfrm>
            <a:off x="739075" y="2481425"/>
            <a:ext cx="64629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Objetivo: </a:t>
            </a:r>
            <a:r>
              <a:rPr b="0" i="0" lang="es" sz="1150" u="none" cap="none" strike="noStrike">
                <a:solidFill>
                  <a:srgbClr val="171717"/>
                </a:solidFill>
                <a:latin typeface="Plus Jakarta Sans"/>
                <a:ea typeface="Plus Jakarta Sans"/>
                <a:cs typeface="Plus Jakarta Sans"/>
                <a:sym typeface="Plus Jakarta Sans"/>
              </a:rPr>
              <a:t>hacer tu flujo seguro y ético.</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Manos a la obra:</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Aplicá minimización (¿qué datos necesitás de verdad?) y marcá el "botón de parada" (revisión humana).</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Escribí un párrafo sobre cómo cumplís GDPR / IA Act.</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Resultado: </a:t>
            </a:r>
            <a:r>
              <a:rPr b="0" i="0" lang="es" sz="1150" u="none" cap="none" strike="noStrike">
                <a:solidFill>
                  <a:srgbClr val="171717"/>
                </a:solidFill>
                <a:latin typeface="Plus Jakarta Sans"/>
                <a:ea typeface="Plus Jakarta Sans"/>
                <a:cs typeface="Plus Jakarta Sans"/>
                <a:sym typeface="Plus Jakarta Sans"/>
              </a:rPr>
              <a:t>tu diagrama + la justificación de privacidad. ¡Pre-Entrega lista!</a:t>
            </a:r>
            <a:endParaRPr/>
          </a:p>
        </p:txBody>
      </p:sp>
      <p:sp>
        <p:nvSpPr>
          <p:cNvPr id="318" name="Google Shape;318;p30"/>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171717"/>
                </a:solidFill>
                <a:latin typeface="Plus Jakarta Sans ExtraBold"/>
                <a:ea typeface="Plus Jakarta Sans ExtraBold"/>
                <a:cs typeface="Plus Jakarta Sans ExtraBold"/>
                <a:sym typeface="Plus Jakarta Sans ExtraBold"/>
              </a:rPr>
              <a:t>Práctica · Paso 3</a:t>
            </a:r>
            <a:endParaRPr b="0" i="0" sz="32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319" name="Google Shape;319;p30"/>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highlight>
                  <a:srgbClr val="FDAB2E"/>
                </a:highlight>
                <a:latin typeface="Plus Jakarta Sans"/>
                <a:ea typeface="Plus Jakarta Sans"/>
                <a:cs typeface="Plus Jakarta Sans"/>
                <a:sym typeface="Plus Jakarta Sans"/>
              </a:rPr>
              <a:t>Sumá la gobernanza</a:t>
            </a:r>
            <a:endParaRPr b="0" i="0" sz="22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1"/>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DAB2E"/>
                </a:solidFill>
                <a:latin typeface="Plus Jakarta Sans ExtraBold"/>
                <a:ea typeface="Plus Jakarta Sans ExtraBold"/>
                <a:cs typeface="Plus Jakarta Sans ExtraBold"/>
                <a:sym typeface="Plus Jakarta Sans ExtraBold"/>
              </a:rPr>
              <a:t>PE</a:t>
            </a:r>
            <a:endParaRPr b="0" i="0" sz="13000" u="none" cap="none" strike="noStrike">
              <a:solidFill>
                <a:srgbClr val="FDAB2E"/>
              </a:solidFill>
              <a:latin typeface="Plus Jakarta Sans ExtraBold"/>
              <a:ea typeface="Plus Jakarta Sans ExtraBold"/>
              <a:cs typeface="Plus Jakarta Sans ExtraBold"/>
              <a:sym typeface="Plus Jakarta Sans ExtraBold"/>
            </a:endParaRPr>
          </a:p>
        </p:txBody>
      </p:sp>
      <p:sp>
        <p:nvSpPr>
          <p:cNvPr id="325" name="Google Shape;325;p31"/>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400"/>
              <a:buFont typeface="Arial"/>
              <a:buNone/>
            </a:pPr>
            <a:r>
              <a:rPr b="0" i="0" lang="es" sz="4400" u="none" cap="none" strike="noStrike">
                <a:solidFill>
                  <a:srgbClr val="F8F2E8"/>
                </a:solidFill>
                <a:latin typeface="Plus Jakarta Sans ExtraBold"/>
                <a:ea typeface="Plus Jakarta Sans ExtraBold"/>
                <a:cs typeface="Plus Jakarta Sans ExtraBold"/>
                <a:sym typeface="Plus Jakarta Sans ExtraBold"/>
              </a:rPr>
              <a:t>Pre-Entrega 1</a:t>
            </a:r>
            <a:endParaRPr b="0" i="0" sz="44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2"/>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a:ea typeface="Plus Jakarta Sans"/>
                <a:cs typeface="Plus Jakarta Sans"/>
                <a:sym typeface="Plus Jakarta Sans"/>
              </a:rPr>
              <a:t>Los 3 pasos de práctica se integran en un único entregable: el diagrama de arquitectura lógica de un proceso real.</a:t>
            </a:r>
            <a:endParaRPr/>
          </a:p>
          <a:p>
            <a:pPr indent="-228600" lvl="0" marL="228600" marR="0" rtl="0" algn="l">
              <a:lnSpc>
                <a:spcPct val="110000"/>
              </a:lnSpc>
              <a:spcBef>
                <a:spcPts val="30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Paso 1 → </a:t>
            </a:r>
            <a:r>
              <a:rPr b="0" i="0" lang="es" sz="1300" u="none" cap="none" strike="noStrike">
                <a:solidFill>
                  <a:srgbClr val="171717"/>
                </a:solidFill>
                <a:latin typeface="Plus Jakarta Sans"/>
                <a:ea typeface="Plus Jakarta Sans"/>
                <a:cs typeface="Plus Jakarta Sans"/>
                <a:sym typeface="Plus Jakarta Sans"/>
              </a:rPr>
              <a:t>el proceso que elegiste.</a:t>
            </a:r>
            <a:endParaRPr/>
          </a:p>
          <a:p>
            <a:pPr indent="-228600" lvl="0" marL="228600" marR="0" rtl="0" algn="l">
              <a:lnSpc>
                <a:spcPct val="110000"/>
              </a:lnSpc>
              <a:spcBef>
                <a:spcPts val="1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Paso 2 → </a:t>
            </a:r>
            <a:r>
              <a:rPr b="0" i="0" lang="es" sz="1300" u="none" cap="none" strike="noStrike">
                <a:solidFill>
                  <a:srgbClr val="171717"/>
                </a:solidFill>
                <a:latin typeface="Plus Jakarta Sans"/>
                <a:ea typeface="Plus Jakarta Sans"/>
                <a:cs typeface="Plus Jakarta Sans"/>
                <a:sym typeface="Plus Jakarta Sans"/>
              </a:rPr>
              <a:t>el diagrama con óvalo, rectángulo y rombo.</a:t>
            </a:r>
            <a:endParaRPr/>
          </a:p>
          <a:p>
            <a:pPr indent="-228600" lvl="0" marL="228600" marR="0" rtl="0" algn="l">
              <a:lnSpc>
                <a:spcPct val="110000"/>
              </a:lnSpc>
              <a:spcBef>
                <a:spcPts val="1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Paso 3 → </a:t>
            </a:r>
            <a:r>
              <a:rPr b="0" i="0" lang="es" sz="1300" u="none" cap="none" strike="noStrike">
                <a:solidFill>
                  <a:srgbClr val="171717"/>
                </a:solidFill>
                <a:latin typeface="Plus Jakarta Sans"/>
                <a:ea typeface="Plus Jakarta Sans"/>
                <a:cs typeface="Plus Jakarta Sans"/>
                <a:sym typeface="Plus Jakarta Sans"/>
              </a:rPr>
              <a:t>la capa de gobernanza (privacidad y revisión humana).</a:t>
            </a:r>
            <a:endParaRPr/>
          </a:p>
          <a:p>
            <a:pPr indent="0" lvl="0" marL="0" marR="0" rtl="0" algn="l">
              <a:lnSpc>
                <a:spcPct val="110000"/>
              </a:lnSpc>
              <a:spcBef>
                <a:spcPts val="350"/>
              </a:spcBef>
              <a:spcAft>
                <a:spcPts val="0"/>
              </a:spcAft>
              <a:buClr>
                <a:srgbClr val="000000"/>
              </a:buClr>
              <a:buSzPts val="1300"/>
              <a:buFont typeface="Arial"/>
              <a:buNone/>
            </a:pPr>
            <a:r>
              <a:rPr b="1" i="0" lang="es" sz="1300" u="none" cap="none" strike="noStrike">
                <a:solidFill>
                  <a:srgbClr val="171717"/>
                </a:solidFill>
                <a:latin typeface="Plus Jakarta Sans"/>
                <a:ea typeface="Plus Jakarta Sans"/>
                <a:cs typeface="Plus Jakarta Sans"/>
                <a:sym typeface="Plus Jakarta Sans"/>
              </a:rPr>
              <a:t>Objetivo de aprendizaje: </a:t>
            </a:r>
            <a:r>
              <a:rPr b="0" i="0" lang="es" sz="1300" u="none" cap="none" strike="noStrike">
                <a:solidFill>
                  <a:srgbClr val="171717"/>
                </a:solidFill>
                <a:latin typeface="Plus Jakarta Sans"/>
                <a:ea typeface="Plus Jakarta Sans"/>
                <a:cs typeface="Plus Jakarta Sans"/>
                <a:sym typeface="Plus Jakarta Sans"/>
              </a:rPr>
              <a:t>diseñar arquitecturas lógicas que conecten una entrada de datos con un motor de IA, garantizando trazabilidad segura y ética.</a:t>
            </a:r>
            <a:endParaRPr/>
          </a:p>
        </p:txBody>
      </p:sp>
      <p:sp>
        <p:nvSpPr>
          <p:cNvPr id="331" name="Google Shape;331;p32"/>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¿De qué se trata?</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32" name="Google Shape;332;p32"/>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rgbClr val="171717"/>
                </a:solidFill>
                <a:latin typeface="Plus Jakarta Sans"/>
                <a:ea typeface="Plus Jakarta Sans"/>
                <a:cs typeface="Plus Jakarta Sans"/>
                <a:sym typeface="Plus Jakarta Sans"/>
              </a:rPr>
              <a:t>Pre-Entrega 1</a:t>
            </a:r>
            <a:endParaRPr b="0" i="0" sz="25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3"/>
          <p:cNvSpPr txBox="1"/>
          <p:nvPr/>
        </p:nvSpPr>
        <p:spPr>
          <a:xfrm>
            <a:off x="1219775" y="2125700"/>
            <a:ext cx="43101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250"/>
              <a:buFont typeface="Arial"/>
              <a:buNone/>
            </a:pPr>
            <a:r>
              <a:rPr b="1" i="0" lang="es" sz="1250" u="none" cap="none" strike="noStrike">
                <a:solidFill>
                  <a:srgbClr val="FF632B"/>
                </a:solidFill>
                <a:latin typeface="Plus Jakarta Sans"/>
                <a:ea typeface="Plus Jakarta Sans"/>
                <a:cs typeface="Plus Jakarta Sans"/>
                <a:sym typeface="Plus Jakarta Sans"/>
              </a:rPr>
              <a:t>⏱️ Duración estimada: ~2 horas</a:t>
            </a:r>
            <a:endParaRPr/>
          </a:p>
          <a:p>
            <a:pPr indent="0" lvl="0" marL="0" marR="0" rtl="0" algn="l">
              <a:lnSpc>
                <a:spcPct val="110000"/>
              </a:lnSpc>
              <a:spcBef>
                <a:spcPts val="150"/>
              </a:spcBef>
              <a:spcAft>
                <a:spcPts val="0"/>
              </a:spcAft>
              <a:buClr>
                <a:srgbClr val="000000"/>
              </a:buClr>
              <a:buSzPts val="1250"/>
              <a:buFont typeface="Arial"/>
              <a:buNone/>
            </a:pPr>
            <a:r>
              <a:rPr b="1" i="0" lang="es" sz="1250" u="none" cap="none" strike="noStrike">
                <a:solidFill>
                  <a:srgbClr val="FF632B"/>
                </a:solidFill>
                <a:latin typeface="Plus Jakarta Sans"/>
                <a:ea typeface="Plus Jakarta Sans"/>
                <a:cs typeface="Plus Jakarta Sans"/>
                <a:sym typeface="Plus Jakarta Sans"/>
              </a:rPr>
              <a:t>📄 Entrega: diagrama (.drawio / Miro / Lucidchart) o PDF</a:t>
            </a:r>
            <a:endParaRPr/>
          </a:p>
          <a:p>
            <a:pPr indent="0" lvl="0" marL="0" marR="0" rtl="0" algn="l">
              <a:lnSpc>
                <a:spcPct val="110000"/>
              </a:lnSpc>
              <a:spcBef>
                <a:spcPts val="45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Diseñá el diagrama lógico de un proceso que conecte una entrada de datos externa (Trigger) con un motor de IA, mostrando la trazabilidad de la información de forma segura y ética.</a:t>
            </a:r>
            <a:endParaRPr/>
          </a:p>
        </p:txBody>
      </p:sp>
      <p:sp>
        <p:nvSpPr>
          <p:cNvPr id="338" name="Google Shape;338;p33"/>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171717"/>
                </a:solidFill>
                <a:latin typeface="Plus Jakarta Sans ExtraBold"/>
                <a:ea typeface="Plus Jakarta Sans ExtraBold"/>
                <a:cs typeface="Plus Jakarta Sans ExtraBold"/>
                <a:sym typeface="Plus Jakarta Sans ExtraBold"/>
              </a:rPr>
              <a:t>Tu misión</a:t>
            </a:r>
            <a:endParaRPr b="0" i="0" sz="40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339" name="Google Shape;339;p33"/>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highlight>
                  <a:srgbClr val="FDAB2E"/>
                </a:highlight>
                <a:latin typeface="Plus Jakarta Sans"/>
                <a:ea typeface="Plus Jakarta Sans"/>
                <a:cs typeface="Plus Jakarta Sans"/>
                <a:sym typeface="Plus Jakarta Sans"/>
              </a:rPr>
              <a:t>El entregable final</a:t>
            </a:r>
            <a:endParaRPr b="0" i="0" sz="22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34"/>
          <p:cNvSpPr txBox="1"/>
          <p:nvPr/>
        </p:nvSpPr>
        <p:spPr>
          <a:xfrm>
            <a:off x="2832560" y="0"/>
            <a:ext cx="6462900" cy="138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9600"/>
              <a:buFont typeface="Arial"/>
              <a:buNone/>
            </a:pPr>
            <a:r>
              <a:rPr b="0" i="0" lang="es" sz="9600" u="none" cap="none" strike="noStrike">
                <a:solidFill>
                  <a:srgbClr val="FF632B"/>
                </a:solidFill>
                <a:latin typeface="Plus Jakarta Sans ExtraBold"/>
                <a:ea typeface="Plus Jakarta Sans ExtraBold"/>
                <a:cs typeface="Plus Jakarta Sans ExtraBold"/>
                <a:sym typeface="Plus Jakarta Sans ExtraBold"/>
              </a:rPr>
              <a:t>Pasos</a:t>
            </a:r>
            <a:endParaRPr b="0" i="0" sz="9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45" name="Google Shape;345;p34"/>
          <p:cNvSpPr txBox="1"/>
          <p:nvPr/>
        </p:nvSpPr>
        <p:spPr>
          <a:xfrm>
            <a:off x="649500" y="2512850"/>
            <a:ext cx="6462900" cy="22695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Elegí un proceso cotidiano de tu negocio (responder consultas, registrar presupuestos).</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Usá una herramienta de diagramado: papel y lápiz, Draw.io, Canva o Lucidchart.</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Dibujá la estructura con los símbolos correctos: óvalo (Inicio/Trigger), rectángulo (Acción) y rombo (Decisión Sí/No).</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Etiquetá de forma explícita el Trigger, los Inputs y el Output final.</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Sumá un párrafo explicando las medidas de gobernanza que aplicaste (minimización, revisión humana, GDPR/IA Act).</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5"/>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300"/>
              <a:buFont typeface="Arial"/>
              <a:buNone/>
            </a:pPr>
            <a:r>
              <a:rPr b="1" i="0" lang="es" sz="1300" u="none" cap="none" strike="noStrike">
                <a:solidFill>
                  <a:srgbClr val="171717"/>
                </a:solidFill>
                <a:latin typeface="Plus Jakarta Sans"/>
                <a:ea typeface="Plus Jakarta Sans"/>
                <a:cs typeface="Plus Jakarta Sans"/>
                <a:sym typeface="Plus Jakarta Sans"/>
              </a:rPr>
              <a:t>Desglose del tiempo:</a:t>
            </a:r>
            <a:endParaRPr/>
          </a:p>
          <a:p>
            <a:pPr indent="-228600" lvl="0" marL="228600" marR="0" rtl="0" algn="l">
              <a:lnSpc>
                <a:spcPct val="110000"/>
              </a:lnSpc>
              <a:spcBef>
                <a:spcPts val="150"/>
              </a:spcBef>
              <a:spcAft>
                <a:spcPts val="0"/>
              </a:spcAft>
              <a:buClr>
                <a:srgbClr val="FF632B"/>
              </a:buClr>
              <a:buSzPts val="1300"/>
              <a:buFont typeface="Plus Jakarta Sans"/>
              <a:buChar char="•"/>
            </a:pPr>
            <a:r>
              <a:rPr b="0" i="0" lang="es" sz="1300" u="none" cap="none" strike="noStrike">
                <a:solidFill>
                  <a:srgbClr val="171717"/>
                </a:solidFill>
                <a:latin typeface="Plus Jakarta Sans"/>
                <a:ea typeface="Plus Jakarta Sans"/>
                <a:cs typeface="Plus Jakarta Sans"/>
                <a:sym typeface="Plus Jakarta Sans"/>
              </a:rPr>
              <a:t>Elegir y describir el proceso — 20 min.</a:t>
            </a:r>
            <a:endParaRPr/>
          </a:p>
          <a:p>
            <a:pPr indent="-228600" lvl="0" marL="228600" marR="0" rtl="0" algn="l">
              <a:lnSpc>
                <a:spcPct val="110000"/>
              </a:lnSpc>
              <a:spcBef>
                <a:spcPts val="150"/>
              </a:spcBef>
              <a:spcAft>
                <a:spcPts val="0"/>
              </a:spcAft>
              <a:buClr>
                <a:srgbClr val="FF632B"/>
              </a:buClr>
              <a:buSzPts val="1300"/>
              <a:buFont typeface="Plus Jakarta Sans"/>
              <a:buChar char="•"/>
            </a:pPr>
            <a:r>
              <a:rPr b="0" i="0" lang="es" sz="1300" u="none" cap="none" strike="noStrike">
                <a:solidFill>
                  <a:srgbClr val="171717"/>
                </a:solidFill>
                <a:latin typeface="Plus Jakarta Sans"/>
                <a:ea typeface="Plus Jakarta Sans"/>
                <a:cs typeface="Plus Jakarta Sans"/>
                <a:sym typeface="Plus Jakarta Sans"/>
              </a:rPr>
              <a:t>Diagramado (símbolos + etiquetas) — 1 h.</a:t>
            </a:r>
            <a:endParaRPr/>
          </a:p>
          <a:p>
            <a:pPr indent="-228600" lvl="0" marL="228600" marR="0" rtl="0" algn="l">
              <a:lnSpc>
                <a:spcPct val="110000"/>
              </a:lnSpc>
              <a:spcBef>
                <a:spcPts val="150"/>
              </a:spcBef>
              <a:spcAft>
                <a:spcPts val="0"/>
              </a:spcAft>
              <a:buClr>
                <a:srgbClr val="FF632B"/>
              </a:buClr>
              <a:buSzPts val="1300"/>
              <a:buFont typeface="Plus Jakarta Sans"/>
              <a:buChar char="•"/>
            </a:pPr>
            <a:r>
              <a:rPr b="0" i="0" lang="es" sz="1300" u="none" cap="none" strike="noStrike">
                <a:solidFill>
                  <a:srgbClr val="171717"/>
                </a:solidFill>
                <a:latin typeface="Plus Jakarta Sans"/>
                <a:ea typeface="Plus Jakarta Sans"/>
                <a:cs typeface="Plus Jakarta Sans"/>
                <a:sym typeface="Plus Jakarta Sans"/>
              </a:rPr>
              <a:t>Gobernanza + párrafo de privacidad — 40 min.</a:t>
            </a:r>
            <a:endParaRPr/>
          </a:p>
          <a:p>
            <a:pPr indent="0" lvl="0" marL="0" marR="0" rtl="0" algn="l">
              <a:lnSpc>
                <a:spcPct val="110000"/>
              </a:lnSpc>
              <a:spcBef>
                <a:spcPts val="300"/>
              </a:spcBef>
              <a:spcAft>
                <a:spcPts val="0"/>
              </a:spcAft>
              <a:buClr>
                <a:srgbClr val="000000"/>
              </a:buClr>
              <a:buSzPts val="1300"/>
              <a:buFont typeface="Arial"/>
              <a:buNone/>
            </a:pPr>
            <a:r>
              <a:rPr b="1" i="0" lang="es" sz="1300" u="none" cap="none" strike="noStrike">
                <a:solidFill>
                  <a:srgbClr val="FF632B"/>
                </a:solidFill>
                <a:latin typeface="Plus Jakarta Sans"/>
                <a:ea typeface="Plus Jakarta Sans"/>
                <a:cs typeface="Plus Jakarta Sans"/>
                <a:sym typeface="Plus Jakarta Sans"/>
              </a:rPr>
              <a:t>Total ≈ 2 horas.</a:t>
            </a:r>
            <a:endParaRPr/>
          </a:p>
          <a:p>
            <a:pPr indent="0" lvl="0" marL="0" marR="0" rtl="0" algn="l">
              <a:lnSpc>
                <a:spcPct val="110000"/>
              </a:lnSpc>
              <a:spcBef>
                <a:spcPts val="300"/>
              </a:spcBef>
              <a:spcAft>
                <a:spcPts val="0"/>
              </a:spcAft>
              <a:buClr>
                <a:srgbClr val="000000"/>
              </a:buClr>
              <a:buSzPts val="1300"/>
              <a:buFont typeface="Arial"/>
              <a:buNone/>
            </a:pPr>
            <a:r>
              <a:rPr b="1" i="0" lang="es" sz="1300" u="none" cap="none" strike="noStrike">
                <a:solidFill>
                  <a:srgbClr val="171717"/>
                </a:solidFill>
                <a:latin typeface="Plus Jakarta Sans"/>
                <a:ea typeface="Plus Jakarta Sans"/>
                <a:cs typeface="Plus Jakarta Sans"/>
                <a:sym typeface="Plus Jakarta Sans"/>
              </a:rPr>
              <a:t>Formato: </a:t>
            </a:r>
            <a:r>
              <a:rPr b="0" i="0" lang="es" sz="1300" u="none" cap="none" strike="noStrike">
                <a:solidFill>
                  <a:srgbClr val="171717"/>
                </a:solidFill>
                <a:latin typeface="Plus Jakarta Sans"/>
                <a:ea typeface="Plus Jakarta Sans"/>
                <a:cs typeface="Plus Jakarta Sans"/>
                <a:sym typeface="Plus Jakarta Sans"/>
              </a:rPr>
              <a:t>diagrama (.drawio, Miro, Lucidchart) o documento (.pdf) con la imagen legible del flujo y la justificación de privacidad.</a:t>
            </a:r>
            <a:endParaRPr/>
          </a:p>
        </p:txBody>
      </p:sp>
      <p:sp>
        <p:nvSpPr>
          <p:cNvPr id="351" name="Google Shape;351;p35"/>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Tiempo y formato</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52" name="Google Shape;352;p35"/>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latin typeface="Plus Jakarta Sans"/>
                <a:ea typeface="Plus Jakarta Sans"/>
                <a:cs typeface="Plus Jakarta Sans"/>
                <a:sym typeface="Plus Jakarta Sans"/>
              </a:rPr>
              <a:t>Planificá tu entrega</a:t>
            </a:r>
            <a:endParaRPr b="0" i="0" sz="22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36"/>
          <p:cNvSpPr txBox="1"/>
          <p:nvPr/>
        </p:nvSpPr>
        <p:spPr>
          <a:xfrm>
            <a:off x="602400" y="669214"/>
            <a:ext cx="74421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lang="es" sz="4800">
                <a:solidFill>
                  <a:srgbClr val="FF632B"/>
                </a:solidFill>
                <a:latin typeface="Plus Jakarta Sans ExtraBold"/>
                <a:ea typeface="Plus Jakarta Sans ExtraBold"/>
                <a:cs typeface="Plus Jakarta Sans ExtraBold"/>
                <a:sym typeface="Plus Jakarta Sans ExtraBold"/>
              </a:rPr>
              <a:t>¿</a:t>
            </a:r>
            <a:r>
              <a:rPr b="0" i="0" lang="es" sz="4800" u="none" cap="none" strike="noStrike">
                <a:solidFill>
                  <a:srgbClr val="FF632B"/>
                </a:solidFill>
                <a:latin typeface="Plus Jakarta Sans ExtraBold"/>
                <a:ea typeface="Plus Jakarta Sans ExtraBold"/>
                <a:cs typeface="Plus Jakarta Sans ExtraBold"/>
                <a:sym typeface="Plus Jakarta Sans ExtraBold"/>
              </a:rPr>
              <a:t>Cómo se evalúa?</a:t>
            </a:r>
            <a:r>
              <a:rPr b="0" i="0" lang="es" sz="2400" u="none" cap="none" strike="noStrike">
                <a:solidFill>
                  <a:srgbClr val="260700"/>
                </a:solidFill>
                <a:latin typeface="Plus Jakarta Sans"/>
                <a:ea typeface="Plus Jakarta Sans"/>
                <a:cs typeface="Plus Jakarta Sans"/>
                <a:sym typeface="Plus Jakarta Sans"/>
              </a:rPr>
              <a:t> · 60 pts</a:t>
            </a:r>
            <a:endParaRPr b="0" i="0" sz="2400" u="none" cap="none" strike="noStrike">
              <a:solidFill>
                <a:srgbClr val="260700"/>
              </a:solidFill>
              <a:latin typeface="Plus Jakarta Sans"/>
              <a:ea typeface="Plus Jakarta Sans"/>
              <a:cs typeface="Plus Jakarta Sans"/>
              <a:sym typeface="Plus Jakarta Sans"/>
            </a:endParaRPr>
          </a:p>
        </p:txBody>
      </p:sp>
      <p:sp>
        <p:nvSpPr>
          <p:cNvPr id="358" name="Google Shape;358;p36"/>
          <p:cNvSpPr/>
          <p:nvPr/>
        </p:nvSpPr>
        <p:spPr>
          <a:xfrm>
            <a:off x="667475"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Diseño técnico visual · 40%</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Uso estricto de los 3 símbolos: óvalo, rectángulo y rombo.</a:t>
            </a:r>
            <a:endParaRPr/>
          </a:p>
        </p:txBody>
      </p:sp>
      <p:sp>
        <p:nvSpPr>
          <p:cNvPr id="359" name="Google Shape;359;p36"/>
          <p:cNvSpPr/>
          <p:nvPr/>
        </p:nvSpPr>
        <p:spPr>
          <a:xfrm>
            <a:off x="4766370"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Lógica de integración · 30%</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Conexión coherente entre la entrada de datos y el motor de IA.</a:t>
            </a:r>
            <a:endParaRPr/>
          </a:p>
        </p:txBody>
      </p:sp>
      <p:sp>
        <p:nvSpPr>
          <p:cNvPr id="360" name="Google Shape;360;p36"/>
          <p:cNvSpPr/>
          <p:nvPr/>
        </p:nvSpPr>
        <p:spPr>
          <a:xfrm>
            <a:off x="667475" y="3866726"/>
            <a:ext cx="8041200" cy="840300"/>
          </a:xfrm>
          <a:prstGeom prst="roundRect">
            <a:avLst>
              <a:gd fmla="val 30840"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Cumplimiento y privacidad · 30%</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Rigor de la sección escrita sobre gobernanza (GDPR / IA Act).</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37"/>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a:ea typeface="Plus Jakarta Sans"/>
                <a:cs typeface="Plus Jakarta Sans"/>
                <a:sym typeface="Plus Jakarta Sans"/>
              </a:rPr>
              <a:t>En este módulo dibujaste el mapa lógico. En el Módulo 2 vas a empezar a ensuciarte las manos con las herramientas reales.</a:t>
            </a:r>
            <a:endParaRPr/>
          </a:p>
          <a:p>
            <a:pPr indent="-228600" lvl="0" marL="228600" marR="0" rtl="0" algn="l">
              <a:lnSpc>
                <a:spcPct val="110000"/>
              </a:lnSpc>
              <a:spcBef>
                <a:spcPts val="3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Módulo 2: </a:t>
            </a:r>
            <a:r>
              <a:rPr b="0" i="0" lang="es" sz="1300" u="none" cap="none" strike="noStrike">
                <a:solidFill>
                  <a:srgbClr val="171717"/>
                </a:solidFill>
                <a:latin typeface="Plus Jakarta Sans"/>
                <a:ea typeface="Plus Jakarta Sans"/>
                <a:cs typeface="Plus Jakarta Sans"/>
                <a:sym typeface="Plus Jakarta Sans"/>
              </a:rPr>
              <a:t>el ecosistema No-Code y Low-Code (Make, n8n, Airtable) para construir lo que ya diseñaste.</a:t>
            </a:r>
            <a:endParaRPr/>
          </a:p>
          <a:p>
            <a:pPr indent="-228600" lvl="0" marL="228600" marR="0" rtl="0" algn="l">
              <a:lnSpc>
                <a:spcPct val="110000"/>
              </a:lnSpc>
              <a:spcBef>
                <a:spcPts val="1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Tu diagrama de hoy </a:t>
            </a:r>
            <a:r>
              <a:rPr b="0" i="0" lang="es" sz="1300" u="none" cap="none" strike="noStrike">
                <a:solidFill>
                  <a:srgbClr val="171717"/>
                </a:solidFill>
                <a:latin typeface="Plus Jakarta Sans"/>
                <a:ea typeface="Plus Jakarta Sans"/>
                <a:cs typeface="Plus Jakarta Sans"/>
                <a:sym typeface="Plus Jakarta Sans"/>
              </a:rPr>
              <a:t>es la base: cada flujo que armes después parte de un mapa lógico como el que entregás ahora.</a:t>
            </a:r>
            <a:endParaRPr/>
          </a:p>
          <a:p>
            <a:pPr indent="0" lvl="0" marL="0" marR="0" rtl="0" algn="l">
              <a:lnSpc>
                <a:spcPct val="110000"/>
              </a:lnSpc>
              <a:spcBef>
                <a:spcPts val="400"/>
              </a:spcBef>
              <a:spcAft>
                <a:spcPts val="0"/>
              </a:spcAft>
              <a:buClr>
                <a:srgbClr val="000000"/>
              </a:buClr>
              <a:buSzPts val="1300"/>
              <a:buFont typeface="Arial"/>
              <a:buNone/>
            </a:pPr>
            <a:r>
              <a:rPr b="0" i="1" lang="es" sz="1300" u="none" cap="none" strike="noStrike">
                <a:solidFill>
                  <a:srgbClr val="171717"/>
                </a:solidFill>
                <a:latin typeface="Plus Jakarta Sans"/>
                <a:ea typeface="Plus Jakarta Sans"/>
                <a:cs typeface="Plus Jakarta Sans"/>
                <a:sym typeface="Plus Jakarta Sans"/>
              </a:rPr>
              <a:t>Un arquitecto no pregunta "¿cómo lo automatizo?", pregunta "¿por qué este proceso debe existir?".</a:t>
            </a:r>
            <a:endParaRPr/>
          </a:p>
        </p:txBody>
      </p:sp>
      <p:sp>
        <p:nvSpPr>
          <p:cNvPr id="366" name="Google Shape;366;p37"/>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s" sz="2800" u="none" cap="none" strike="noStrike">
                <a:solidFill>
                  <a:srgbClr val="FF632B"/>
                </a:solidFill>
                <a:latin typeface="Plus Jakarta Sans ExtraBold"/>
                <a:ea typeface="Plus Jakarta Sans ExtraBold"/>
                <a:cs typeface="Plus Jakarta Sans ExtraBold"/>
                <a:sym typeface="Plus Jakarta Sans ExtraBold"/>
              </a:rPr>
              <a:t>¿Cómo continúa el proyecto?</a:t>
            </a:r>
            <a:endParaRPr b="0" i="0" sz="28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67" name="Google Shape;367;p37"/>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latin typeface="Plus Jakarta Sans"/>
                <a:ea typeface="Plus Jakarta Sans"/>
                <a:cs typeface="Plus Jakarta Sans"/>
                <a:sym typeface="Plus Jakarta Sans"/>
              </a:rPr>
              <a:t>Puente al Módulo 2</a:t>
            </a:r>
            <a:endParaRPr b="0" i="0" sz="22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38"/>
          <p:cNvSpPr txBox="1"/>
          <p:nvPr/>
        </p:nvSpPr>
        <p:spPr>
          <a:xfrm>
            <a:off x="739075" y="3510226"/>
            <a:ext cx="7815600" cy="274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rPr b="0" i="0" lang="es" sz="1200" u="none" cap="none" strike="noStrike">
                <a:solidFill>
                  <a:srgbClr val="F8F2E8"/>
                </a:solidFill>
                <a:latin typeface="Plus Jakarta Sans Light"/>
                <a:ea typeface="Plus Jakarta Sans Light"/>
                <a:cs typeface="Plus Jakarta Sans Light"/>
                <a:sym typeface="Plus Jakarta Sans Light"/>
              </a:rPr>
              <a:t>Es el momento de soltar todas las dudas del módulo. No hay preguntas chicas en los fundamentos.</a:t>
            </a:r>
            <a:endParaRPr b="0" i="0" sz="1200" u="none" cap="none" strike="noStrike">
              <a:solidFill>
                <a:srgbClr val="F8F2E8"/>
              </a:solidFill>
              <a:latin typeface="Plus Jakarta Sans Light"/>
              <a:ea typeface="Plus Jakarta Sans Light"/>
              <a:cs typeface="Plus Jakarta Sans Light"/>
              <a:sym typeface="Plus Jakarta Sans Light"/>
            </a:endParaRPr>
          </a:p>
        </p:txBody>
      </p:sp>
      <p:sp>
        <p:nvSpPr>
          <p:cNvPr id="373" name="Google Shape;373;p38"/>
          <p:cNvSpPr txBox="1"/>
          <p:nvPr/>
        </p:nvSpPr>
        <p:spPr>
          <a:xfrm>
            <a:off x="1415425" y="2371426"/>
            <a:ext cx="6462900" cy="1138800"/>
          </a:xfrm>
          <a:prstGeom prst="rect">
            <a:avLst/>
          </a:prstGeom>
          <a:noFill/>
          <a:ln>
            <a:noFill/>
          </a:ln>
        </p:spPr>
        <p:txBody>
          <a:bodyPr anchorCtr="0" anchor="t" bIns="91425" lIns="91425" spcFirstLastPara="1" rIns="91425" wrap="square" tIns="91425">
            <a:noAutofit/>
          </a:bodyPr>
          <a:lstStyle/>
          <a:p>
            <a:pPr indent="0" lvl="0" marL="0" marR="0" rtl="0" algn="ctr">
              <a:lnSpc>
                <a:spcPct val="70000"/>
              </a:lnSpc>
              <a:spcBef>
                <a:spcPts val="0"/>
              </a:spcBef>
              <a:spcAft>
                <a:spcPts val="0"/>
              </a:spcAft>
              <a:buClr>
                <a:srgbClr val="000000"/>
              </a:buClr>
              <a:buSzPts val="4800"/>
              <a:buFont typeface="Arial"/>
              <a:buNone/>
            </a:pPr>
            <a:r>
              <a:rPr b="0" i="0" lang="es" sz="4800" u="none" cap="none" strike="noStrike">
                <a:solidFill>
                  <a:srgbClr val="F8F2E8"/>
                </a:solidFill>
                <a:latin typeface="Plus Jakarta Sans ExtraBold"/>
                <a:ea typeface="Plus Jakarta Sans ExtraBold"/>
                <a:cs typeface="Plus Jakarta Sans ExtraBold"/>
                <a:sym typeface="Plus Jakarta Sans ExtraBold"/>
              </a:rPr>
              <a:t>¿Preguntas?</a:t>
            </a:r>
            <a:endParaRPr b="0" i="0" sz="48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39"/>
          <p:cNvSpPr txBox="1"/>
          <p:nvPr/>
        </p:nvSpPr>
        <p:spPr>
          <a:xfrm>
            <a:off x="571500" y="2175175"/>
            <a:ext cx="6462900" cy="15000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0" i="0" lang="es" sz="4000" u="none" cap="none" strike="noStrike">
                <a:solidFill>
                  <a:srgbClr val="260700"/>
                </a:solidFill>
                <a:latin typeface="Plus Jakarta Sans ExtraBold"/>
                <a:ea typeface="Plus Jakarta Sans ExtraBold"/>
                <a:cs typeface="Plus Jakarta Sans ExtraBold"/>
                <a:sym typeface="Plus Jakarta Sans ExtraBold"/>
              </a:rPr>
              <a:t>¡Cerramos el Módulo 1,</a:t>
            </a:r>
            <a:endParaRPr b="0" i="0" sz="40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l">
              <a:lnSpc>
                <a:spcPct val="70000"/>
              </a:lnSpc>
              <a:spcBef>
                <a:spcPts val="0"/>
              </a:spcBef>
              <a:spcAft>
                <a:spcPts val="0"/>
              </a:spcAft>
              <a:buClr>
                <a:srgbClr val="000000"/>
              </a:buClr>
              <a:buSzPts val="4000"/>
              <a:buFont typeface="Arial"/>
              <a:buNone/>
            </a:pPr>
            <a:r>
              <a:rPr b="0" i="0" lang="es" sz="4000" u="none" cap="none" strike="noStrike">
                <a:solidFill>
                  <a:srgbClr val="260700"/>
                </a:solidFill>
                <a:latin typeface="Plus Jakarta Sans ExtraBold"/>
                <a:ea typeface="Plus Jakarta Sans ExtraBold"/>
                <a:cs typeface="Plus Jakarta Sans ExtraBold"/>
                <a:sym typeface="Plus Jakarta Sans ExtraBold"/>
              </a:rPr>
              <a:t>arquitectos!</a:t>
            </a:r>
            <a:endParaRPr b="0" i="0" sz="4000" u="none" cap="none" strike="noStrike">
              <a:solidFill>
                <a:srgbClr val="260700"/>
              </a:solidFill>
              <a:latin typeface="Plus Jakarta Sans ExtraBold"/>
              <a:ea typeface="Plus Jakarta Sans ExtraBold"/>
              <a:cs typeface="Plus Jakarta Sans ExtraBold"/>
              <a:sym typeface="Plus Jakarta Sans ExtraBold"/>
            </a:endParaRPr>
          </a:p>
        </p:txBody>
      </p:sp>
      <p:sp>
        <p:nvSpPr>
          <p:cNvPr id="379" name="Google Shape;379;p39"/>
          <p:cNvSpPr txBox="1"/>
          <p:nvPr/>
        </p:nvSpPr>
        <p:spPr>
          <a:xfrm>
            <a:off x="571500" y="3792150"/>
            <a:ext cx="8001000" cy="906300"/>
          </a:xfrm>
          <a:prstGeom prst="rect">
            <a:avLst/>
          </a:prstGeom>
          <a:noFill/>
          <a:ln>
            <a:noFill/>
          </a:ln>
        </p:spPr>
        <p:txBody>
          <a:bodyPr anchorCtr="0" anchor="b" bIns="0" lIns="0" spcFirstLastPara="1" rIns="0" wrap="square" tIns="0">
            <a:noAutofit/>
          </a:bodyPr>
          <a:lstStyle/>
          <a:p>
            <a:pPr indent="0" lvl="0" marL="0" marR="0" rtl="0" algn="just">
              <a:lnSpc>
                <a:spcPct val="100000"/>
              </a:lnSpc>
              <a:spcBef>
                <a:spcPts val="0"/>
              </a:spcBef>
              <a:spcAft>
                <a:spcPts val="0"/>
              </a:spcAft>
              <a:buClr>
                <a:srgbClr val="000000"/>
              </a:buClr>
              <a:buSzPts val="600"/>
              <a:buFont typeface="Arial"/>
              <a:buNone/>
            </a:pPr>
            <a:r>
              <a:rPr b="0" i="0" lang="es" sz="600" u="none" cap="none" strike="noStrike">
                <a:solidFill>
                  <a:srgbClr val="260700"/>
                </a:solidFill>
                <a:latin typeface="Plus Jakarta Sans"/>
                <a:ea typeface="Plus Jakarta Sans"/>
                <a:cs typeface="Plus Jakarta Sans"/>
                <a:sym typeface="Plus Jakarta Sans"/>
              </a:rPr>
              <a:t>We have provided this presentation to you for informational and illustrative purposes on a confidential basis. We reserve the right to use of non-disclosure agreements (NDAs) to protect our privacy and intellectual property rights. The information contained in this document is highly sensitive, confidential and/or proprietary and is intended for the express use of the intended recipient, as denoted on the title page of this document. The recipient of this presentation agrees by its receipt not to reproduce, duplicate, or reveal, in whole or in part, information presented herein without written permission of Coderhouse. No representation or warranty, expressed or implied, is made as to the accuracy or completeness of the information contained in this presentation. Any quote contained herein is for estimation purposes. Estimates are based on current, known requirements. Actual estimates may change once project elements are finalized or negotiated. This document may contain confidential pricing information. All pricing is subject to change. </a:t>
            </a:r>
            <a:endParaRPr b="0" i="0" sz="600" u="none" cap="none" strike="noStrike">
              <a:solidFill>
                <a:srgbClr val="260700"/>
              </a:solidFill>
              <a:latin typeface="Plus Jakarta Sans"/>
              <a:ea typeface="Plus Jakarta Sans"/>
              <a:cs typeface="Plus Jakarta Sans"/>
              <a:sym typeface="Plus Jakarta Sans"/>
            </a:endParaRPr>
          </a:p>
          <a:p>
            <a:pPr indent="0" lvl="0" marL="0" marR="0" rtl="0" algn="just">
              <a:lnSpc>
                <a:spcPct val="100000"/>
              </a:lnSpc>
              <a:spcBef>
                <a:spcPts val="0"/>
              </a:spcBef>
              <a:spcAft>
                <a:spcPts val="0"/>
              </a:spcAft>
              <a:buClr>
                <a:srgbClr val="000000"/>
              </a:buClr>
              <a:buSzPts val="600"/>
              <a:buFont typeface="Arial"/>
              <a:buNone/>
            </a:pPr>
            <a:r>
              <a:t/>
            </a:r>
            <a:endParaRPr b="0" i="0" sz="600" u="none" cap="none" strike="noStrike">
              <a:solidFill>
                <a:srgbClr val="260700"/>
              </a:solidFill>
              <a:latin typeface="Plus Jakarta Sans"/>
              <a:ea typeface="Plus Jakarta Sans"/>
              <a:cs typeface="Plus Jakarta Sans"/>
              <a:sym typeface="Plus Jakarta Sans"/>
            </a:endParaRPr>
          </a:p>
          <a:p>
            <a:pPr indent="0" lvl="0" marL="0" marR="0" rtl="0" algn="just">
              <a:lnSpc>
                <a:spcPct val="100000"/>
              </a:lnSpc>
              <a:spcBef>
                <a:spcPts val="0"/>
              </a:spcBef>
              <a:spcAft>
                <a:spcPts val="0"/>
              </a:spcAft>
              <a:buClr>
                <a:srgbClr val="000000"/>
              </a:buClr>
              <a:buSzPts val="600"/>
              <a:buFont typeface="Arial"/>
              <a:buNone/>
            </a:pPr>
            <a:r>
              <a:rPr b="0" i="0" lang="es" sz="600" u="none" cap="none" strike="noStrike">
                <a:solidFill>
                  <a:srgbClr val="260700"/>
                </a:solidFill>
                <a:latin typeface="Plus Jakarta Sans"/>
                <a:ea typeface="Plus Jakarta Sans"/>
                <a:cs typeface="Plus Jakarta Sans"/>
                <a:sym typeface="Plus Jakarta Sans"/>
              </a:rPr>
              <a:t>Copyright © 2026 Coderhouse. All rights reserved. Coderhouse and the Coderhouse logo are trademarks or registered trademarks of Coderhouse. in the U.S. and/or other countries. All other trademarks are the property of their respective owners.</a:t>
            </a:r>
            <a:endParaRPr b="0" i="0" sz="600" u="none" cap="none" strike="noStrike">
              <a:solidFill>
                <a:srgbClr val="260700"/>
              </a:solidFill>
              <a:latin typeface="Plus Jakarta Sans"/>
              <a:ea typeface="Plus Jakarta Sans"/>
              <a:cs typeface="Plus Jakarta Sans"/>
              <a:sym typeface="Plus Jakarta Sans"/>
            </a:endParaRPr>
          </a:p>
        </p:txBody>
      </p:sp>
      <p:pic>
        <p:nvPicPr>
          <p:cNvPr id="380" name="Google Shape;380;p39" title="Group 1321320857.png"/>
          <p:cNvPicPr preferRelativeResize="0"/>
          <p:nvPr/>
        </p:nvPicPr>
        <p:blipFill rotWithShape="1">
          <a:blip r:embed="rId3">
            <a:alphaModFix/>
          </a:blip>
          <a:srcRect b="0" l="0" r="0" t="0"/>
          <a:stretch/>
        </p:blipFill>
        <p:spPr>
          <a:xfrm>
            <a:off x="7259075" y="488075"/>
            <a:ext cx="1221826" cy="356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