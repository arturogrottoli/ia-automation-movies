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Plus Jakarta Sans ExtraBold"/>
      <p:bold r:id="rId42"/>
      <p:boldItalic r:id="rId43"/>
    </p:embeddedFont>
    <p:embeddedFont>
      <p:font typeface="Plus Jakarta Sans"/>
      <p:regular r:id="rId44"/>
      <p:bold r:id="rId45"/>
      <p:italic r:id="rId46"/>
      <p:boldItalic r:id="rId47"/>
    </p:embeddedFont>
    <p:embeddedFont>
      <p:font typeface="Plus Jakarta Sans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2" roundtripDataSignature="AMtx7miSgd/9QlnUZ2O/7Yrgi3+vw2Ml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PlusJakartaSansExtraBold-bold.fntdata"/><Relationship Id="rId41" Type="http://schemas.openxmlformats.org/officeDocument/2006/relationships/slide" Target="slides/slide36.xml"/><Relationship Id="rId44" Type="http://schemas.openxmlformats.org/officeDocument/2006/relationships/font" Target="fonts/PlusJakartaSans-regular.fntdata"/><Relationship Id="rId43" Type="http://schemas.openxmlformats.org/officeDocument/2006/relationships/font" Target="fonts/PlusJakartaSansExtraBold-boldItalic.fntdata"/><Relationship Id="rId46" Type="http://schemas.openxmlformats.org/officeDocument/2006/relationships/font" Target="fonts/PlusJakartaSans-italic.fntdata"/><Relationship Id="rId45" Type="http://schemas.openxmlformats.org/officeDocument/2006/relationships/font" Target="fonts/PlusJakartaSa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Light-regular.fntdata"/><Relationship Id="rId47" Type="http://schemas.openxmlformats.org/officeDocument/2006/relationships/font" Target="fonts/PlusJakartaSans-boldItalic.fntdata"/><Relationship Id="rId49" Type="http://schemas.openxmlformats.org/officeDocument/2006/relationships/font" Target="fonts/PlusJakartaSansLight-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Light-boldItalic.fntdata"/><Relationship Id="rId50" Type="http://schemas.openxmlformats.org/officeDocument/2006/relationships/font" Target="fonts/PlusJakartaSansLight-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1cee8252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f1cee8252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39"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5"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5"/>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5"/>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5"/>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5"/>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46"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4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5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5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57"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57"/>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57"/>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57"/>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57"/>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58"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58"/>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58"/>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58"/>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58"/>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5:</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Ecosistema de Comunicación: Gmail, Slack y WhatsApp API</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Conectar Gmail por API para leer y responder con contexto.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Usar IA para redactar respuestas personalizadas y seguras (con borradores).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Automatizar WhatsApp con la API: drips, plantillas y chatbots.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Orquestar Gmail, Slack y WhatsApp como un solo sistema.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Elegir el canal correcto según la urgencia con una matriz de decisión.</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Gmail con API: respuestas contextuales.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WhatsApp Business API: drips y chatbots.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Orquestación multicanal: Email → Slack → WhatsApp.</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5: tu pipeline multicanal.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1cee8252e_0_0"/>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g3f1cee8252e_0_0"/>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8" name="Google Shape;118;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Gmail con API</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nvSpPr>
        <p:spPr>
          <a:xfrm>
            <a:off x="739075" y="2481425"/>
            <a:ext cx="5988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Vos entrás a Gmail por la puerta principal (web o app). La API es una </a:t>
            </a:r>
            <a:r>
              <a:rPr b="1" i="0" lang="es" sz="1150" u="none" cap="none" strike="noStrike">
                <a:solidFill>
                  <a:srgbClr val="171717"/>
                </a:solidFill>
                <a:latin typeface="Plus Jakarta Sans"/>
                <a:ea typeface="Plus Jakarta Sans"/>
                <a:cs typeface="Plus Jakarta Sans"/>
                <a:sym typeface="Plus Jakarta Sans"/>
              </a:rPr>
              <a:t>puerta trasera ultra-segura</a:t>
            </a:r>
            <a:r>
              <a:rPr b="0" i="0" lang="es" sz="1150" u="none" cap="none" strike="noStrike">
                <a:solidFill>
                  <a:srgbClr val="171717"/>
                </a:solidFill>
                <a:latin typeface="Plus Jakarta Sans"/>
                <a:ea typeface="Plus Jakarta Sans"/>
                <a:cs typeface="Plus Jakarta Sans"/>
                <a:sym typeface="Plus Jakarta Sans"/>
              </a:rPr>
              <a:t> para que Make o n8n actúen en tu nombre.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vs. los filtros normales: </a:t>
            </a:r>
            <a:r>
              <a:rPr b="0" i="0" lang="es" sz="1150" u="none" cap="none" strike="noStrike">
                <a:solidFill>
                  <a:srgbClr val="171717"/>
                </a:solidFill>
                <a:latin typeface="Plus Jakarta Sans"/>
                <a:ea typeface="Plus Jakarta Sans"/>
                <a:cs typeface="Plus Jakarta Sans"/>
                <a:sym typeface="Plus Jakarta Sans"/>
              </a:rPr>
              <a:t>los filtros solo etiquetan por palabra clave. La API te da 3 superpoderes.</a:t>
            </a:r>
            <a:endParaRPr/>
          </a:p>
          <a:p>
            <a:pPr indent="0" lvl="0" marL="0" marR="0" rtl="0" algn="l">
              <a:lnSpc>
                <a:spcPct val="110000"/>
              </a:lnSpc>
              <a:spcBef>
                <a:spcPts val="3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Con ella automatizás de verdad: leer, analizar y responder.</a:t>
            </a:r>
            <a:endParaRPr/>
          </a:p>
        </p:txBody>
      </p:sp>
      <p:sp>
        <p:nvSpPr>
          <p:cNvPr id="124" name="Google Shape;124;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La Gmail API</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puerta trasera segura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Análisis de sentimiento: </a:t>
            </a:r>
            <a:r>
              <a:rPr b="0" i="0" lang="es" sz="1300" u="none" cap="none" strike="noStrike">
                <a:solidFill>
                  <a:srgbClr val="171717"/>
                </a:solidFill>
                <a:latin typeface="Plus Jakarta Sans"/>
                <a:ea typeface="Plus Jakarta Sans"/>
                <a:cs typeface="Plus Jakarta Sans"/>
                <a:sym typeface="Plus Jakarta Sans"/>
              </a:rPr>
              <a:t>detectar si el cliente está enojado, feliz o confundido.</a:t>
            </a:r>
            <a:endParaRPr/>
          </a:p>
          <a:p>
            <a:pPr indent="-228600" lvl="0" marL="228600" marR="0" rtl="0" algn="l">
              <a:lnSpc>
                <a:spcPct val="110000"/>
              </a:lnSpc>
              <a:spcBef>
                <a:spcPts val="2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Memoria contextual: </a:t>
            </a:r>
            <a:r>
              <a:rPr b="0" i="0" lang="es" sz="1300" u="none" cap="none" strike="noStrike">
                <a:solidFill>
                  <a:srgbClr val="171717"/>
                </a:solidFill>
                <a:latin typeface="Plus Jakarta Sans"/>
                <a:ea typeface="Plus Jakarta Sans"/>
                <a:cs typeface="Plus Jakarta Sans"/>
                <a:sym typeface="Plus Jakarta Sans"/>
              </a:rPr>
              <a:t>extraer info de correos anteriores para que la respuesta tenga sentido histórico.</a:t>
            </a:r>
            <a:endParaRPr/>
          </a:p>
          <a:p>
            <a:pPr indent="-228600" lvl="0" marL="228600" marR="0" rtl="0" algn="l">
              <a:lnSpc>
                <a:spcPct val="110000"/>
              </a:lnSpc>
              <a:spcBef>
                <a:spcPts val="2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Lógica multicapa: </a:t>
            </a:r>
            <a:r>
              <a:rPr b="0" i="0" lang="es" sz="1300" u="none" cap="none" strike="noStrike">
                <a:solidFill>
                  <a:srgbClr val="171717"/>
                </a:solidFill>
                <a:latin typeface="Plus Jakarta Sans"/>
                <a:ea typeface="Plus Jakarta Sans"/>
                <a:cs typeface="Plus Jakarta Sans"/>
                <a:sym typeface="Plus Jakarta Sans"/>
              </a:rPr>
              <a:t>si es queja → Slack; si es venta → Airtable + responder con un link de agenda.</a:t>
            </a:r>
            <a:endParaRPr/>
          </a:p>
          <a:p>
            <a:pPr indent="0" lvl="0" marL="0" marR="0" rtl="0" algn="l">
              <a:lnSpc>
                <a:spcPct val="110000"/>
              </a:lnSpc>
              <a:spcBef>
                <a:spcPts val="35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Los filtros nativos solo etiquetan por palabra clave. La API entiende.</a:t>
            </a:r>
            <a:endParaRPr/>
          </a:p>
        </p:txBody>
      </p:sp>
      <p:sp>
        <p:nvSpPr>
          <p:cNvPr id="131" name="Google Shape;131;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3 superpoderes de la API</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32" name="Google Shape;132;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Lo que los filtros no pueden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txBox="1"/>
          <p:nvPr/>
        </p:nvSpPr>
        <p:spPr>
          <a:xfrm>
            <a:off x="739075" y="2481425"/>
            <a:ext cx="6680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Sin contexto (robot): </a:t>
            </a:r>
            <a:r>
              <a:rPr b="0" i="0" lang="es" sz="1150" u="none" cap="none" strike="noStrike">
                <a:solidFill>
                  <a:srgbClr val="171717"/>
                </a:solidFill>
                <a:latin typeface="Plus Jakarta Sans"/>
                <a:ea typeface="Plus Jakarta Sans"/>
                <a:cs typeface="Plus Jakarta Sans"/>
                <a:sym typeface="Plus Jakarta Sans"/>
              </a:rPr>
              <a:t>"¿cuándo terminas?" → "Gracias, respondemos en 24 hs". El cliente se siente ignorado.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Con contexto (asistente): </a:t>
            </a:r>
            <a:r>
              <a:rPr b="0" i="0" lang="es" sz="1150" u="none" cap="none" strike="noStrike">
                <a:solidFill>
                  <a:srgbClr val="171717"/>
                </a:solidFill>
                <a:latin typeface="Plus Jakarta Sans"/>
                <a:ea typeface="Plus Jakarta Sans"/>
                <a:cs typeface="Plus Jakarta Sans"/>
                <a:sym typeface="Plus Jakarta Sans"/>
              </a:rPr>
              <a:t>la IA lee el hilo, ve que prometiste el logo el viernes y responde "sigo con tu logo, estará mañana a primera hora".</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El contexto = el hilo del correo + el tono + tus datos guardados (Airtable).</a:t>
            </a:r>
            <a:endParaRPr/>
          </a:p>
        </p:txBody>
      </p:sp>
      <p:sp>
        <p:nvSpPr>
          <p:cNvPr id="138" name="Google Shape;138;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Robot vs. asistente</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39" name="Google Shape;139;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contexto es el rey</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nvSpPr>
        <p:spPr>
          <a:xfrm>
            <a:off x="739075" y="2481425"/>
            <a:ext cx="7372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Trigger: </a:t>
            </a:r>
            <a:r>
              <a:rPr b="0" i="0" lang="es" sz="1100" u="none" cap="none" strike="noStrike">
                <a:solidFill>
                  <a:srgbClr val="171717"/>
                </a:solidFill>
                <a:latin typeface="Plus Jakarta Sans"/>
                <a:ea typeface="Plus Jakarta Sans"/>
                <a:cs typeface="Plus Jakarta Sans"/>
                <a:sym typeface="Plus Jakarta Sans"/>
              </a:rPr>
              <a:t>Gmail "Watch Emails" detecta un correo nuevo.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Input: </a:t>
            </a:r>
            <a:r>
              <a:rPr b="0" i="0" lang="es" sz="1100" u="none" cap="none" strike="noStrike">
                <a:solidFill>
                  <a:srgbClr val="171717"/>
                </a:solidFill>
                <a:latin typeface="Plus Jakarta Sans"/>
                <a:ea typeface="Plus Jakarta Sans"/>
                <a:cs typeface="Plus Jakarta Sans"/>
                <a:sym typeface="Plus Jakarta Sans"/>
              </a:rPr>
              <a:t>Make toma el cuerpo del mensaje y el remitente.</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Cerebro: </a:t>
            </a:r>
            <a:r>
              <a:rPr b="0" i="0" lang="es" sz="1100" u="none" cap="none" strike="noStrike">
                <a:solidFill>
                  <a:srgbClr val="171717"/>
                </a:solidFill>
                <a:latin typeface="Plus Jakarta Sans"/>
                <a:ea typeface="Plus Jakarta Sans"/>
                <a:cs typeface="Plus Jakarta Sans"/>
                <a:sym typeface="Plus Jakarta Sans"/>
              </a:rPr>
              <a:t>OpenAI redacta la respuesta con un System Prompt ("Sos un asistente ejecutivo...").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Acción: </a:t>
            </a:r>
            <a:r>
              <a:rPr b="0" i="0" lang="es" sz="1100" u="none" cap="none" strike="noStrike">
                <a:solidFill>
                  <a:srgbClr val="171717"/>
                </a:solidFill>
                <a:latin typeface="Plus Jakarta Sans"/>
                <a:ea typeface="Plus Jakarta Sans"/>
                <a:cs typeface="Plus Jakarta Sans"/>
                <a:sym typeface="Plus Jakarta Sans"/>
              </a:rPr>
              <a:t>Gmail "Create a Draft" guarda el borrador. Empezá por borradores: revisás y enviás vos.</a:t>
            </a:r>
            <a:endParaRPr/>
          </a:p>
        </p:txBody>
      </p:sp>
      <p:sp>
        <p:nvSpPr>
          <p:cNvPr id="145" name="Google Shape;145;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El flujo en Make</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46" name="Google Shape;146;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171717"/>
                </a:solidFill>
                <a:highlight>
                  <a:srgbClr val="FDAB2E"/>
                </a:highlight>
                <a:latin typeface="Plus Jakarta Sans"/>
                <a:ea typeface="Plus Jakarta Sans"/>
                <a:cs typeface="Plus Jakarta Sans"/>
                <a:sym typeface="Plus Jakarta Sans"/>
              </a:rPr>
              <a:t>Watch Emails → IA → Borrador</a:t>
            </a:r>
            <a:endParaRPr b="0" i="0" sz="17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1"/>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al automatizar Gmail</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152" name="Google Shape;152;p11"/>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El loop infinito</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Tu respuesta dispara su autoreply y se responden sin fin. Filtrá: ignorá "noreply" y "Autoreply".</a:t>
            </a:r>
            <a:endParaRPr sz="1600"/>
          </a:p>
        </p:txBody>
      </p:sp>
      <p:sp>
        <p:nvSpPr>
          <p:cNvPr id="153" name="Google Shape;153;p11"/>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Prompt vago</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"Respondé este correo" → la IA inventa datos. Dale una sección de "hechos innegables" (precios, horarios).</a:t>
            </a:r>
            <a:endParaRPr sz="1600"/>
          </a:p>
        </p:txBody>
      </p:sp>
      <p:sp>
        <p:nvSpPr>
          <p:cNvPr id="154" name="Google Shape;154;p11"/>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100"/>
              <a:buFont typeface="Arial"/>
              <a:buNone/>
            </a:pPr>
            <a:r>
              <a:rPr b="1" i="0" lang="es" sz="1300" u="none" cap="none" strike="noStrike">
                <a:solidFill>
                  <a:srgbClr val="171717"/>
                </a:solidFill>
                <a:latin typeface="Plus Jakarta Sans"/>
                <a:ea typeface="Plus Jakarta Sans"/>
                <a:cs typeface="Plus Jakarta Sans"/>
                <a:sym typeface="Plus Jakarta Sans"/>
              </a:rPr>
              <a:t>No manejar threads</a:t>
            </a:r>
            <a:endParaRPr sz="1600"/>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Cada respuesta crea un correo nuevo. Mapeá el Thread ID para mantener la conversación.</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61" name="Google Shape;161;p12"/>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62" name="Google Shape;162;p12"/>
          <p:cNvSpPr txBox="1"/>
          <p:nvPr/>
        </p:nvSpPr>
        <p:spPr>
          <a:xfrm>
            <a:off x="6104000" y="2990975"/>
            <a:ext cx="2717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Pensá en los correos repetitivos que respondés cada semana (tarifas, disponibilidad, estados de pedido). Esos son los primeros candidatos para borradores automáticos con contexto.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nvSpPr>
        <p:spPr>
          <a:xfrm>
            <a:off x="739075" y="2481425"/>
            <a:ext cx="6949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que tu pipeline lea correos y los clasifique.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Gmail "Watch Emails" como Trigger (filtrá la bandeja de entrada).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Conectá OpenAI: que devuelva un resumen + una prioridad (1 a 5).</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correo leído y clasificado por IA. Ladrillo 1 de la Pre-Entrega 5.</a:t>
            </a:r>
            <a:endParaRPr/>
          </a:p>
        </p:txBody>
      </p:sp>
      <p:sp>
        <p:nvSpPr>
          <p:cNvPr id="168" name="Google Shape;168;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69" name="Google Shape;169;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trigger y el cerebro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4"/>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75" name="Google Shape;175;p14"/>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F8F2E8"/>
                </a:solidFill>
                <a:latin typeface="Plus Jakarta Sans ExtraBold"/>
                <a:ea typeface="Plus Jakarta Sans ExtraBold"/>
                <a:cs typeface="Plus Jakarta Sans ExtraBold"/>
                <a:sym typeface="Plus Jakarta Sans ExtraBold"/>
              </a:rPr>
              <a:t>WhatsApp Business API</a:t>
            </a:r>
            <a:endParaRPr b="0" i="0" sz="3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nvSpPr>
        <p:spPr>
          <a:xfrm>
            <a:off x="739075" y="2481425"/>
            <a:ext cx="6843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WhatsApp Business App (del celular) sirve para empezar, pero </a:t>
            </a:r>
            <a:r>
              <a:rPr b="1" i="0" lang="es" sz="1150" u="none" cap="none" strike="noStrike">
                <a:solidFill>
                  <a:srgbClr val="171717"/>
                </a:solidFill>
                <a:latin typeface="Plus Jakarta Sans"/>
                <a:ea typeface="Plus Jakarta Sans"/>
                <a:cs typeface="Plus Jakarta Sans"/>
                <a:sym typeface="Plus Jakarta Sans"/>
              </a:rPr>
              <a:t>no conecta con Make sin riesgo de bloqueo</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API: </a:t>
            </a:r>
            <a:r>
              <a:rPr b="0" i="0" lang="es" sz="1150" u="none" cap="none" strike="noStrike">
                <a:solidFill>
                  <a:srgbClr val="171717"/>
                </a:solidFill>
                <a:latin typeface="Plus Jakarta Sans"/>
                <a:ea typeface="Plus Jakarta Sans"/>
                <a:cs typeface="Plus Jakarta Sans"/>
                <a:sym typeface="Plus Jakarta Sans"/>
              </a:rPr>
              <a:t>la puerta de servicio que abre Meta. Para cruzarla necesitás un BSP (Business Solution Provider).</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Los líderes: </a:t>
            </a:r>
            <a:r>
              <a:rPr b="0" i="0" lang="es" sz="1150" u="none" cap="none" strike="noStrike">
                <a:solidFill>
                  <a:srgbClr val="171717"/>
                </a:solidFill>
                <a:latin typeface="Plus Jakarta Sans"/>
                <a:ea typeface="Plus Jakarta Sans"/>
                <a:cs typeface="Plus Jakarta Sans"/>
                <a:sym typeface="Plus Jakarta Sans"/>
              </a:rPr>
              <a:t>Twilio y Wati.</a:t>
            </a:r>
            <a:endParaRPr/>
          </a:p>
        </p:txBody>
      </p:sp>
      <p:sp>
        <p:nvSpPr>
          <p:cNvPr id="181" name="Google Shape;181;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De la App a la API</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82" name="Google Shape;182;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Por qué dar el salto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Twilio vs. Wati</a:t>
            </a:r>
            <a:endParaRPr b="0" i="0" sz="2400" u="none" cap="none" strike="noStrike">
              <a:solidFill>
                <a:srgbClr val="260700"/>
              </a:solidFill>
              <a:latin typeface="Plus Jakarta Sans"/>
              <a:ea typeface="Plus Jakarta Sans"/>
              <a:cs typeface="Plus Jakarta Sans"/>
              <a:sym typeface="Plus Jakarta Sans"/>
            </a:endParaRPr>
          </a:p>
        </p:txBody>
      </p:sp>
      <p:sp>
        <p:nvSpPr>
          <p:cNvPr id="188" name="Google Shape;188;p16"/>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Wati</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Plataforma todo-en-uno para WhatsApp: bandeja de entrada y chatbots visuales. Simple y rápido.</a:t>
            </a:r>
            <a:endParaRPr/>
          </a:p>
        </p:txBody>
      </p:sp>
      <p:sp>
        <p:nvSpPr>
          <p:cNvPr id="189" name="Google Shape;189;p16"/>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Twilio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Infraestructura: mucho más económico por mensaje, pero "sin cara". Lo conectás a Make vos.</a:t>
            </a:r>
            <a:endParaRPr/>
          </a:p>
        </p:txBody>
      </p:sp>
      <p:sp>
        <p:nvSpPr>
          <p:cNvPr id="190" name="Google Shape;190;p16"/>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¿Cuál elegir?</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Wati = un set de Lego armado. Twilio = piezas sueltas más baratas. Según simplicidad vs. costo.</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nvSpPr>
        <p:spPr>
          <a:xfrm>
            <a:off x="739075" y="2481425"/>
            <a:ext cx="6988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WhatsApp es muy protector: no podés mandar el primer mensaje con texto libre salvo que el cliente te haya escrito en las últimas 24 hs.</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Para iniciar vos (un drip de seguimiento), usás una </a:t>
            </a:r>
            <a:r>
              <a:rPr b="1" i="0" lang="es" sz="1150" u="none" cap="none" strike="noStrike">
                <a:solidFill>
                  <a:srgbClr val="171717"/>
                </a:solidFill>
                <a:latin typeface="Plus Jakarta Sans"/>
                <a:ea typeface="Plus Jakarta Sans"/>
                <a:cs typeface="Plus Jakarta Sans"/>
                <a:sym typeface="Plus Jakarta Sans"/>
              </a:rPr>
              <a:t>Plantilla pre-aprobada</a:t>
            </a:r>
            <a:r>
              <a:rPr b="0" i="0" lang="es" sz="1150" u="none" cap="none" strike="noStrike">
                <a:solidFill>
                  <a:srgbClr val="171717"/>
                </a:solidFill>
                <a:latin typeface="Plus Jakarta Sans"/>
                <a:ea typeface="Plus Jakarta Sans"/>
                <a:cs typeface="Plus Jakarta Sans"/>
                <a:sym typeface="Plus Jakarta Sans"/>
              </a:rPr>
              <a:t> por Meta.</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Mal: </a:t>
            </a:r>
            <a:r>
              <a:rPr b="0" i="0" lang="es" sz="1150" u="none" cap="none" strike="noStrike">
                <a:solidFill>
                  <a:srgbClr val="171717"/>
                </a:solidFill>
                <a:latin typeface="Plus Jakarta Sans"/>
                <a:ea typeface="Plus Jakarta Sans"/>
                <a:cs typeface="Plus Jakarta Sans"/>
                <a:sym typeface="Plus Jakarta Sans"/>
              </a:rPr>
              <a:t>"¿Por qué no compraste?" (rechazada). </a:t>
            </a:r>
            <a:r>
              <a:rPr b="1" i="0" lang="es" sz="1150" u="none" cap="none" strike="noStrike">
                <a:solidFill>
                  <a:srgbClr val="171717"/>
                </a:solidFill>
                <a:latin typeface="Plus Jakarta Sans"/>
                <a:ea typeface="Plus Jakarta Sans"/>
                <a:cs typeface="Plus Jakarta Sans"/>
                <a:sym typeface="Plus Jakarta Sans"/>
              </a:rPr>
              <a:t>Bien: </a:t>
            </a:r>
            <a:r>
              <a:rPr b="0" i="0" lang="es" sz="1150" u="none" cap="none" strike="noStrike">
                <a:solidFill>
                  <a:srgbClr val="171717"/>
                </a:solidFill>
                <a:latin typeface="Plus Jakarta Sans"/>
                <a:ea typeface="Plus Jakarta Sans"/>
                <a:cs typeface="Plus Jakarta Sans"/>
                <a:sym typeface="Plus Jakarta Sans"/>
              </a:rPr>
              <a:t>"Hola {{1}}, gracias por tu interés en {{2}}." (aprobada).</a:t>
            </a:r>
            <a:endParaRPr/>
          </a:p>
        </p:txBody>
      </p:sp>
      <p:sp>
        <p:nvSpPr>
          <p:cNvPr id="196" name="Google Shape;196;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s" sz="2900" u="none" cap="none" strike="noStrike">
                <a:solidFill>
                  <a:srgbClr val="171717"/>
                </a:solidFill>
                <a:latin typeface="Plus Jakarta Sans ExtraBold"/>
                <a:ea typeface="Plus Jakarta Sans ExtraBold"/>
                <a:cs typeface="Plus Jakarta Sans ExtraBold"/>
                <a:sym typeface="Plus Jakarta Sans ExtraBold"/>
              </a:rPr>
              <a:t>La regla de las 24 horas</a:t>
            </a:r>
            <a:endParaRPr b="0" i="0" sz="29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97" name="Google Shape;197;p1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Plantillas pre-aprobadas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Un Drip es una secuencia de mensajes que se entregan solos a lo largo del tiempo. En WhatsApp la apertura es ~90%.</a:t>
            </a:r>
            <a:endParaRPr/>
          </a:p>
          <a:p>
            <a:pPr indent="-228600" lvl="0" marL="228600" marR="0" rtl="0" algn="l">
              <a:lnSpc>
                <a:spcPct val="110000"/>
              </a:lnSpc>
              <a:spcBef>
                <a:spcPts val="2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Día 0: </a:t>
            </a:r>
            <a:r>
              <a:rPr b="0" i="0" lang="es" sz="1300" u="none" cap="none" strike="noStrike">
                <a:solidFill>
                  <a:srgbClr val="171717"/>
                </a:solidFill>
                <a:latin typeface="Plus Jakarta Sans"/>
                <a:ea typeface="Plus Jakarta Sans"/>
                <a:cs typeface="Plus Jakarta Sans"/>
                <a:sym typeface="Plus Jakarta Sans"/>
              </a:rPr>
              <a:t>"¡Gracias por registrarte! Acá tenés el acceso."</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Día 1: </a:t>
            </a:r>
            <a:r>
              <a:rPr b="0" i="0" lang="es" sz="1300" u="none" cap="none" strike="noStrike">
                <a:solidFill>
                  <a:srgbClr val="171717"/>
                </a:solidFill>
                <a:latin typeface="Plus Jakarta Sans"/>
                <a:ea typeface="Plus Jakarta Sans"/>
                <a:cs typeface="Plus Jakarta Sans"/>
                <a:sym typeface="Plus Jakarta Sans"/>
              </a:rPr>
              <a:t>"¿Pudiste ver el material? Cualquier duda, respondé."</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Día 3: </a:t>
            </a:r>
            <a:r>
              <a:rPr b="0" i="0" lang="es" sz="1300" u="none" cap="none" strike="noStrike">
                <a:solidFill>
                  <a:srgbClr val="171717"/>
                </a:solidFill>
                <a:latin typeface="Plus Jakarta Sans"/>
                <a:ea typeface="Plus Jakarta Sans"/>
                <a:cs typeface="Plus Jakarta Sans"/>
                <a:sym typeface="Plus Jakarta Sans"/>
              </a:rPr>
              <a:t>"Tenemos una oferta que vence mañana. ¿Te interesa?"</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La ventaja es la consistencia: a la automatización nunca se le olvida el seguimiento.</a:t>
            </a:r>
            <a:endParaRPr/>
          </a:p>
        </p:txBody>
      </p:sp>
      <p:sp>
        <p:nvSpPr>
          <p:cNvPr id="203" name="Google Shape;203;p1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s" sz="2900" u="none" cap="none" strike="noStrike">
                <a:solidFill>
                  <a:srgbClr val="FF632B"/>
                </a:solidFill>
                <a:latin typeface="Plus Jakarta Sans ExtraBold"/>
                <a:ea typeface="Plus Jakarta Sans ExtraBold"/>
                <a:cs typeface="Plus Jakarta Sans ExtraBold"/>
                <a:sym typeface="Plus Jakarta Sans ExtraBold"/>
              </a:rPr>
              <a:t>Drips: el goteo constante</a:t>
            </a:r>
            <a:endParaRPr b="0" i="0" sz="29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4" name="Google Shape;204;p1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Secuencias automáticas</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9"/>
          <p:cNvSpPr txBox="1"/>
          <p:nvPr/>
        </p:nvSpPr>
        <p:spPr>
          <a:xfrm>
            <a:off x="739075" y="2481425"/>
            <a:ext cx="6699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No todo chatbot necesita IA: muchos casos se resuelven con un árbol de decisiones.</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flujo en Make: </a:t>
            </a:r>
            <a:r>
              <a:rPr b="0" i="0" lang="es" sz="1150" u="none" cap="none" strike="noStrike">
                <a:solidFill>
                  <a:srgbClr val="171717"/>
                </a:solidFill>
                <a:latin typeface="Plus Jakarta Sans"/>
                <a:ea typeface="Plus Jakarta Sans"/>
                <a:cs typeface="Plus Jakarta Sans"/>
                <a:sym typeface="Plus Jakarta Sans"/>
              </a:rPr>
              <a:t>el cliente escribe (Webhook) → un Router analiza el texto.</a:t>
            </a:r>
            <a:endParaRPr/>
          </a:p>
          <a:p>
            <a:pPr indent="-228600" lvl="0" marL="228600" marR="0" rtl="0" algn="l">
              <a:lnSpc>
                <a:spcPct val="110000"/>
              </a:lnSpc>
              <a:spcBef>
                <a:spcPts val="20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Si dice "Precios" → manda la lista. Si dice "Cita" → busca espacios en Calendar.</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Siempre: </a:t>
            </a:r>
            <a:r>
              <a:rPr b="0" i="0" lang="es" sz="1150" u="none" cap="none" strike="noStrike">
                <a:solidFill>
                  <a:srgbClr val="171717"/>
                </a:solidFill>
                <a:latin typeface="Plus Jakarta Sans"/>
                <a:ea typeface="Plus Jakarta Sans"/>
                <a:cs typeface="Plus Jakarta Sans"/>
                <a:sym typeface="Plus Jakarta Sans"/>
              </a:rPr>
              <a:t>ofrecé una salida a "hablar con una persona".</a:t>
            </a:r>
            <a:endParaRPr/>
          </a:p>
        </p:txBody>
      </p:sp>
      <p:sp>
        <p:nvSpPr>
          <p:cNvPr id="210" name="Google Shape;210;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 sz="3400" u="none" cap="none" strike="noStrike">
                <a:solidFill>
                  <a:srgbClr val="171717"/>
                </a:solidFill>
                <a:latin typeface="Plus Jakarta Sans ExtraBold"/>
                <a:ea typeface="Plus Jakarta Sans ExtraBold"/>
                <a:cs typeface="Plus Jakarta Sans ExtraBold"/>
                <a:sym typeface="Plus Jakarta Sans ExtraBold"/>
              </a:rPr>
              <a:t>Chatbots de reglas</a:t>
            </a:r>
            <a:endParaRPr b="0" i="0" sz="34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1" name="Google Shape;211;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Sin IA compleja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0"/>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20"/>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18" name="Google Shape;218;p20"/>
          <p:cNvSpPr txBox="1"/>
          <p:nvPr/>
        </p:nvSpPr>
        <p:spPr>
          <a:xfrm>
            <a:off x="211750" y="205436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19" name="Google Shape;219;p20"/>
          <p:cNvSpPr txBox="1"/>
          <p:nvPr/>
        </p:nvSpPr>
        <p:spPr>
          <a:xfrm>
            <a:off x="6025575" y="2481425"/>
            <a:ext cx="2529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Antes de pagar: Twilio y Wati tienen un "Sandbox", un entorno de prueba gratis sin número verificado. Y la palabra clave del día es Webhook: la URL de Make que hace que el mensaje "salte" de WhatsApp a tu flujo. Probá en el sandbox antes de ir a producción.</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nvSpPr>
        <p:spPr>
          <a:xfrm>
            <a:off x="739075" y="2481425"/>
            <a:ext cx="6815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preparar la escalada por WhatsApp de tu pipeline.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Creá (o elegí) una Plantilla pre-aprobada para iniciar la conversación.</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el filtro de la ventana de 24h: si pasaron, usá plantilla; si no, texto libre.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canal de salida listo. Ladrillo 2.</a:t>
            </a:r>
            <a:endParaRPr/>
          </a:p>
        </p:txBody>
      </p:sp>
      <p:sp>
        <p:nvSpPr>
          <p:cNvPr id="225" name="Google Shape;225;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26" name="Google Shape;226;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salida por WhatsApp</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2"/>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32" name="Google Shape;232;p22"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8" name="Google Shape;238;p2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Orquestación multicanal</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nvSpPr>
        <p:spPr>
          <a:xfrm>
            <a:off x="739075" y="2481425"/>
            <a:ext cx="6728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Multicanalidad: </a:t>
            </a:r>
            <a:r>
              <a:rPr b="0" i="0" lang="es" sz="1150" u="none" cap="none" strike="noStrike">
                <a:solidFill>
                  <a:srgbClr val="171717"/>
                </a:solidFill>
                <a:latin typeface="Plus Jakarta Sans"/>
                <a:ea typeface="Plus Jakarta Sans"/>
                <a:cs typeface="Plus Jakarta Sans"/>
                <a:sym typeface="Plus Jakarta Sans"/>
              </a:rPr>
              <a:t>tenés varios canales sueltos (Email, Slack, WhatsApp). Si suenan todos a la vez, es caos.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Orquestación: </a:t>
            </a:r>
            <a:r>
              <a:rPr b="0" i="0" lang="es" sz="1150" u="none" cap="none" strike="noStrike">
                <a:solidFill>
                  <a:srgbClr val="171717"/>
                </a:solidFill>
                <a:latin typeface="Plus Jakarta Sans"/>
                <a:ea typeface="Plus Jakarta Sans"/>
                <a:cs typeface="Plus Jakarta Sans"/>
                <a:sym typeface="Plus Jakarta Sans"/>
              </a:rPr>
              <a:t>coordinás esos canales con reglas. Un director decide: "entra el violín (Email); si no aplauden, entra la trompeta (WhatsApp)".</a:t>
            </a:r>
            <a:endParaRPr/>
          </a:p>
          <a:p>
            <a:pPr indent="0" lvl="0" marL="0" marR="0" rtl="0" algn="l">
              <a:lnSpc>
                <a:spcPct val="110000"/>
              </a:lnSpc>
              <a:spcBef>
                <a:spcPts val="3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info viaja con el cliente: nunca tiene que repetirse.</a:t>
            </a:r>
            <a:endParaRPr/>
          </a:p>
        </p:txBody>
      </p:sp>
      <p:sp>
        <p:nvSpPr>
          <p:cNvPr id="244" name="Google Shape;244;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¿Qué es orquestar?</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45" name="Google Shape;245;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171717"/>
                </a:solidFill>
                <a:highlight>
                  <a:srgbClr val="FDAB2E"/>
                </a:highlight>
                <a:latin typeface="Plus Jakarta Sans"/>
                <a:ea typeface="Plus Jakarta Sans"/>
                <a:cs typeface="Plus Jakarta Sans"/>
                <a:sym typeface="Plus Jakarta Sans"/>
              </a:rPr>
              <a:t>Más que tener varios canales</a:t>
            </a:r>
            <a:endParaRPr b="0" i="0" sz="17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Los 3 pilares</a:t>
            </a:r>
            <a:endParaRPr b="0" i="0" sz="2400" u="none" cap="none" strike="noStrike">
              <a:solidFill>
                <a:srgbClr val="260700"/>
              </a:solidFill>
              <a:latin typeface="Plus Jakarta Sans"/>
              <a:ea typeface="Plus Jakarta Sans"/>
              <a:cs typeface="Plus Jakarta Sans"/>
              <a:sym typeface="Plus Jakarta Sans"/>
            </a:endParaRPr>
          </a:p>
        </p:txBody>
      </p:sp>
      <p:sp>
        <p:nvSpPr>
          <p:cNvPr id="251" name="Google Shape;251;p25"/>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Centralización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Todo el equipo sabe qué pasa en una sola fuente de verdad (Slack).</a:t>
            </a:r>
            <a:endParaRPr/>
          </a:p>
        </p:txBody>
      </p:sp>
      <p:sp>
        <p:nvSpPr>
          <p:cNvPr id="252" name="Google Shape;252;p25"/>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Automatización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sistema toma decisiones por vos (Make + OpenAI).</a:t>
            </a:r>
            <a:endParaRPr/>
          </a:p>
        </p:txBody>
      </p:sp>
      <p:sp>
        <p:nvSpPr>
          <p:cNvPr id="253" name="Google Shape;253;p25"/>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Contexto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cliente nunca tiene que repetirse: la info viaja con él de canal en canal.</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txBox="1"/>
          <p:nvPr/>
        </p:nvSpPr>
        <p:spPr>
          <a:xfrm>
            <a:off x="739075" y="2481425"/>
            <a:ext cx="67671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Trigger: </a:t>
            </a:r>
            <a:r>
              <a:rPr b="0" i="0" lang="es" sz="1100" u="none" cap="none" strike="noStrike">
                <a:solidFill>
                  <a:srgbClr val="171717"/>
                </a:solidFill>
                <a:latin typeface="Plus Jakarta Sans"/>
                <a:ea typeface="Plus Jakarta Sans"/>
                <a:cs typeface="Plus Jakarta Sans"/>
                <a:sym typeface="Plus Jakarta Sans"/>
              </a:rPr>
              <a:t>Gmail "Watch Emails" detecta el correo.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Cerebro: </a:t>
            </a:r>
            <a:r>
              <a:rPr b="0" i="0" lang="es" sz="1100" u="none" cap="none" strike="noStrike">
                <a:solidFill>
                  <a:srgbClr val="171717"/>
                </a:solidFill>
                <a:latin typeface="Plus Jakarta Sans"/>
                <a:ea typeface="Plus Jakarta Sans"/>
                <a:cs typeface="Plus Jakarta Sans"/>
                <a:sym typeface="Plus Jakarta Sans"/>
              </a:rPr>
              <a:t>OpenAI clasifica y devuelve JSON: resumen + prioridad (1-5).</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Router rama A (siempre): </a:t>
            </a:r>
            <a:r>
              <a:rPr b="0" i="0" lang="es" sz="1100" u="none" cap="none" strike="noStrike">
                <a:solidFill>
                  <a:srgbClr val="171717"/>
                </a:solidFill>
                <a:latin typeface="Plus Jakarta Sans"/>
                <a:ea typeface="Plus Jakarta Sans"/>
                <a:cs typeface="Plus Jakarta Sans"/>
                <a:sym typeface="Plus Jakarta Sans"/>
              </a:rPr>
              <a:t>el resumen va a Slack, el centro de comando del equipo.</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Router rama B (si prioridad = 5): </a:t>
            </a:r>
            <a:r>
              <a:rPr b="0" i="0" lang="es" sz="1100" u="none" cap="none" strike="noStrike">
                <a:solidFill>
                  <a:srgbClr val="171717"/>
                </a:solidFill>
                <a:latin typeface="Plus Jakarta Sans"/>
                <a:ea typeface="Plus Jakarta Sans"/>
                <a:cs typeface="Plus Jakarta Sans"/>
                <a:sym typeface="Plus Jakarta Sans"/>
              </a:rPr>
              <a:t>WhatsApp automático para agendar una llamada ya.</a:t>
            </a:r>
            <a:endParaRPr/>
          </a:p>
        </p:txBody>
      </p:sp>
      <p:sp>
        <p:nvSpPr>
          <p:cNvPr id="259" name="Google Shape;259;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171717"/>
                </a:solidFill>
                <a:latin typeface="Plus Jakarta Sans ExtraBold"/>
                <a:ea typeface="Plus Jakarta Sans ExtraBold"/>
                <a:cs typeface="Plus Jakarta Sans ExtraBold"/>
                <a:sym typeface="Plus Jakarta Sans ExtraBold"/>
              </a:rPr>
              <a:t>Email → Slack → WhatsApp</a:t>
            </a:r>
            <a:endParaRPr b="0" i="0" sz="2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60" name="Google Shape;260;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flujo en Make</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Email</a:t>
            </a:r>
            <a:endParaRPr b="0" i="0" sz="1200" u="none" cap="none" strike="noStrike">
              <a:solidFill>
                <a:srgbClr val="FAFAFA"/>
              </a:solidFill>
              <a:latin typeface="Plus Jakarta Sans"/>
              <a:ea typeface="Plus Jakarta Sans"/>
              <a:cs typeface="Plus Jakarta Sans"/>
              <a:sym typeface="Plus Jakarta Sans"/>
            </a:endParaRPr>
          </a:p>
        </p:txBody>
      </p:sp>
      <p:sp>
        <p:nvSpPr>
          <p:cNvPr id="266" name="Google Shape;266;p27"/>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¿Qué canal uso?</a:t>
            </a:r>
            <a:endParaRPr b="1" i="0" sz="2000" u="none" cap="none" strike="noStrike">
              <a:solidFill>
                <a:srgbClr val="260700"/>
              </a:solidFill>
              <a:latin typeface="Plus Jakarta Sans"/>
              <a:ea typeface="Plus Jakarta Sans"/>
              <a:cs typeface="Plus Jakarta Sans"/>
              <a:sym typeface="Plus Jakarta Sans"/>
            </a:endParaRPr>
          </a:p>
        </p:txBody>
      </p:sp>
      <p:sp>
        <p:nvSpPr>
          <p:cNvPr id="267" name="Google Shape;267;p27"/>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documentación</a:t>
            </a:r>
            <a:endParaRPr b="0" i="0" sz="1200" u="none" cap="none" strike="noStrike">
              <a:solidFill>
                <a:srgbClr val="222224"/>
              </a:solidFill>
              <a:latin typeface="Plus Jakarta Sans"/>
              <a:ea typeface="Plus Jakarta Sans"/>
              <a:cs typeface="Plus Jakarta Sans"/>
              <a:sym typeface="Plus Jakarta Sans"/>
            </a:endParaRPr>
          </a:p>
        </p:txBody>
      </p:sp>
      <p:cxnSp>
        <p:nvCxnSpPr>
          <p:cNvPr id="268" name="Google Shape;268;p27"/>
          <p:cNvCxnSpPr>
            <a:stCxn id="265" idx="2"/>
            <a:endCxn id="267"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269" name="Google Shape;269;p27"/>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Slack</a:t>
            </a:r>
            <a:endParaRPr b="0" i="0" sz="1200" u="none" cap="none" strike="noStrike">
              <a:solidFill>
                <a:srgbClr val="FAFAFA"/>
              </a:solidFill>
              <a:latin typeface="Plus Jakarta Sans"/>
              <a:ea typeface="Plus Jakarta Sans"/>
              <a:cs typeface="Plus Jakarta Sans"/>
              <a:sym typeface="Plus Jakarta Sans"/>
            </a:endParaRPr>
          </a:p>
        </p:txBody>
      </p:sp>
      <p:sp>
        <p:nvSpPr>
          <p:cNvPr id="270" name="Google Shape;270;p27"/>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coordinación interna</a:t>
            </a:r>
            <a:endParaRPr b="0" i="0" sz="1200" u="none" cap="none" strike="noStrike">
              <a:solidFill>
                <a:srgbClr val="222224"/>
              </a:solidFill>
              <a:latin typeface="Plus Jakarta Sans"/>
              <a:ea typeface="Plus Jakarta Sans"/>
              <a:cs typeface="Plus Jakarta Sans"/>
              <a:sym typeface="Plus Jakarta Sans"/>
            </a:endParaRPr>
          </a:p>
        </p:txBody>
      </p:sp>
      <p:cxnSp>
        <p:nvCxnSpPr>
          <p:cNvPr id="271" name="Google Shape;271;p27"/>
          <p:cNvCxnSpPr>
            <a:stCxn id="269" idx="2"/>
            <a:endCxn id="270"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272" name="Google Shape;272;p27"/>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WhatsApp</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73" name="Google Shape;273;p27"/>
          <p:cNvCxnSpPr>
            <a:stCxn id="272" idx="0"/>
            <a:endCxn id="266"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274" name="Google Shape;274;p27"/>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urgencia / cierre</a:t>
            </a:r>
            <a:endParaRPr b="0" i="0" sz="1200" u="none" cap="none" strike="noStrike">
              <a:solidFill>
                <a:srgbClr val="FAFAFA"/>
              </a:solidFill>
              <a:latin typeface="Plus Jakarta Sans"/>
              <a:ea typeface="Plus Jakarta Sans"/>
              <a:cs typeface="Plus Jakarta Sans"/>
              <a:sym typeface="Plus Jakarta Sans"/>
            </a:endParaRPr>
          </a:p>
        </p:txBody>
      </p:sp>
      <p:sp>
        <p:nvSpPr>
          <p:cNvPr id="275" name="Google Shape;275;p27"/>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Filtros</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76" name="Google Shape;276;p27"/>
          <p:cNvCxnSpPr>
            <a:stCxn id="274" idx="3"/>
            <a:endCxn id="266"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277" name="Google Shape;277;p27"/>
          <p:cNvCxnSpPr>
            <a:stCxn id="275" idx="1"/>
            <a:endCxn id="266"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278" name="Google Shape;278;p27"/>
          <p:cNvCxnSpPr>
            <a:stCxn id="269" idx="0"/>
            <a:endCxn id="266"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279" name="Google Shape;279;p27"/>
          <p:cNvCxnSpPr>
            <a:stCxn id="266" idx="3"/>
            <a:endCxn id="265"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280" name="Google Shape;280;p27"/>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deciden el canal</a:t>
            </a:r>
            <a:endParaRPr b="0" i="0" sz="1200" u="none" cap="none" strike="noStrike">
              <a:solidFill>
                <a:srgbClr val="FAFAFA"/>
              </a:solidFill>
              <a:latin typeface="Plus Jakarta Sans"/>
              <a:ea typeface="Plus Jakarta Sans"/>
              <a:cs typeface="Plus Jakarta Sans"/>
              <a:sym typeface="Plus Jakarta Sans"/>
            </a:endParaRPr>
          </a:p>
        </p:txBody>
      </p:sp>
      <p:cxnSp>
        <p:nvCxnSpPr>
          <p:cNvPr id="281" name="Google Shape;281;p27"/>
          <p:cNvCxnSpPr>
            <a:stCxn id="266" idx="0"/>
            <a:endCxn id="280"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8"/>
          <p:cNvSpPr txBox="1"/>
          <p:nvPr/>
        </p:nvSpPr>
        <p:spPr>
          <a:xfrm>
            <a:off x="739075" y="2481425"/>
            <a:ext cx="53634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cerrar el pipeline conectando los 3 canales.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un Router después de OpenAI con 2 ramas.</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Rama Slack siempre (resumen al equipo); rama WhatsApp solo si la prioridad es máxima.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pipeline multicanal completo. ¡Pre-Entrega 5 lista!</a:t>
            </a:r>
            <a:endParaRPr/>
          </a:p>
        </p:txBody>
      </p:sp>
      <p:sp>
        <p:nvSpPr>
          <p:cNvPr id="287" name="Google Shape;287;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8" name="Google Shape;288;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Router multicanal</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9"/>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94" name="Google Shape;294;p29"/>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5</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Diseñás la estrategia de comunicación de una clínica (5 escenarios) y armás el pipeline multicanal en Make que la sostiene.</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La estrategia → </a:t>
            </a:r>
            <a:r>
              <a:rPr b="0" i="0" lang="es" sz="1300" u="none" cap="none" strike="noStrike">
                <a:solidFill>
                  <a:srgbClr val="171717"/>
                </a:solidFill>
                <a:latin typeface="Plus Jakarta Sans"/>
                <a:ea typeface="Plus Jakarta Sans"/>
                <a:cs typeface="Plus Jakarta Sans"/>
                <a:sym typeface="Plus Jakarta Sans"/>
              </a:rPr>
              <a:t>para cada escenario, elegís canal y justificás (y por qué descartás los otros).</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El pipeline → </a:t>
            </a:r>
            <a:r>
              <a:rPr b="0" i="0" lang="es" sz="1300" u="none" cap="none" strike="noStrike">
                <a:solidFill>
                  <a:srgbClr val="171717"/>
                </a:solidFill>
                <a:latin typeface="Plus Jakarta Sans"/>
                <a:ea typeface="Plus Jakarta Sans"/>
                <a:cs typeface="Plus Jakarta Sans"/>
                <a:sym typeface="Plus Jakarta Sans"/>
              </a:rPr>
              <a:t>Gmail → IA clasifica → Router → Slack + WhatsApp.</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unificar entrada, alertas internas y salida directa, controladas por un motor de análisis.</a:t>
            </a:r>
            <a:endParaRPr/>
          </a:p>
        </p:txBody>
      </p:sp>
      <p:sp>
        <p:nvSpPr>
          <p:cNvPr id="300" name="Google Shape;300;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1" name="Google Shape;301;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5</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nvSpPr>
        <p:spPr>
          <a:xfrm>
            <a:off x="1678800" y="2442950"/>
            <a:ext cx="5386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~2,5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link público al JSON (blueprint) del lienzo de Make</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Resolvé los 5 escenarios de la clínica eligiendo canal y justificando, y entregá el blueprint de Make que interconecta Gmail, Slack y WhatsApp con sus filtros.</a:t>
            </a:r>
            <a:endParaRPr/>
          </a:p>
        </p:txBody>
      </p:sp>
      <p:sp>
        <p:nvSpPr>
          <p:cNvPr id="307" name="Google Shape;307;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08" name="Google Shape;308;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2"/>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14" name="Google Shape;314;p32"/>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Leé los 5 escenarios de la clínica y elegí el canal (Gmail/Slack/WhatsApp) para cada uno.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Justificá cada elección y por qué descartaste los otros dos canales.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Usá al menos 3 conceptos técnicos (asíncrono, tasa de apertura, canal compartido, trazabilidad).</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Armá el blueprint en Make: Gmail (Trigger) → OpenAI (clasifica) → Router → Slack + WhatsApp.</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Aplicá los filtros (ventana de 24h, prioridad) y exportá el JSON público.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Resolver los 5 escenarios + justificaciones — 50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Armar el pipeline en Make (Gmail → IA → Router) — 1 h.</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Filtros, pruebas y exportar el blueprint — 40 min.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2,5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link público al blueprint/JSON del lienzo de Make con los 3 canales y filtros.</a:t>
            </a:r>
            <a:endParaRPr/>
          </a:p>
        </p:txBody>
      </p:sp>
      <p:sp>
        <p:nvSpPr>
          <p:cNvPr id="320" name="Google Shape;320;p3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1" name="Google Shape;321;p3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4"/>
          <p:cNvSpPr txBox="1"/>
          <p:nvPr/>
        </p:nvSpPr>
        <p:spPr>
          <a:xfrm>
            <a:off x="602400" y="659600"/>
            <a:ext cx="71058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lang="es" sz="4800">
                <a:solidFill>
                  <a:srgbClr val="FF632B"/>
                </a:solidFill>
                <a:latin typeface="Plus Jakarta Sans ExtraBold"/>
                <a:ea typeface="Plus Jakarta Sans ExtraBold"/>
                <a:cs typeface="Plus Jakarta Sans ExtraBold"/>
                <a:sym typeface="Plus Jakarta Sans ExtraBold"/>
              </a:rPr>
              <a:t>¿</a:t>
            </a: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327" name="Google Shape;327;p34"/>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Orquestación integrada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Ante un Trigger en Gmail, la IA analiza el texto y clasifica la prioridad automáticamente.</a:t>
            </a:r>
            <a:endParaRPr/>
          </a:p>
        </p:txBody>
      </p:sp>
      <p:sp>
        <p:nvSpPr>
          <p:cNvPr id="328" name="Google Shape;328;p34"/>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Distribución crítica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Router desvía al instante hacia los canales de acción si la prioridad es máxima.</a:t>
            </a:r>
            <a:endParaRPr/>
          </a:p>
        </p:txBody>
      </p:sp>
      <p:sp>
        <p:nvSpPr>
          <p:cNvPr id="329" name="Google Shape;329;p34"/>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Salida y alertas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Resumen automático a Slack + mensaje por WhatsApp (Twilio/Wati) en formato internacional.</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Ya orquestás la comunicación con tus clientes. En el Módulo 6 le sumás inteligencia de negocio con la API de Anthropic Claude.</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6: </a:t>
            </a:r>
            <a:r>
              <a:rPr b="0" i="0" lang="es" sz="1300" u="none" cap="none" strike="noStrike">
                <a:solidFill>
                  <a:srgbClr val="171717"/>
                </a:solidFill>
                <a:latin typeface="Plus Jakarta Sans"/>
                <a:ea typeface="Plus Jakarta Sans"/>
                <a:cs typeface="Plus Jakarta Sans"/>
                <a:sym typeface="Plus Jakarta Sans"/>
              </a:rPr>
              <a:t>análisis profundo de documentos y datos con Claude.</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pipeline de hoy </a:t>
            </a:r>
            <a:r>
              <a:rPr b="0" i="0" lang="es" sz="1300" u="none" cap="none" strike="noStrike">
                <a:solidFill>
                  <a:srgbClr val="171717"/>
                </a:solidFill>
                <a:latin typeface="Plus Jakarta Sans"/>
                <a:ea typeface="Plus Jakarta Sans"/>
                <a:cs typeface="Plus Jakarta Sans"/>
                <a:sym typeface="Plus Jakarta Sans"/>
              </a:rPr>
              <a:t>se potencia: la IA no solo clasifica, ahora razona sobre tu negocio.</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La orquestación multicanal no es tecnología: es atención al cliente a escala.</a:t>
            </a:r>
            <a:endParaRPr/>
          </a:p>
        </p:txBody>
      </p:sp>
      <p:sp>
        <p:nvSpPr>
          <p:cNvPr id="335" name="Google Shape;335;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6" name="Google Shape;336;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6</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El mensaje correcto, a la persona correcta, en el momento exacto. Soltá tus dudas del módulo.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42" name="Google Shape;342;p36"/>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5,</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348" name="Google Shape;348;p37"/>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349" name="Google Shape;349;p37"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