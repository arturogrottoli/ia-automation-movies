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Plus Jakarta Sans ExtraBold"/>
      <p:bold r:id="rId34"/>
      <p:boldItalic r:id="rId35"/>
    </p:embeddedFont>
    <p:embeddedFont>
      <p:font typeface="Plus Jakarta Sans"/>
      <p:regular r:id="rId36"/>
      <p:bold r:id="rId37"/>
      <p:italic r:id="rId38"/>
      <p:boldItalic r:id="rId39"/>
    </p:embeddedFont>
    <p:embeddedFont>
      <p:font typeface="Plus Jakarta Sans Light"/>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44" roundtripDataSignature="AMtx7mj6ta4IGU1Az7gafxWtumSE5QXV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usJakartaSansLight-regular.fntdata"/><Relationship Id="rId20" Type="http://schemas.openxmlformats.org/officeDocument/2006/relationships/slide" Target="slides/slide15.xml"/><Relationship Id="rId42" Type="http://schemas.openxmlformats.org/officeDocument/2006/relationships/font" Target="fonts/PlusJakartaSansLight-italic.fntdata"/><Relationship Id="rId41" Type="http://schemas.openxmlformats.org/officeDocument/2006/relationships/font" Target="fonts/PlusJakartaSansLight-bold.fntdata"/><Relationship Id="rId22" Type="http://schemas.openxmlformats.org/officeDocument/2006/relationships/slide" Target="slides/slide17.xml"/><Relationship Id="rId44" Type="http://customschemas.google.com/relationships/presentationmetadata" Target="metadata"/><Relationship Id="rId21" Type="http://schemas.openxmlformats.org/officeDocument/2006/relationships/slide" Target="slides/slide16.xml"/><Relationship Id="rId43" Type="http://schemas.openxmlformats.org/officeDocument/2006/relationships/font" Target="fonts/PlusJakartaSansLight-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PlusJakartaSansExtraBold-boldItalic.fntdata"/><Relationship Id="rId12" Type="http://schemas.openxmlformats.org/officeDocument/2006/relationships/slide" Target="slides/slide7.xml"/><Relationship Id="rId34" Type="http://schemas.openxmlformats.org/officeDocument/2006/relationships/font" Target="fonts/PlusJakartaSansExtraBold-bold.fntdata"/><Relationship Id="rId15" Type="http://schemas.openxmlformats.org/officeDocument/2006/relationships/slide" Target="slides/slide10.xml"/><Relationship Id="rId37" Type="http://schemas.openxmlformats.org/officeDocument/2006/relationships/font" Target="fonts/PlusJakartaSans-bold.fntdata"/><Relationship Id="rId14" Type="http://schemas.openxmlformats.org/officeDocument/2006/relationships/slide" Target="slides/slide9.xml"/><Relationship Id="rId36" Type="http://schemas.openxmlformats.org/officeDocument/2006/relationships/font" Target="fonts/PlusJakartaSans-regular.fntdata"/><Relationship Id="rId17" Type="http://schemas.openxmlformats.org/officeDocument/2006/relationships/slide" Target="slides/slide12.xml"/><Relationship Id="rId39" Type="http://schemas.openxmlformats.org/officeDocument/2006/relationships/font" Target="fonts/PlusJakartaSans-boldItalic.fntdata"/><Relationship Id="rId16" Type="http://schemas.openxmlformats.org/officeDocument/2006/relationships/slide" Target="slides/slide11.xml"/><Relationship Id="rId38" Type="http://schemas.openxmlformats.org/officeDocument/2006/relationships/font" Target="fonts/PlusJakartaSans-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7" name="Google Shape;207;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4" name="Google Shape;214;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6" name="Google Shape;256;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1" name="Google Shape;271;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34"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1" name="Shape 11"/>
        <p:cNvGrpSpPr/>
        <p:nvPr/>
      </p:nvGrpSpPr>
      <p:grpSpPr>
        <a:xfrm>
          <a:off x="0" y="0"/>
          <a:ext cx="0" cy="0"/>
          <a:chOff x="0" y="0"/>
          <a:chExt cx="0" cy="0"/>
        </a:xfrm>
      </p:grpSpPr>
      <p:sp>
        <p:nvSpPr>
          <p:cNvPr id="12" name="Google Shape;12;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3" name="Shape 13"/>
        <p:cNvGrpSpPr/>
        <p:nvPr/>
      </p:nvGrpSpPr>
      <p:grpSpPr>
        <a:xfrm>
          <a:off x="0" y="0"/>
          <a:ext cx="0" cy="0"/>
          <a:chOff x="0" y="0"/>
          <a:chExt cx="0" cy="0"/>
        </a:xfrm>
      </p:grpSpPr>
      <p:sp>
        <p:nvSpPr>
          <p:cNvPr id="14" name="Google Shape;14;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15" name="Shape 15"/>
        <p:cNvGrpSpPr/>
        <p:nvPr/>
      </p:nvGrpSpPr>
      <p:grpSpPr>
        <a:xfrm>
          <a:off x="0" y="0"/>
          <a:ext cx="0" cy="0"/>
          <a:chOff x="0" y="0"/>
          <a:chExt cx="0" cy="0"/>
        </a:xfrm>
      </p:grpSpPr>
      <p:sp>
        <p:nvSpPr>
          <p:cNvPr id="16" name="Google Shape;16;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7" name="Shape 17"/>
        <p:cNvGrpSpPr/>
        <p:nvPr/>
      </p:nvGrpSpPr>
      <p:grpSpPr>
        <a:xfrm>
          <a:off x="0" y="0"/>
          <a:ext cx="0" cy="0"/>
          <a:chOff x="0" y="0"/>
          <a:chExt cx="0" cy="0"/>
        </a:xfrm>
      </p:grpSpPr>
      <p:sp>
        <p:nvSpPr>
          <p:cNvPr id="18" name="Google Shape;18;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9" name="Google Shape;19;p35"/>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20" name="Google Shape;20;p35"/>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21" name="Google Shape;21;p35"/>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22" name="Google Shape;22;p35"/>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0"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41"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4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4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4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4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4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4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4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4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4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4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4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4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5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5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52"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5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5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5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5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53"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53"/>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53"/>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53"/>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53"/>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8: </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Proyecto Integrador</a:t>
            </a:r>
            <a:endParaRPr b="0" i="0" sz="1600" u="none" cap="none" strike="noStrike">
              <a:solidFill>
                <a:srgbClr val="F8F2E8"/>
              </a:solidFill>
              <a:latin typeface="Plus Jakarta Sans Light"/>
              <a:ea typeface="Plus Jakarta Sans Light"/>
              <a:cs typeface="Plus Jakarta Sans Light"/>
              <a:sym typeface="Plus Jakarta Sans Light"/>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Tu Ecosistema de IA Autónomo</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Integrar todo el stack del curso en un ecosistema autónomo de punta a punta.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el cerebro (base de datos), el corazón (orquestación) y la voz (salida).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Sumar resiliencia (rutas de error) y un semáforo humano (HITL) en los puntos críticos.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Documentar la arquitectura y justificar tus decisiones de costos.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Entregar un repositorio profesional con diagrama, flujo y dashboard.</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La visión: qué es tu ecosistema autónomo.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La hoja de ruta en 6 pasos.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Calidad de arquitecto: seguridad y costos.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Tu entrega final: qué entregás y cómo se evalúa.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2" name="Google Shape;112;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El proyecto integrador</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Fundamentos y ecosistema (M1-M2): </a:t>
            </a:r>
            <a:r>
              <a:rPr b="0" i="0" lang="es" sz="1300" u="none" cap="none" strike="noStrike">
                <a:solidFill>
                  <a:srgbClr val="171717"/>
                </a:solidFill>
                <a:latin typeface="Plus Jakarta Sans"/>
                <a:ea typeface="Plus Jakarta Sans"/>
                <a:cs typeface="Plus Jakarta Sans"/>
                <a:sym typeface="Plus Jakarta Sans"/>
              </a:rPr>
              <a:t>mentalidad de arquitecto y herramientas no-code.</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Orquestación (M3-M4): </a:t>
            </a:r>
            <a:r>
              <a:rPr b="0" i="0" lang="es" sz="1300" u="none" cap="none" strike="noStrike">
                <a:solidFill>
                  <a:srgbClr val="171717"/>
                </a:solidFill>
                <a:latin typeface="Plus Jakarta Sans"/>
                <a:ea typeface="Plus Jakarta Sans"/>
                <a:cs typeface="Plus Jakarta Sans"/>
                <a:sym typeface="Plus Jakarta Sans"/>
              </a:rPr>
              <a:t>flujos en Make y agentes en n8n.</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Comunicación (M5): </a:t>
            </a:r>
            <a:r>
              <a:rPr b="0" i="0" lang="es" sz="1300" u="none" cap="none" strike="noStrike">
                <a:solidFill>
                  <a:srgbClr val="171717"/>
                </a:solidFill>
                <a:latin typeface="Plus Jakarta Sans"/>
                <a:ea typeface="Plus Jakarta Sans"/>
                <a:cs typeface="Plus Jakarta Sans"/>
                <a:sym typeface="Plus Jakarta Sans"/>
              </a:rPr>
              <a:t>Gmail, Slack y WhatsApp orquestados.</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Inteligencia (M6-M7): </a:t>
            </a:r>
            <a:r>
              <a:rPr b="0" i="0" lang="es" sz="1300" u="none" cap="none" strike="noStrike">
                <a:solidFill>
                  <a:srgbClr val="171717"/>
                </a:solidFill>
                <a:latin typeface="Plus Jakarta Sans"/>
                <a:ea typeface="Plus Jakarta Sans"/>
                <a:cs typeface="Plus Jakarta Sans"/>
                <a:sym typeface="Plus Jakarta Sans"/>
              </a:rPr>
              <a:t>Claude API, RAG, agentes creativos y HITL.</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Hoy unís todas esas piezas en un solo sistema vivo.</a:t>
            </a:r>
            <a:endParaRPr b="0" i="0" sz="1400" u="none" cap="none" strike="noStrike">
              <a:solidFill>
                <a:srgbClr val="000000"/>
              </a:solidFill>
              <a:latin typeface="Arial"/>
              <a:ea typeface="Arial"/>
              <a:cs typeface="Arial"/>
              <a:sym typeface="Arial"/>
            </a:endParaRPr>
          </a:p>
        </p:txBody>
      </p:sp>
      <p:sp>
        <p:nvSpPr>
          <p:cNvPr id="118" name="Google Shape;118;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El camino recorrido</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9" name="Google Shape;119;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Todo lo que ya sabés hacer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8"/>
          <p:cNvSpPr txBox="1"/>
          <p:nvPr/>
        </p:nvSpPr>
        <p:spPr>
          <a:xfrm>
            <a:off x="739075" y="2481425"/>
            <a:ext cx="5911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Un ecosistema de automatización autónomo que resuelve un proceso de negocio completo (leads, atención con memoria, propuestas o pipeline de contenido).</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regla: </a:t>
            </a:r>
            <a:r>
              <a:rPr b="0" i="0" lang="es" sz="1150" u="none" cap="none" strike="noStrike">
                <a:solidFill>
                  <a:srgbClr val="171717"/>
                </a:solidFill>
                <a:latin typeface="Plus Jakarta Sans"/>
                <a:ea typeface="Plus Jakarta Sans"/>
                <a:cs typeface="Plus Jakarta Sans"/>
                <a:sym typeface="Plus Jakarta Sans"/>
              </a:rPr>
              <a:t>se dispara, procesa datos con IA desde la base y entrega un output sin intervención manual.</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Tu rol: </a:t>
            </a:r>
            <a:r>
              <a:rPr b="0" i="0" lang="es" sz="1150" u="none" cap="none" strike="noStrike">
                <a:solidFill>
                  <a:srgbClr val="171717"/>
                </a:solidFill>
                <a:latin typeface="Plus Jakarta Sans"/>
                <a:ea typeface="Plus Jakarta Sans"/>
                <a:cs typeface="Plus Jakarta Sans"/>
                <a:sym typeface="Plus Jakarta Sans"/>
              </a:rPr>
              <a:t>ya no usás herramientas sueltas; diseñás el sistema que las une.</a:t>
            </a:r>
            <a:endParaRPr b="0" i="0" sz="1400" u="none" cap="none" strike="noStrike">
              <a:solidFill>
                <a:srgbClr val="000000"/>
              </a:solidFill>
              <a:latin typeface="Arial"/>
              <a:ea typeface="Arial"/>
              <a:cs typeface="Arial"/>
              <a:sym typeface="Arial"/>
            </a:endParaRPr>
          </a:p>
        </p:txBody>
      </p:sp>
      <p:sp>
        <p:nvSpPr>
          <p:cNvPr id="125" name="Google Shape;125;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¿Qué vas a construir?</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6" name="Google Shape;126;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171717"/>
                </a:solidFill>
                <a:highlight>
                  <a:srgbClr val="FDAB2E"/>
                </a:highlight>
                <a:latin typeface="Plus Jakarta Sans"/>
                <a:ea typeface="Plus Jakarta Sans"/>
                <a:cs typeface="Plus Jakarta Sans"/>
                <a:sym typeface="Plus Jakarta Sans"/>
              </a:rPr>
              <a:t>Un ecosistema de punta a punta</a:t>
            </a:r>
            <a:endParaRPr b="0" i="0" sz="17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Orquestador</a:t>
            </a:r>
            <a:endParaRPr b="0" i="0" sz="1200" u="none" cap="none" strike="noStrike">
              <a:solidFill>
                <a:srgbClr val="FAFAFA"/>
              </a:solidFill>
              <a:latin typeface="Plus Jakarta Sans"/>
              <a:ea typeface="Plus Jakarta Sans"/>
              <a:cs typeface="Plus Jakarta Sans"/>
              <a:sym typeface="Plus Jakarta Sans"/>
            </a:endParaRPr>
          </a:p>
        </p:txBody>
      </p:sp>
      <p:sp>
        <p:nvSpPr>
          <p:cNvPr id="132" name="Google Shape;132;p9"/>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Tu stack</a:t>
            </a:r>
            <a:endParaRPr b="1" i="0" sz="2000" u="none" cap="none" strike="noStrike">
              <a:solidFill>
                <a:srgbClr val="260700"/>
              </a:solidFill>
              <a:latin typeface="Plus Jakarta Sans"/>
              <a:ea typeface="Plus Jakarta Sans"/>
              <a:cs typeface="Plus Jakarta Sans"/>
              <a:sym typeface="Plus Jakarta Sans"/>
            </a:endParaRPr>
          </a:p>
        </p:txBody>
      </p:sp>
      <p:sp>
        <p:nvSpPr>
          <p:cNvPr id="133" name="Google Shape;133;p9"/>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n8n o Make</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34" name="Google Shape;134;p9"/>
          <p:cNvCxnSpPr>
            <a:stCxn id="131" idx="2"/>
            <a:endCxn id="133"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135" name="Google Shape;135;p9"/>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Base de datos</a:t>
            </a:r>
            <a:endParaRPr b="0" i="0" sz="1200" u="none" cap="none" strike="noStrike">
              <a:solidFill>
                <a:srgbClr val="FAFAFA"/>
              </a:solidFill>
              <a:latin typeface="Plus Jakarta Sans"/>
              <a:ea typeface="Plus Jakarta Sans"/>
              <a:cs typeface="Plus Jakarta Sans"/>
              <a:sym typeface="Plus Jakarta Sans"/>
            </a:endParaRPr>
          </a:p>
        </p:txBody>
      </p:sp>
      <p:sp>
        <p:nvSpPr>
          <p:cNvPr id="136" name="Google Shape;136;p9"/>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Airtable o Notion</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37" name="Google Shape;137;p9"/>
          <p:cNvCxnSpPr>
            <a:stCxn id="135" idx="2"/>
            <a:endCxn id="136"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138" name="Google Shape;138;p9"/>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Procesamiento IA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39" name="Google Shape;139;p9"/>
          <p:cNvCxnSpPr>
            <a:stCxn id="138" idx="0"/>
            <a:endCxn id="132"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140" name="Google Shape;140;p9"/>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Claude u OpenAI</a:t>
            </a:r>
            <a:endParaRPr b="0" i="0" sz="1200" u="none" cap="none" strike="noStrike">
              <a:solidFill>
                <a:srgbClr val="FAFAFA"/>
              </a:solidFill>
              <a:latin typeface="Plus Jakarta Sans"/>
              <a:ea typeface="Plus Jakarta Sans"/>
              <a:cs typeface="Plus Jakarta Sans"/>
              <a:sym typeface="Plus Jakarta Sans"/>
            </a:endParaRPr>
          </a:p>
        </p:txBody>
      </p:sp>
      <p:sp>
        <p:nvSpPr>
          <p:cNvPr id="141" name="Google Shape;141;p9"/>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Canal de salida</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42" name="Google Shape;142;p9"/>
          <p:cNvCxnSpPr>
            <a:stCxn id="140" idx="3"/>
            <a:endCxn id="132"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143" name="Google Shape;143;p9"/>
          <p:cNvCxnSpPr>
            <a:stCxn id="141" idx="1"/>
            <a:endCxn id="132"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144" name="Google Shape;144;p9"/>
          <p:cNvCxnSpPr>
            <a:stCxn id="135" idx="0"/>
            <a:endCxn id="132"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145" name="Google Shape;145;p9"/>
          <p:cNvCxnSpPr>
            <a:stCxn id="132" idx="3"/>
            <a:endCxn id="131"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146" name="Google Shape;146;p9"/>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Gmail / Slack / WhatsApp</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47" name="Google Shape;147;p9"/>
          <p:cNvCxnSpPr>
            <a:stCxn id="132" idx="0"/>
            <a:endCxn id="146"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Las 3 capas</a:t>
            </a:r>
            <a:endParaRPr b="0" i="0" sz="2400" u="none" cap="none" strike="noStrike">
              <a:solidFill>
                <a:srgbClr val="260700"/>
              </a:solidFill>
              <a:latin typeface="Plus Jakarta Sans"/>
              <a:ea typeface="Plus Jakarta Sans"/>
              <a:cs typeface="Plus Jakarta Sans"/>
              <a:sym typeface="Plus Jakarta Sans"/>
            </a:endParaRPr>
          </a:p>
        </p:txBody>
      </p:sp>
      <p:sp>
        <p:nvSpPr>
          <p:cNvPr id="153" name="Google Shape;153;p10"/>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Cerebro (datos)</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Airtable o Notion: la memoria del sistema. Campos de estado y tablas relacionadas.</a:t>
            </a:r>
            <a:endParaRPr b="0" i="0" sz="1400" u="none" cap="none" strike="noStrike">
              <a:solidFill>
                <a:srgbClr val="000000"/>
              </a:solidFill>
              <a:latin typeface="Arial"/>
              <a:ea typeface="Arial"/>
              <a:cs typeface="Arial"/>
              <a:sym typeface="Arial"/>
            </a:endParaRPr>
          </a:p>
        </p:txBody>
      </p:sp>
      <p:sp>
        <p:nvSpPr>
          <p:cNvPr id="154" name="Google Shape;154;p10"/>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Corazón (lógica)</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Make o n8n: orquesta el flujo. Trigger, motor de IA y manejo de errores.</a:t>
            </a:r>
            <a:endParaRPr b="0" i="0" sz="1400" u="none" cap="none" strike="noStrike">
              <a:solidFill>
                <a:srgbClr val="000000"/>
              </a:solidFill>
              <a:latin typeface="Arial"/>
              <a:ea typeface="Arial"/>
              <a:cs typeface="Arial"/>
              <a:sym typeface="Arial"/>
            </a:endParaRPr>
          </a:p>
        </p:txBody>
      </p:sp>
      <p:sp>
        <p:nvSpPr>
          <p:cNvPr id="155" name="Google Shape;155;p10"/>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Voz (salida)</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Gmail, Slack o WhatsApp: la comunicación final, con hilos y plantillas correctas.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Autónomo: </a:t>
            </a:r>
            <a:r>
              <a:rPr b="0" i="0" lang="es" sz="1300" u="none" cap="none" strike="noStrike">
                <a:solidFill>
                  <a:srgbClr val="171717"/>
                </a:solidFill>
                <a:latin typeface="Plus Jakarta Sans"/>
                <a:ea typeface="Plus Jakarta Sans"/>
                <a:cs typeface="Plus Jakarta Sans"/>
                <a:sym typeface="Plus Jakarta Sans"/>
              </a:rPr>
              <a:t>se dispara, procesa con IA desde la DB y entrega, sin intervención manual.</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Resiliente: </a:t>
            </a:r>
            <a:r>
              <a:rPr b="0" i="0" lang="es" sz="1300" u="none" cap="none" strike="noStrike">
                <a:solidFill>
                  <a:srgbClr val="171717"/>
                </a:solidFill>
                <a:latin typeface="Plus Jakarta Sans"/>
                <a:ea typeface="Plus Jakarta Sans"/>
                <a:cs typeface="Plus Jakarta Sans"/>
                <a:sym typeface="Plus Jakarta Sans"/>
              </a:rPr>
              <a:t>rutas de error que estabilicen el flujo ante datos faltantes o fallos de API.</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Con HITL: </a:t>
            </a:r>
            <a:r>
              <a:rPr b="0" i="0" lang="es" sz="1300" u="none" cap="none" strike="noStrike">
                <a:solidFill>
                  <a:srgbClr val="171717"/>
                </a:solidFill>
                <a:latin typeface="Plus Jakarta Sans"/>
                <a:ea typeface="Plus Jakarta Sans"/>
                <a:cs typeface="Plus Jakarta Sans"/>
                <a:sym typeface="Plus Jakarta Sans"/>
              </a:rPr>
              <a:t>un punto de validación humana antes de toda acción crítica.</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Limpio: </a:t>
            </a:r>
            <a:r>
              <a:rPr b="0" i="0" lang="es" sz="1300" u="none" cap="none" strike="noStrike">
                <a:solidFill>
                  <a:srgbClr val="171717"/>
                </a:solidFill>
                <a:latin typeface="Plus Jakarta Sans"/>
                <a:ea typeface="Plus Jakarta Sans"/>
                <a:cs typeface="Plus Jakarta Sans"/>
                <a:sym typeface="Plus Jakarta Sans"/>
              </a:rPr>
              <a:t>nodos bien nombrados, variables dinámicas y nada hardcodeado.</a:t>
            </a:r>
            <a:endParaRPr b="0" i="0" sz="1400" u="none" cap="none" strike="noStrike">
              <a:solidFill>
                <a:srgbClr val="000000"/>
              </a:solidFill>
              <a:latin typeface="Arial"/>
              <a:ea typeface="Arial"/>
              <a:cs typeface="Arial"/>
              <a:sym typeface="Arial"/>
            </a:endParaRPr>
          </a:p>
        </p:txBody>
      </p:sp>
      <p:sp>
        <p:nvSpPr>
          <p:cNvPr id="161" name="Google Shape;161;p1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FF632B"/>
                </a:solidFill>
                <a:latin typeface="Plus Jakarta Sans ExtraBold"/>
                <a:ea typeface="Plus Jakarta Sans ExtraBold"/>
                <a:cs typeface="Plus Jakarta Sans ExtraBold"/>
                <a:sym typeface="Plus Jakarta Sans ExtraBold"/>
              </a:rPr>
              <a:t>Requisitos de arquitectura</a:t>
            </a:r>
            <a:endParaRPr b="0" i="0" sz="27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2" name="Google Shape;162;p1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 que no puede faltar</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69" name="Google Shape;169;p1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70" name="Google Shape;170;p12"/>
          <p:cNvSpPr txBox="1"/>
          <p:nvPr/>
        </p:nvSpPr>
        <p:spPr>
          <a:xfrm>
            <a:off x="6363575" y="2481425"/>
            <a:ext cx="2457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Antes de tocar una sola herramienta: ¿qué proceso de tu negocio (o de un cliente) te quita más tiempo cada semana? Ese dolor concreto es el mejor caso de uso para tu proyecto final.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76" name="Google Shape;176;p1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8F2E8"/>
                </a:solidFill>
                <a:latin typeface="Plus Jakarta Sans ExtraBold"/>
                <a:ea typeface="Plus Jakarta Sans ExtraBold"/>
                <a:cs typeface="Plus Jakarta Sans ExtraBold"/>
                <a:sym typeface="Plus Jakarta Sans ExtraBold"/>
              </a:rPr>
              <a:t>La hoja de ruta</a:t>
            </a:r>
            <a:endParaRPr b="0" i="0" sz="3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4"/>
          <p:cNvSpPr txBox="1"/>
          <p:nvPr/>
        </p:nvSpPr>
        <p:spPr>
          <a:xfrm>
            <a:off x="739075" y="2481425"/>
            <a:ext cx="6142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Elegí un proceso de negocio (propio o de un cliente ficticio) que requiera interpretar lenguaje natural.</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Ejemplos: </a:t>
            </a:r>
            <a:r>
              <a:rPr b="0" i="0" lang="es" sz="1150" u="none" cap="none" strike="noStrike">
                <a:solidFill>
                  <a:srgbClr val="171717"/>
                </a:solidFill>
                <a:latin typeface="Plus Jakarta Sans"/>
                <a:ea typeface="Plus Jakarta Sans"/>
                <a:cs typeface="Plus Jakarta Sans"/>
                <a:sym typeface="Plus Jakarta Sans"/>
              </a:rPr>
              <a:t>clasificación de leads VIP, triage de tickets de soporte o propuestas comerciales personalizadas.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Tip: </a:t>
            </a:r>
            <a:r>
              <a:rPr b="0" i="0" lang="es" sz="1150" u="none" cap="none" strike="noStrike">
                <a:solidFill>
                  <a:srgbClr val="171717"/>
                </a:solidFill>
                <a:latin typeface="Plus Jakarta Sans"/>
                <a:ea typeface="Plus Jakarta Sans"/>
                <a:cs typeface="Plus Jakarta Sans"/>
                <a:sym typeface="Plus Jakarta Sans"/>
              </a:rPr>
              <a:t>elegí algo acotado y real. Un sistema chico que funciona vale más que uno enorme a medias.</a:t>
            </a:r>
            <a:endParaRPr b="0" i="0" sz="1400" u="none" cap="none" strike="noStrike">
              <a:solidFill>
                <a:srgbClr val="000000"/>
              </a:solidFill>
              <a:latin typeface="Arial"/>
              <a:ea typeface="Arial"/>
              <a:cs typeface="Arial"/>
              <a:sym typeface="Arial"/>
            </a:endParaRPr>
          </a:p>
        </p:txBody>
      </p:sp>
      <p:sp>
        <p:nvSpPr>
          <p:cNvPr id="182" name="Google Shape;182;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0" i="0" lang="es" sz="2700" u="none" cap="none" strike="noStrike">
                <a:solidFill>
                  <a:srgbClr val="171717"/>
                </a:solidFill>
                <a:latin typeface="Plus Jakarta Sans ExtraBold"/>
                <a:ea typeface="Plus Jakarta Sans ExtraBold"/>
                <a:cs typeface="Plus Jakarta Sans ExtraBold"/>
                <a:sym typeface="Plus Jakarta Sans ExtraBold"/>
              </a:rPr>
              <a:t>Paso 1 · El caso de uso</a:t>
            </a:r>
            <a:endParaRPr b="0" i="0" sz="27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3" name="Google Shape;183;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Empezá por el problema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txBox="1"/>
          <p:nvPr/>
        </p:nvSpPr>
        <p:spPr>
          <a:xfrm>
            <a:off x="739075" y="2481425"/>
            <a:ext cx="5988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Airtable o Notion, diseñá la memoria del sistema.</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Campos de estado obligatorios: </a:t>
            </a:r>
            <a:r>
              <a:rPr b="0" i="0" lang="es" sz="1150" u="none" cap="none" strike="noStrike">
                <a:solidFill>
                  <a:srgbClr val="171717"/>
                </a:solidFill>
                <a:latin typeface="Plus Jakarta Sans"/>
                <a:ea typeface="Plus Jakarta Sans"/>
                <a:cs typeface="Plus Jakarta Sans"/>
                <a:sym typeface="Plus Jakarta Sans"/>
              </a:rPr>
              <a:t>Pendiente, Procesado por IA, Aprobado por Humano.</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Relaciones: </a:t>
            </a:r>
            <a:r>
              <a:rPr b="0" i="0" lang="es" sz="1150" u="none" cap="none" strike="noStrike">
                <a:solidFill>
                  <a:srgbClr val="171717"/>
                </a:solidFill>
                <a:latin typeface="Plus Jakarta Sans"/>
                <a:ea typeface="Plus Jakarta Sans"/>
                <a:cs typeface="Plus Jakarta Sans"/>
                <a:sym typeface="Plus Jakarta Sans"/>
              </a:rPr>
              <a:t>vinculá tablas para evitar datos aislados.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La sincronización entre fuentes la maneja tu flujo, no a mano.</a:t>
            </a:r>
            <a:endParaRPr b="0" i="0" sz="1400" u="none" cap="none" strike="noStrike">
              <a:solidFill>
                <a:srgbClr val="000000"/>
              </a:solidFill>
              <a:latin typeface="Arial"/>
              <a:ea typeface="Arial"/>
              <a:cs typeface="Arial"/>
              <a:sym typeface="Arial"/>
            </a:endParaRPr>
          </a:p>
        </p:txBody>
      </p:sp>
      <p:sp>
        <p:nvSpPr>
          <p:cNvPr id="189" name="Google Shape;189;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Paso 2 · El Cerebro</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90" name="Google Shape;190;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base de datos</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6"/>
          <p:cNvSpPr txBox="1"/>
          <p:nvPr/>
        </p:nvSpPr>
        <p:spPr>
          <a:xfrm>
            <a:off x="739075" y="2481425"/>
            <a:ext cx="61710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Trigger inteligente: </a:t>
            </a:r>
            <a:r>
              <a:rPr b="0" i="0" lang="es" sz="1150" u="none" cap="none" strike="noStrike">
                <a:solidFill>
                  <a:srgbClr val="171717"/>
                </a:solidFill>
                <a:latin typeface="Plus Jakarta Sans"/>
                <a:ea typeface="Plus Jakarta Sans"/>
                <a:cs typeface="Plus Jakarta Sans"/>
                <a:sym typeface="Plus Jakarta Sans"/>
              </a:rPr>
              <a:t>disparadores específicos (Webhooks, "From now on") para no gastar operaciones de más.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Motor de IA: </a:t>
            </a:r>
            <a:r>
              <a:rPr b="0" i="0" lang="es" sz="1150" u="none" cap="none" strike="noStrike">
                <a:solidFill>
                  <a:srgbClr val="171717"/>
                </a:solidFill>
                <a:latin typeface="Plus Jakarta Sans"/>
                <a:ea typeface="Plus Jakarta Sans"/>
                <a:cs typeface="Plus Jakarta Sans"/>
                <a:sym typeface="Plus Jakarta Sans"/>
              </a:rPr>
              <a:t>Claude u OpenAI. Mapeá bien la respuesta (Message.Content) y limitá Max Tokens.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Resiliencia: </a:t>
            </a:r>
            <a:r>
              <a:rPr b="0" i="0" lang="es" sz="1150" u="none" cap="none" strike="noStrike">
                <a:solidFill>
                  <a:srgbClr val="171717"/>
                </a:solidFill>
                <a:latin typeface="Plus Jakarta Sans"/>
                <a:ea typeface="Plus Jakarta Sans"/>
                <a:cs typeface="Plus Jakarta Sans"/>
                <a:sym typeface="Plus Jakarta Sans"/>
              </a:rPr>
              <a:t>nodos de Error Handling (Resume/Break) que guarden un registro si la API falla.</a:t>
            </a:r>
            <a:endParaRPr b="0" i="0" sz="1400" u="none" cap="none" strike="noStrike">
              <a:solidFill>
                <a:srgbClr val="000000"/>
              </a:solidFill>
              <a:latin typeface="Arial"/>
              <a:ea typeface="Arial"/>
              <a:cs typeface="Arial"/>
              <a:sym typeface="Arial"/>
            </a:endParaRPr>
          </a:p>
        </p:txBody>
      </p:sp>
      <p:sp>
        <p:nvSpPr>
          <p:cNvPr id="196" name="Google Shape;196;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Paso 3 · El Corazón</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97" name="Google Shape;197;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orquestación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7"/>
          <p:cNvSpPr txBox="1"/>
          <p:nvPr/>
        </p:nvSpPr>
        <p:spPr>
          <a:xfrm>
            <a:off x="739075" y="2481425"/>
            <a:ext cx="5863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Para evitar el "efecto metralleta", el flujo se detiene antes de una acción crítica.</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La ruta: </a:t>
            </a:r>
            <a:r>
              <a:rPr b="0" i="0" lang="es" sz="1150" u="none" cap="none" strike="noStrike">
                <a:solidFill>
                  <a:srgbClr val="171717"/>
                </a:solidFill>
                <a:latin typeface="Plus Jakarta Sans"/>
                <a:ea typeface="Plus Jakarta Sans"/>
                <a:cs typeface="Plus Jakarta Sans"/>
                <a:sym typeface="Plus Jakarta Sans"/>
              </a:rPr>
              <a:t>el sistema manda una notificación de aprobación (Slack o Email) y espera tu feedback.</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Recién con tu visto bueno el flujo contacta al cliente final.</a:t>
            </a:r>
            <a:endParaRPr b="0" i="0" sz="1400" u="none" cap="none" strike="noStrike">
              <a:solidFill>
                <a:srgbClr val="000000"/>
              </a:solidFill>
              <a:latin typeface="Arial"/>
              <a:ea typeface="Arial"/>
              <a:cs typeface="Arial"/>
              <a:sym typeface="Arial"/>
            </a:endParaRPr>
          </a:p>
        </p:txBody>
      </p:sp>
      <p:sp>
        <p:nvSpPr>
          <p:cNvPr id="203" name="Google Shape;203;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Paso 4 · El HITL</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04" name="Google Shape;204;p1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semáforo humano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18"/>
          <p:cNvSpPr txBox="1"/>
          <p:nvPr/>
        </p:nvSpPr>
        <p:spPr>
          <a:xfrm>
            <a:off x="739075" y="2481425"/>
            <a:ext cx="6045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Slack / Gmail: </a:t>
            </a:r>
            <a:r>
              <a:rPr b="0" i="0" lang="es" sz="1150" u="none" cap="none" strike="noStrike">
                <a:solidFill>
                  <a:srgbClr val="171717"/>
                </a:solidFill>
                <a:latin typeface="Plus Jakarta Sans"/>
                <a:ea typeface="Plus Jakarta Sans"/>
                <a:cs typeface="Plus Jakarta Sans"/>
                <a:sym typeface="Plus Jakarta Sans"/>
              </a:rPr>
              <a:t>mapeá el Thread ID para mantener la conversación organizada.</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WhatsApp: </a:t>
            </a:r>
            <a:r>
              <a:rPr b="0" i="0" lang="es" sz="1150" u="none" cap="none" strike="noStrike">
                <a:solidFill>
                  <a:srgbClr val="171717"/>
                </a:solidFill>
                <a:latin typeface="Plus Jakarta Sans"/>
                <a:ea typeface="Plus Jakarta Sans"/>
                <a:cs typeface="Plus Jakarta Sans"/>
                <a:sym typeface="Plus Jakarta Sans"/>
              </a:rPr>
              <a:t>si iniciás vos, usá una Plantilla aprobada y el formato internacional (+).</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Elegí el canal según la urgencia, como viste en el Módulo 5.</a:t>
            </a:r>
            <a:endParaRPr b="0" i="0" sz="1400" u="none" cap="none" strike="noStrike">
              <a:solidFill>
                <a:srgbClr val="000000"/>
              </a:solidFill>
              <a:latin typeface="Arial"/>
              <a:ea typeface="Arial"/>
              <a:cs typeface="Arial"/>
              <a:sym typeface="Arial"/>
            </a:endParaRPr>
          </a:p>
        </p:txBody>
      </p:sp>
      <p:sp>
        <p:nvSpPr>
          <p:cNvPr id="210" name="Google Shape;210;p1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Paso 5 · La Voz</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1" name="Google Shape;211;p1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La salida multicanal</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9"/>
          <p:cNvSpPr txBox="1"/>
          <p:nvPr/>
        </p:nvSpPr>
        <p:spPr>
          <a:xfrm>
            <a:off x="739075" y="2481425"/>
            <a:ext cx="57864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Test de estrés: </a:t>
            </a:r>
            <a:r>
              <a:rPr b="0" i="0" lang="es" sz="1150" u="none" cap="none" strike="noStrike">
                <a:solidFill>
                  <a:srgbClr val="171717"/>
                </a:solidFill>
                <a:latin typeface="Plus Jakarta Sans"/>
                <a:ea typeface="Plus Jakarta Sans"/>
                <a:cs typeface="Plus Jakarta Sans"/>
                <a:sym typeface="Plus Jakarta Sans"/>
              </a:rPr>
              <a:t>corré el flujo 5+ veces. Probá el "camino infeliz" (datos incompletos) para validar tus rutas de error.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Video demo (3 min): </a:t>
            </a:r>
            <a:r>
              <a:rPr b="0" i="0" lang="es" sz="1150" u="none" cap="none" strike="noStrike">
                <a:solidFill>
                  <a:srgbClr val="171717"/>
                </a:solidFill>
                <a:latin typeface="Plus Jakarta Sans"/>
                <a:ea typeface="Plus Jakarta Sans"/>
                <a:cs typeface="Plus Jakarta Sans"/>
                <a:sym typeface="Plus Jakarta Sans"/>
              </a:rPr>
              <a:t>mostrá trigger, procesamiento y resultado. Ocultá tus API keys.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Entregables: </a:t>
            </a:r>
            <a:r>
              <a:rPr b="0" i="0" lang="es" sz="1150" u="none" cap="none" strike="noStrike">
                <a:solidFill>
                  <a:srgbClr val="171717"/>
                </a:solidFill>
                <a:latin typeface="Plus Jakarta Sans"/>
                <a:ea typeface="Plus Jakarta Sans"/>
                <a:cs typeface="Plus Jakarta Sans"/>
                <a:sym typeface="Plus Jakarta Sans"/>
              </a:rPr>
              <a:t>PDF de arquitectura, link a la DB (modo lectura) y el JSON/Blueprint del flujo.</a:t>
            </a:r>
            <a:endParaRPr b="0" i="0" sz="1400" u="none" cap="none" strike="noStrike">
              <a:solidFill>
                <a:srgbClr val="000000"/>
              </a:solidFill>
              <a:latin typeface="Arial"/>
              <a:ea typeface="Arial"/>
              <a:cs typeface="Arial"/>
              <a:sym typeface="Arial"/>
            </a:endParaRPr>
          </a:p>
        </p:txBody>
      </p:sp>
      <p:sp>
        <p:nvSpPr>
          <p:cNvPr id="217" name="Google Shape;217;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171717"/>
                </a:solidFill>
                <a:latin typeface="Plus Jakarta Sans ExtraBold"/>
                <a:ea typeface="Plus Jakarta Sans ExtraBold"/>
                <a:cs typeface="Plus Jakarta Sans ExtraBold"/>
                <a:sym typeface="Plus Jakarta Sans ExtraBold"/>
              </a:rPr>
              <a:t>Paso 6 · Probá y entregá</a:t>
            </a:r>
            <a:endParaRPr b="0" i="0" sz="2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8" name="Google Shape;218;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cierre del proyecto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0"/>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20"/>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25" name="Google Shape;225;p20"/>
          <p:cNvSpPr txBox="1"/>
          <p:nvPr/>
        </p:nvSpPr>
        <p:spPr>
          <a:xfrm>
            <a:off x="230975" y="20928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26" name="Google Shape;226;p20"/>
          <p:cNvSpPr txBox="1"/>
          <p:nvPr/>
        </p:nvSpPr>
        <p:spPr>
          <a:xfrm>
            <a:off x="5823700" y="2481425"/>
            <a:ext cx="2997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Dos detalles que separan un proyecto aprobado de uno rechazado:</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 1) en el video demo, ocultá siempre tus API Keys y credenciales. </a:t>
            </a:r>
            <a:endParaRPr b="0" i="0" sz="12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2) No pruebes solo el "camino feliz": mandá datos incompletos a propósito para confirmar que tus rutas de error aguantan. Resiliente = profesional.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2" name="Google Shape;232;p2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8F2E8"/>
                </a:solidFill>
                <a:latin typeface="Plus Jakarta Sans ExtraBold"/>
                <a:ea typeface="Plus Jakarta Sans ExtraBold"/>
                <a:cs typeface="Plus Jakarta Sans ExtraBold"/>
                <a:sym typeface="Plus Jakarta Sans ExtraBold"/>
              </a:rPr>
              <a:t>Calidad de arquitecto</a:t>
            </a:r>
            <a:endParaRPr b="0" i="0" sz="32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3"/>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Check de seguridad antes de enviar</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38" name="Google Shape;238;p23"/>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250" u="none" cap="none" strike="noStrike">
                <a:solidFill>
                  <a:srgbClr val="171717"/>
                </a:solidFill>
                <a:latin typeface="Plus Jakarta Sans"/>
                <a:ea typeface="Plus Jakarta Sans"/>
                <a:cs typeface="Plus Jakarta Sans"/>
                <a:sym typeface="Plus Jakarta Sans"/>
              </a:rPr>
              <a:t>¿Anti-bucle infinito?</a:t>
            </a:r>
            <a:endParaRPr b="0" i="0" sz="1600" u="none" cap="none" strike="noStrike">
              <a:solidFill>
                <a:srgbClr val="000000"/>
              </a:solidFill>
              <a:latin typeface="Arial"/>
              <a:ea typeface="Arial"/>
              <a:cs typeface="Arial"/>
              <a:sym typeface="Arial"/>
            </a:endParaRPr>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Asegurate de tener un filtro que corte los loops de correos o mensajes.</a:t>
            </a:r>
            <a:endParaRPr b="0" i="0" sz="1600" u="none" cap="none" strike="noStrike">
              <a:solidFill>
                <a:srgbClr val="000000"/>
              </a:solidFill>
              <a:latin typeface="Arial"/>
              <a:ea typeface="Arial"/>
              <a:cs typeface="Arial"/>
              <a:sym typeface="Arial"/>
            </a:endParaRPr>
          </a:p>
        </p:txBody>
      </p:sp>
      <p:sp>
        <p:nvSpPr>
          <p:cNvPr id="239" name="Google Shape;239;p23"/>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250" u="none" cap="none" strike="noStrike">
                <a:solidFill>
                  <a:srgbClr val="171717"/>
                </a:solidFill>
                <a:latin typeface="Plus Jakarta Sans"/>
                <a:ea typeface="Plus Jakarta Sans"/>
                <a:cs typeface="Plus Jakarta Sans"/>
                <a:sym typeface="Plus Jakarta Sans"/>
              </a:rPr>
              <a:t>¿Tipos de datos correctos?</a:t>
            </a:r>
            <a:endParaRPr b="0" i="0" sz="1600" u="none" cap="none" strike="noStrike">
              <a:solidFill>
                <a:srgbClr val="000000"/>
              </a:solidFill>
              <a:latin typeface="Arial"/>
              <a:ea typeface="Arial"/>
              <a:cs typeface="Arial"/>
              <a:sym typeface="Arial"/>
            </a:endParaRPr>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Compará número vs número, texto vs texto. Un tipo mal comparado rompe el filtro.</a:t>
            </a:r>
            <a:endParaRPr b="0" i="0" sz="1600" u="none" cap="none" strike="noStrike">
              <a:solidFill>
                <a:srgbClr val="000000"/>
              </a:solidFill>
              <a:latin typeface="Arial"/>
              <a:ea typeface="Arial"/>
              <a:cs typeface="Arial"/>
              <a:sym typeface="Arial"/>
            </a:endParaRPr>
          </a:p>
        </p:txBody>
      </p:sp>
      <p:sp>
        <p:nvSpPr>
          <p:cNvPr id="240" name="Google Shape;240;p23"/>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250" u="none" cap="none" strike="noStrike">
                <a:solidFill>
                  <a:srgbClr val="171717"/>
                </a:solidFill>
                <a:latin typeface="Plus Jakarta Sans"/>
                <a:ea typeface="Plus Jakarta Sans"/>
                <a:cs typeface="Plus Jakarta Sans"/>
                <a:sym typeface="Plus Jakarta Sans"/>
              </a:rPr>
              <a:t>¿Prompt dinámico?</a:t>
            </a:r>
            <a:endParaRPr b="0" i="0" sz="1600" u="none" cap="none" strike="noStrike">
              <a:solidFill>
                <a:srgbClr val="000000"/>
              </a:solidFill>
              <a:latin typeface="Arial"/>
              <a:ea typeface="Arial"/>
              <a:cs typeface="Arial"/>
              <a:sym typeface="Arial"/>
            </a:endParaRPr>
          </a:p>
          <a:p>
            <a:pPr indent="0" lvl="0" marL="0" marR="0" rtl="0" algn="ctr">
              <a:lnSpc>
                <a:spcPct val="105000"/>
              </a:lnSpc>
              <a:spcBef>
                <a:spcPts val="200"/>
              </a:spcBef>
              <a:spcAft>
                <a:spcPts val="0"/>
              </a:spcAft>
              <a:buClr>
                <a:srgbClr val="000000"/>
              </a:buClr>
              <a:buSzPts val="950"/>
              <a:buFont typeface="Arial"/>
              <a:buNone/>
            </a:pPr>
            <a:r>
              <a:rPr b="0" i="0" lang="es" sz="1150" u="none" cap="none" strike="noStrike">
                <a:solidFill>
                  <a:srgbClr val="171717"/>
                </a:solidFill>
                <a:latin typeface="Plus Jakarta Sans"/>
                <a:ea typeface="Plus Jakarta Sans"/>
                <a:cs typeface="Plus Jakarta Sans"/>
                <a:sym typeface="Plus Jakarta Sans"/>
              </a:rPr>
              <a:t>Tu prompt usa variables del sistema, no datos fijos escritos a mano.</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Tareas mecánicas → </a:t>
            </a:r>
            <a:r>
              <a:rPr b="0" i="0" lang="es" sz="1300" u="none" cap="none" strike="noStrike">
                <a:solidFill>
                  <a:srgbClr val="171717"/>
                </a:solidFill>
                <a:latin typeface="Plus Jakarta Sans"/>
                <a:ea typeface="Plus Jakarta Sans"/>
                <a:cs typeface="Plus Jakarta Sans"/>
                <a:sym typeface="Plus Jakarta Sans"/>
              </a:rPr>
              <a:t>un modelo económico (ej. GPT-4o-mini).</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Lectura densa y razonamiento → </a:t>
            </a:r>
            <a:r>
              <a:rPr b="0" i="0" lang="es" sz="1300" u="none" cap="none" strike="noStrike">
                <a:solidFill>
                  <a:srgbClr val="171717"/>
                </a:solidFill>
                <a:latin typeface="Plus Jakarta Sans"/>
                <a:ea typeface="Plus Jakarta Sans"/>
                <a:cs typeface="Plus Jakarta Sans"/>
                <a:sym typeface="Plus Jakarta Sans"/>
              </a:rPr>
              <a:t>Claude.</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Volúmenes masivos no urgentes → </a:t>
            </a:r>
            <a:r>
              <a:rPr b="0" i="0" lang="es" sz="1300" u="none" cap="none" strike="noStrike">
                <a:solidFill>
                  <a:srgbClr val="171717"/>
                </a:solidFill>
                <a:latin typeface="Plus Jakarta Sans"/>
                <a:ea typeface="Plus Jakarta Sans"/>
                <a:cs typeface="Plus Jakarta Sans"/>
                <a:sym typeface="Plus Jakarta Sans"/>
              </a:rPr>
              <a:t>la API de Batches (50% de ahorro).</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Justificá tus elecciones en un cuadro comparativo. Eso es pensar como arquitecto.</a:t>
            </a:r>
            <a:endParaRPr b="0" i="0" sz="1400" u="none" cap="none" strike="noStrike">
              <a:solidFill>
                <a:srgbClr val="000000"/>
              </a:solidFill>
              <a:latin typeface="Arial"/>
              <a:ea typeface="Arial"/>
              <a:cs typeface="Arial"/>
              <a:sym typeface="Arial"/>
            </a:endParaRPr>
          </a:p>
        </p:txBody>
      </p:sp>
      <p:sp>
        <p:nvSpPr>
          <p:cNvPr id="246" name="Google Shape;246;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La estrategia de costos</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47" name="Google Shape;247;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s" sz="1700" u="none" cap="none" strike="noStrike">
                <a:solidFill>
                  <a:srgbClr val="171717"/>
                </a:solidFill>
                <a:latin typeface="Plus Jakarta Sans"/>
                <a:ea typeface="Plus Jakarta Sans"/>
                <a:cs typeface="Plus Jakarta Sans"/>
                <a:sym typeface="Plus Jakarta Sans"/>
              </a:rPr>
              <a:t>El modelo justo para cada tarea</a:t>
            </a:r>
            <a:endParaRPr b="0" i="0" sz="17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5"/>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53" name="Google Shape;253;p25"/>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F8F2E8"/>
                </a:solidFill>
                <a:latin typeface="Plus Jakarta Sans ExtraBold"/>
                <a:ea typeface="Plus Jakarta Sans ExtraBold"/>
                <a:cs typeface="Plus Jakarta Sans ExtraBold"/>
                <a:sym typeface="Plus Jakarta Sans ExtraBold"/>
              </a:rPr>
              <a:t>Tu entrega final</a:t>
            </a:r>
            <a:endParaRPr b="0" i="0" sz="3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Diagrama de arquitectura: </a:t>
            </a:r>
            <a:r>
              <a:rPr b="0" i="0" lang="es" sz="1300" u="none" cap="none" strike="noStrike">
                <a:solidFill>
                  <a:srgbClr val="171717"/>
                </a:solidFill>
                <a:latin typeface="Plus Jakarta Sans"/>
                <a:ea typeface="Plus Jakarta Sans"/>
                <a:cs typeface="Plus Jakarta Sans"/>
                <a:sym typeface="Plus Jakarta Sans"/>
              </a:rPr>
              <a:t>un PDF con todo el sistema mapeado.</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Lógica del flujo: </a:t>
            </a:r>
            <a:r>
              <a:rPr b="0" i="0" lang="es" sz="1300" u="none" cap="none" strike="noStrike">
                <a:solidFill>
                  <a:srgbClr val="171717"/>
                </a:solidFill>
                <a:latin typeface="Plus Jakarta Sans"/>
                <a:ea typeface="Plus Jakarta Sans"/>
                <a:cs typeface="Plus Jakarta Sans"/>
                <a:sym typeface="Plus Jakarta Sans"/>
              </a:rPr>
              <a:t>el archivo .json (n8n) o .blueprint (Make).</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Base de datos: </a:t>
            </a:r>
            <a:r>
              <a:rPr b="0" i="0" lang="es" sz="1300" u="none" cap="none" strike="noStrike">
                <a:solidFill>
                  <a:srgbClr val="171717"/>
                </a:solidFill>
                <a:latin typeface="Plus Jakarta Sans"/>
                <a:ea typeface="Plus Jakarta Sans"/>
                <a:cs typeface="Plus Jakarta Sans"/>
                <a:sym typeface="Plus Jakarta Sans"/>
              </a:rPr>
              <a:t>link en modo lectura a tu Airtable/Notion.</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Evidencias: </a:t>
            </a:r>
            <a:r>
              <a:rPr b="0" i="0" lang="es" sz="1300" u="none" cap="none" strike="noStrike">
                <a:solidFill>
                  <a:srgbClr val="171717"/>
                </a:solidFill>
                <a:latin typeface="Plus Jakarta Sans"/>
                <a:ea typeface="Plus Jakarta Sans"/>
                <a:cs typeface="Plus Jakarta Sans"/>
                <a:sym typeface="Plus Jakarta Sans"/>
              </a:rPr>
              <a:t>screenshots del flujo funcionando.</a:t>
            </a:r>
            <a:endParaRPr b="0" i="0" sz="1400" u="none" cap="none" strike="noStrike">
              <a:solidFill>
                <a:srgbClr val="000000"/>
              </a:solidFill>
              <a:latin typeface="Arial"/>
              <a:ea typeface="Arial"/>
              <a:cs typeface="Arial"/>
              <a:sym typeface="Arial"/>
            </a:endParaRPr>
          </a:p>
        </p:txBody>
      </p:sp>
      <p:sp>
        <p:nvSpPr>
          <p:cNvPr id="259" name="Google Shape;259;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F632B"/>
                </a:solidFill>
                <a:latin typeface="Plus Jakarta Sans ExtraBold"/>
                <a:ea typeface="Plus Jakarta Sans ExtraBold"/>
                <a:cs typeface="Plus Jakarta Sans ExtraBold"/>
                <a:sym typeface="Plus Jakarta Sans ExtraBold"/>
              </a:rPr>
              <a:t>¿Qué entregás?</a:t>
            </a:r>
            <a:endParaRPr b="0" i="0" sz="3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60" name="Google Shape;260;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latin typeface="Plus Jakarta Sans"/>
                <a:ea typeface="Plus Jakarta Sans"/>
                <a:cs typeface="Plus Jakarta Sans"/>
                <a:sym typeface="Plus Jakarta Sans"/>
              </a:rPr>
              <a:t>Un repositorio en GitHub</a:t>
            </a:r>
            <a:endParaRPr b="0" i="0" sz="19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txBox="1"/>
          <p:nvPr/>
        </p:nvSpPr>
        <p:spPr>
          <a:xfrm>
            <a:off x="602400" y="659600"/>
            <a:ext cx="7749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parte 1</a:t>
            </a:r>
            <a:endParaRPr b="0" i="0" sz="2400" u="none" cap="none" strike="noStrike">
              <a:solidFill>
                <a:srgbClr val="260700"/>
              </a:solidFill>
              <a:latin typeface="Plus Jakarta Sans"/>
              <a:ea typeface="Plus Jakarta Sans"/>
              <a:cs typeface="Plus Jakarta Sans"/>
              <a:sym typeface="Plus Jakarta Sans"/>
            </a:endParaRPr>
          </a:p>
        </p:txBody>
      </p:sp>
      <p:sp>
        <p:nvSpPr>
          <p:cNvPr id="266" name="Google Shape;266;p27"/>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Mapa de arquitectura · 20%</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Modelado visual limpio: triggers, routers, APIs, nodos de IA y destino de los datos.</a:t>
            </a:r>
            <a:endParaRPr b="0" i="0" sz="1400" u="none" cap="none" strike="noStrike">
              <a:solidFill>
                <a:srgbClr val="000000"/>
              </a:solidFill>
              <a:latin typeface="Arial"/>
              <a:ea typeface="Arial"/>
              <a:cs typeface="Arial"/>
              <a:sym typeface="Arial"/>
            </a:endParaRPr>
          </a:p>
        </p:txBody>
      </p:sp>
      <p:sp>
        <p:nvSpPr>
          <p:cNvPr id="267" name="Google Shape;267;p27"/>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Manual de datos · 20%</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cerebro relacional en Airtable/Notion + los esquemas JSON de las integraciones.</a:t>
            </a:r>
            <a:endParaRPr b="0" i="0" sz="1400" u="none" cap="none" strike="noStrike">
              <a:solidFill>
                <a:srgbClr val="000000"/>
              </a:solidFill>
              <a:latin typeface="Arial"/>
              <a:ea typeface="Arial"/>
              <a:cs typeface="Arial"/>
              <a:sym typeface="Arial"/>
            </a:endParaRPr>
          </a:p>
        </p:txBody>
      </p:sp>
      <p:sp>
        <p:nvSpPr>
          <p:cNvPr id="268" name="Google Shape;268;p27"/>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Optimización de costos · 20%</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Cuadro comparativo y matriz que justifique qué modelo usás para cada 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28"/>
          <p:cNvSpPr txBox="1"/>
          <p:nvPr/>
        </p:nvSpPr>
        <p:spPr>
          <a:xfrm>
            <a:off x="602400" y="659600"/>
            <a:ext cx="72978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parte 2</a:t>
            </a:r>
            <a:endParaRPr b="0" i="0" sz="2400" u="none" cap="none" strike="noStrike">
              <a:solidFill>
                <a:srgbClr val="260700"/>
              </a:solidFill>
              <a:latin typeface="Plus Jakarta Sans"/>
              <a:ea typeface="Plus Jakarta Sans"/>
              <a:cs typeface="Plus Jakarta Sans"/>
              <a:sym typeface="Plus Jakarta Sans"/>
            </a:endParaRPr>
          </a:p>
        </p:txBody>
      </p:sp>
      <p:sp>
        <p:nvSpPr>
          <p:cNvPr id="274" name="Google Shape;274;p2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Seguridad y resiliencia · 20%</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Minimización de datos, Error Handlers y los puntos donde insertaste el HITL.</a:t>
            </a:r>
            <a:endParaRPr b="0" i="0" sz="1400" u="none" cap="none" strike="noStrike">
              <a:solidFill>
                <a:srgbClr val="000000"/>
              </a:solidFill>
              <a:latin typeface="Arial"/>
              <a:ea typeface="Arial"/>
              <a:cs typeface="Arial"/>
              <a:sym typeface="Arial"/>
            </a:endParaRPr>
          </a:p>
        </p:txBody>
      </p:sp>
      <p:sp>
        <p:nvSpPr>
          <p:cNvPr id="275" name="Google Shape;275;p2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Dashboard ejecutivo · 20%</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Enlace público (Notion/Airtable) con KPIs y tasa de errores en vivo.</a:t>
            </a:r>
            <a:endParaRPr b="0" i="0" sz="1400" u="none" cap="none" strike="noStrike">
              <a:solidFill>
                <a:srgbClr val="000000"/>
              </a:solidFill>
              <a:latin typeface="Arial"/>
              <a:ea typeface="Arial"/>
              <a:cs typeface="Arial"/>
              <a:sym typeface="Arial"/>
            </a:endParaRPr>
          </a:p>
        </p:txBody>
      </p:sp>
      <p:sp>
        <p:nvSpPr>
          <p:cNvPr id="276" name="Google Shape;276;p2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Aprobación · 70 pts</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Ojo: la Entrega Final aprueba con 70 (no 60). Cada criterio pesa 20%.</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sugerido:</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Diseño (caso de uso + base de datos) — 2 h.</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Construcción del flujo (orquestación + IA + HITL + salida) — 4 h.</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Pruebas, documentación y video — 2 h.</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8 horas (proyecto integrador).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2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repositorio GitHub con el PDF, el JSON/Blueprint, el link a la DB y screenshots.</a:t>
            </a:r>
            <a:endParaRPr b="0" i="0" sz="1400" u="none" cap="none" strike="noStrike">
              <a:solidFill>
                <a:srgbClr val="000000"/>
              </a:solidFill>
              <a:latin typeface="Arial"/>
              <a:ea typeface="Arial"/>
              <a:cs typeface="Arial"/>
              <a:sym typeface="Arial"/>
            </a:endParaRPr>
          </a:p>
        </p:txBody>
      </p:sp>
      <p:sp>
        <p:nvSpPr>
          <p:cNvPr id="282" name="Google Shape;282;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83" name="Google Shape;283;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Este proyecto es tu carta de presentación: un sistema real que resuelve un problema de negocio de punta a punta.</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Tu portfolio: </a:t>
            </a:r>
            <a:r>
              <a:rPr b="0" i="0" lang="es" sz="1300" u="none" cap="none" strike="noStrike">
                <a:solidFill>
                  <a:srgbClr val="171717"/>
                </a:solidFill>
                <a:latin typeface="Plus Jakarta Sans"/>
                <a:ea typeface="Plus Jakarta Sans"/>
                <a:cs typeface="Plus Jakarta Sans"/>
                <a:sym typeface="Plus Jakarta Sans"/>
              </a:rPr>
              <a:t>mostrá el repo y el video demo a clientes o empleadores.</a:t>
            </a:r>
            <a:endParaRPr b="0" i="0" sz="1400" u="none" cap="none" strike="noStrike">
              <a:solidFill>
                <a:srgbClr val="000000"/>
              </a:solidFill>
              <a:latin typeface="Arial"/>
              <a:ea typeface="Arial"/>
              <a:cs typeface="Arial"/>
              <a:sym typeface="Arial"/>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El siguiente nivel: </a:t>
            </a:r>
            <a:r>
              <a:rPr b="0" i="0" lang="es" sz="1300" u="none" cap="none" strike="noStrike">
                <a:solidFill>
                  <a:srgbClr val="171717"/>
                </a:solidFill>
                <a:latin typeface="Plus Jakarta Sans"/>
                <a:ea typeface="Plus Jakarta Sans"/>
                <a:cs typeface="Plus Jakarta Sans"/>
                <a:sym typeface="Plus Jakarta Sans"/>
              </a:rPr>
              <a:t>sumá más canales, agentes y dashboards a tu ecosistema.</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5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Dejaste de "usar IA" para diseñar sistemas que trabajan por vos.</a:t>
            </a:r>
            <a:endParaRPr b="0" i="0" sz="1400" u="none" cap="none" strike="noStrike">
              <a:solidFill>
                <a:srgbClr val="000000"/>
              </a:solidFill>
              <a:latin typeface="Arial"/>
              <a:ea typeface="Arial"/>
              <a:cs typeface="Arial"/>
              <a:sym typeface="Arial"/>
            </a:endParaRPr>
          </a:p>
        </p:txBody>
      </p:sp>
      <p:sp>
        <p:nvSpPr>
          <p:cNvPr id="289" name="Google Shape;289;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sigue tu camino?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0" name="Google Shape;290;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latin typeface="Plus Jakarta Sans"/>
                <a:ea typeface="Plus Jakarta Sans"/>
                <a:cs typeface="Plus Jakarta Sans"/>
                <a:sym typeface="Plus Jakarta Sans"/>
              </a:rPr>
              <a:t>Sos Arquitecto/a de Flujos IA</a:t>
            </a:r>
            <a:endParaRPr b="0" i="0" sz="19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2"/>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3600"/>
              <a:buFont typeface="Arial"/>
              <a:buNone/>
            </a:pPr>
            <a:r>
              <a:rPr b="0" i="0" lang="es" sz="3600" u="none" cap="none" strike="noStrike">
                <a:solidFill>
                  <a:srgbClr val="260700"/>
                </a:solidFill>
                <a:latin typeface="Plus Jakarta Sans ExtraBold"/>
                <a:ea typeface="Plus Jakarta Sans ExtraBold"/>
                <a:cs typeface="Plus Jakarta Sans ExtraBold"/>
                <a:sym typeface="Plus Jakarta Sans ExtraBold"/>
              </a:rPr>
              <a:t>¡Felicitaciones,</a:t>
            </a:r>
            <a:endParaRPr b="0" i="0" sz="36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3600"/>
              <a:buFont typeface="Arial"/>
              <a:buNone/>
            </a:pPr>
            <a:r>
              <a:rPr b="0" i="0" lang="es" sz="3600" u="none" cap="none" strike="noStrike">
                <a:solidFill>
                  <a:srgbClr val="260700"/>
                </a:solidFill>
                <a:latin typeface="Plus Jakarta Sans ExtraBold"/>
                <a:ea typeface="Plus Jakarta Sans ExtraBold"/>
                <a:cs typeface="Plus Jakarta Sans ExtraBold"/>
                <a:sym typeface="Plus Jakarta Sans ExtraBold"/>
              </a:rPr>
              <a:t>arquitecto/a!</a:t>
            </a:r>
            <a:endParaRPr b="0" i="0" sz="36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296" name="Google Shape;296;p32"/>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297" name="Google Shape;297;p32"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