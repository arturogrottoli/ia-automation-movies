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143500" cx="9144000"/>
  <p:notesSz cx="6858000" cy="9144000"/>
  <p:embeddedFontLst>
    <p:embeddedFont>
      <p:font typeface="Plus Jakarta Sans ExtraBold"/>
      <p:bold r:id="rId46"/>
      <p:boldItalic r:id="rId47"/>
    </p:embeddedFont>
    <p:embeddedFont>
      <p:font typeface="Plus Jakarta Sans"/>
      <p:regular r:id="rId48"/>
      <p:bold r:id="rId49"/>
      <p:italic r:id="rId50"/>
      <p:boldItalic r:id="rId51"/>
    </p:embeddedFont>
    <p:embeddedFont>
      <p:font typeface="Plus Jakarta Sans Light"/>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6" roundtripDataSignature="AMtx7mjHmvcJmmEMVS65II4toI5EoFVW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PlusJakartaSansExtraBold-bold.fntdata"/><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lusJakartaSans-regular.fntdata"/><Relationship Id="rId47" Type="http://schemas.openxmlformats.org/officeDocument/2006/relationships/font" Target="fonts/PlusJakartaSansExtraBold-boldItalic.fntdata"/><Relationship Id="rId49" Type="http://schemas.openxmlformats.org/officeDocument/2006/relationships/font" Target="fonts/PlusJakartaSans-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lusJakartaSans-boldItalic.fntdata"/><Relationship Id="rId50" Type="http://schemas.openxmlformats.org/officeDocument/2006/relationships/font" Target="fonts/PlusJakartaSans-italic.fntdata"/><Relationship Id="rId53" Type="http://schemas.openxmlformats.org/officeDocument/2006/relationships/font" Target="fonts/PlusJakartaSansLight-bold.fntdata"/><Relationship Id="rId52" Type="http://schemas.openxmlformats.org/officeDocument/2006/relationships/font" Target="fonts/PlusJakartaSansLight-regular.fntdata"/><Relationship Id="rId11" Type="http://schemas.openxmlformats.org/officeDocument/2006/relationships/slide" Target="slides/slide6.xml"/><Relationship Id="rId55" Type="http://schemas.openxmlformats.org/officeDocument/2006/relationships/font" Target="fonts/PlusJakartaSansLight-boldItalic.fntdata"/><Relationship Id="rId10" Type="http://schemas.openxmlformats.org/officeDocument/2006/relationships/slide" Target="slides/slide5.xml"/><Relationship Id="rId54" Type="http://schemas.openxmlformats.org/officeDocument/2006/relationships/font" Target="fonts/PlusJakartaSansLight-italic.fntdata"/><Relationship Id="rId13" Type="http://schemas.openxmlformats.org/officeDocument/2006/relationships/slide" Target="slides/slide8.xml"/><Relationship Id="rId12" Type="http://schemas.openxmlformats.org/officeDocument/2006/relationships/slide" Target="slides/slide7.xml"/><Relationship Id="rId56"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f1ced2c0b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3f1ced2c0b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e">
  <p:cSld name="BLANK_1">
    <p:spTree>
      <p:nvGrpSpPr>
        <p:cNvPr id="9" name="Shape 9"/>
        <p:cNvGrpSpPr/>
        <p:nvPr/>
      </p:nvGrpSpPr>
      <p:grpSpPr>
        <a:xfrm>
          <a:off x="0" y="0"/>
          <a:ext cx="0" cy="0"/>
          <a:chOff x="0" y="0"/>
          <a:chExt cx="0" cy="0"/>
        </a:xfrm>
      </p:grpSpPr>
      <p:pic>
        <p:nvPicPr>
          <p:cNvPr id="10" name="Google Shape;10;p43" title="Coder Facebook (6).png"/>
          <p:cNvPicPr preferRelativeResize="0"/>
          <p:nvPr/>
        </p:nvPicPr>
        <p:blipFill rotWithShape="1">
          <a:blip r:embed="rId2">
            <a:alphaModFix/>
          </a:blip>
          <a:srcRect b="0" l="0" r="0" t="0"/>
          <a:stretch/>
        </p:blipFill>
        <p:spPr>
          <a:xfrm>
            <a:off x="-111725" y="0"/>
            <a:ext cx="9255725" cy="520635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p:cSld name="BLANK_3">
    <p:bg>
      <p:bgPr>
        <a:solidFill>
          <a:schemeClr val="lt1"/>
        </a:solidFill>
      </p:bgPr>
    </p:bg>
    <p:spTree>
      <p:nvGrpSpPr>
        <p:cNvPr id="11" name="Shape 11"/>
        <p:cNvGrpSpPr/>
        <p:nvPr/>
      </p:nvGrpSpPr>
      <p:grpSpPr>
        <a:xfrm>
          <a:off x="0" y="0"/>
          <a:ext cx="0" cy="0"/>
          <a:chOff x="0" y="0"/>
          <a:chExt cx="0" cy="0"/>
        </a:xfrm>
      </p:grpSpPr>
      <p:sp>
        <p:nvSpPr>
          <p:cNvPr id="12" name="Google Shape;12;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13" name="Google Shape;13;p44"/>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Coderhouse</a:t>
            </a:r>
            <a:endParaRPr b="0" i="0" sz="500" u="none" cap="none" strike="noStrike">
              <a:solidFill>
                <a:srgbClr val="222224"/>
              </a:solidFill>
              <a:latin typeface="Plus Jakarta Sans"/>
              <a:ea typeface="Plus Jakarta Sans"/>
              <a:cs typeface="Plus Jakarta Sans"/>
              <a:sym typeface="Plus Jakarta Sans"/>
            </a:endParaRPr>
          </a:p>
        </p:txBody>
      </p:sp>
      <p:sp>
        <p:nvSpPr>
          <p:cNvPr id="14" name="Google Shape;14;p44"/>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Internal  Presentation</a:t>
            </a:r>
            <a:endParaRPr b="0" i="0" sz="500" u="none" cap="none" strike="noStrike">
              <a:solidFill>
                <a:srgbClr val="222224"/>
              </a:solidFill>
              <a:latin typeface="Plus Jakarta Sans"/>
              <a:ea typeface="Plus Jakarta Sans"/>
              <a:cs typeface="Plus Jakarta Sans"/>
              <a:sym typeface="Plus Jakarta Sans"/>
            </a:endParaRPr>
          </a:p>
        </p:txBody>
      </p:sp>
      <p:sp>
        <p:nvSpPr>
          <p:cNvPr id="15" name="Google Shape;15;p44"/>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2026</a:t>
            </a:r>
            <a:endParaRPr b="0" i="0" sz="500" u="none" cap="none" strike="noStrike">
              <a:solidFill>
                <a:srgbClr val="222224"/>
              </a:solidFill>
              <a:latin typeface="Plus Jakarta Sans"/>
              <a:ea typeface="Plus Jakarta Sans"/>
              <a:cs typeface="Plus Jakarta Sans"/>
              <a:sym typeface="Plus Jakarta Sans"/>
            </a:endParaRPr>
          </a:p>
        </p:txBody>
      </p:sp>
      <p:sp>
        <p:nvSpPr>
          <p:cNvPr id="16" name="Google Shape;16;p44"/>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222224"/>
                </a:solidFill>
                <a:latin typeface="Plus Jakarta Sans"/>
                <a:ea typeface="Plus Jakarta Sans"/>
                <a:cs typeface="Plus Jakarta Sans"/>
                <a:sym typeface="Plus Jakarta Sans"/>
              </a:rPr>
              <a:t>‹#›</a:t>
            </a:fld>
            <a:endParaRPr b="0" i="0" sz="500" u="none" cap="none" strike="noStrike">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eige" type="blank">
  <p:cSld name="BLANK">
    <p:bg>
      <p:bgPr>
        <a:solidFill>
          <a:srgbClr val="F8F2E8"/>
        </a:solidFill>
      </p:bgPr>
    </p:bg>
    <p:spTree>
      <p:nvGrpSpPr>
        <p:cNvPr id="17" name="Shape 17"/>
        <p:cNvGrpSpPr/>
        <p:nvPr/>
      </p:nvGrpSpPr>
      <p:grpSpPr>
        <a:xfrm>
          <a:off x="0" y="0"/>
          <a:ext cx="0" cy="0"/>
          <a:chOff x="0" y="0"/>
          <a:chExt cx="0" cy="0"/>
        </a:xfrm>
      </p:grpSpPr>
      <p:sp>
        <p:nvSpPr>
          <p:cNvPr id="18" name="Google Shape;18;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ranja">
  <p:cSld name="BLANK_2_1_1">
    <p:bg>
      <p:bgPr>
        <a:solidFill>
          <a:srgbClr val="FF632B"/>
        </a:solidFill>
      </p:bgPr>
    </p:bg>
    <p:spTree>
      <p:nvGrpSpPr>
        <p:cNvPr id="19" name="Shape 19"/>
        <p:cNvGrpSpPr/>
        <p:nvPr/>
      </p:nvGrpSpPr>
      <p:grpSpPr>
        <a:xfrm>
          <a:off x="0" y="0"/>
          <a:ext cx="0" cy="0"/>
          <a:chOff x="0" y="0"/>
          <a:chExt cx="0" cy="0"/>
        </a:xfrm>
      </p:grpSpPr>
      <p:sp>
        <p:nvSpPr>
          <p:cNvPr id="20" name="Google Shape;20;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rón">
  <p:cSld name="BLANK_2_1">
    <p:bg>
      <p:bgPr>
        <a:solidFill>
          <a:srgbClr val="260700"/>
        </a:solidFill>
      </p:bgPr>
    </p:bg>
    <p:spTree>
      <p:nvGrpSpPr>
        <p:cNvPr id="21" name="Shape 21"/>
        <p:cNvGrpSpPr/>
        <p:nvPr/>
      </p:nvGrpSpPr>
      <p:grpSpPr>
        <a:xfrm>
          <a:off x="0" y="0"/>
          <a:ext cx="0" cy="0"/>
          <a:chOff x="0" y="0"/>
          <a:chExt cx="0" cy="0"/>
        </a:xfrm>
      </p:grpSpPr>
      <p:sp>
        <p:nvSpPr>
          <p:cNvPr id="22" name="Google Shape;22;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sa">
  <p:cSld name="BLANK_2_1_1_1">
    <p:bg>
      <p:bgPr>
        <a:solidFill>
          <a:srgbClr val="FE64A3"/>
        </a:solidFill>
      </p:bgPr>
    </p:bg>
    <p:spTree>
      <p:nvGrpSpPr>
        <p:cNvPr id="23" name="Shape 23"/>
        <p:cNvGrpSpPr/>
        <p:nvPr/>
      </p:nvGrpSpPr>
      <p:grpSpPr>
        <a:xfrm>
          <a:off x="0" y="0"/>
          <a:ext cx="0" cy="0"/>
          <a:chOff x="0" y="0"/>
          <a:chExt cx="0" cy="0"/>
        </a:xfrm>
      </p:grpSpPr>
      <p:sp>
        <p:nvSpPr>
          <p:cNvPr id="24" name="Google Shape;24;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1">
  <p:cSld name="BLANK_3_1_1_1">
    <p:bg>
      <p:bgPr>
        <a:solidFill>
          <a:schemeClr val="lt1"/>
        </a:solidFill>
      </p:bgPr>
    </p:bg>
    <p:spTree>
      <p:nvGrpSpPr>
        <p:cNvPr id="25" name="Shape 25"/>
        <p:cNvGrpSpPr/>
        <p:nvPr/>
      </p:nvGrpSpPr>
      <p:grpSpPr>
        <a:xfrm>
          <a:off x="0" y="0"/>
          <a:ext cx="0" cy="0"/>
          <a:chOff x="0" y="0"/>
          <a:chExt cx="0" cy="0"/>
        </a:xfrm>
      </p:grpSpPr>
      <p:pic>
        <p:nvPicPr>
          <p:cNvPr id="26" name="Google Shape;26;p49" title="4d917f2d-7c08-49ef-b177-326a60a5c815.png"/>
          <p:cNvPicPr preferRelativeResize="0"/>
          <p:nvPr/>
        </p:nvPicPr>
        <p:blipFill rotWithShape="1">
          <a:blip r:embed="rId2">
            <a:alphaModFix/>
          </a:blip>
          <a:srcRect b="23542" l="0" r="0" t="34387"/>
          <a:stretch/>
        </p:blipFill>
        <p:spPr>
          <a:xfrm>
            <a:off x="-45875" y="-37100"/>
            <a:ext cx="9235753" cy="5180600"/>
          </a:xfrm>
          <a:prstGeom prst="rect">
            <a:avLst/>
          </a:prstGeom>
          <a:noFill/>
          <a:ln>
            <a:noFill/>
          </a:ln>
        </p:spPr>
      </p:pic>
      <p:sp>
        <p:nvSpPr>
          <p:cNvPr id="27" name="Google Shape;27;p49"/>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28" name="Google Shape;28;p49"/>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29" name="Google Shape;29;p49"/>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30" name="Google Shape;30;p49"/>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tardecer">
  <p:cSld name="BLANK_4">
    <p:bg>
      <p:bgPr>
        <a:solidFill>
          <a:srgbClr val="F8F2E8"/>
        </a:solidFill>
      </p:bgPr>
    </p:bg>
    <p:spTree>
      <p:nvGrpSpPr>
        <p:cNvPr id="31" name="Shape 31"/>
        <p:cNvGrpSpPr/>
        <p:nvPr/>
      </p:nvGrpSpPr>
      <p:grpSpPr>
        <a:xfrm>
          <a:off x="0" y="0"/>
          <a:ext cx="0" cy="0"/>
          <a:chOff x="0" y="0"/>
          <a:chExt cx="0" cy="0"/>
        </a:xfrm>
      </p:grpSpPr>
      <p:sp>
        <p:nvSpPr>
          <p:cNvPr id="32" name="Google Shape;32;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33" name="Google Shape;33;p50" title="Group 1321318181.png"/>
          <p:cNvPicPr preferRelativeResize="0"/>
          <p:nvPr/>
        </p:nvPicPr>
        <p:blipFill rotWithShape="1">
          <a:blip r:embed="rId2">
            <a:alphaModFix/>
          </a:blip>
          <a:srcRect b="0" l="0" r="0" t="0"/>
          <a:stretch/>
        </p:blipFill>
        <p:spPr>
          <a:xfrm>
            <a:off x="0" y="2076162"/>
            <a:ext cx="9143997" cy="306733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4" name="Shape 34"/>
        <p:cNvGrpSpPr/>
        <p:nvPr/>
      </p:nvGrpSpPr>
      <p:grpSpPr>
        <a:xfrm>
          <a:off x="0" y="0"/>
          <a:ext cx="0" cy="0"/>
          <a:chOff x="0" y="0"/>
          <a:chExt cx="0" cy="0"/>
        </a:xfrm>
      </p:grpSpPr>
      <p:sp>
        <p:nvSpPr>
          <p:cNvPr id="35" name="Google Shape;35;p5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6" name="Google Shape;36;p5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7" name="Google Shape;3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5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0" name="Google Shape;40;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sp>
        <p:nvSpPr>
          <p:cNvPr id="42" name="Google Shape;42;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 name="Google Shape;43;p5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5" name="Shape 45"/>
        <p:cNvGrpSpPr/>
        <p:nvPr/>
      </p:nvGrpSpPr>
      <p:grpSpPr>
        <a:xfrm>
          <a:off x="0" y="0"/>
          <a:ext cx="0" cy="0"/>
          <a:chOff x="0" y="0"/>
          <a:chExt cx="0" cy="0"/>
        </a:xfrm>
      </p:grpSpPr>
      <p:sp>
        <p:nvSpPr>
          <p:cNvPr id="46" name="Google Shape;46;p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7" name="Google Shape;47;p5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8" name="Google Shape;48;p5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9" name="Google Shape;49;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3" name="Shape 53"/>
        <p:cNvGrpSpPr/>
        <p:nvPr/>
      </p:nvGrpSpPr>
      <p:grpSpPr>
        <a:xfrm>
          <a:off x="0" y="0"/>
          <a:ext cx="0" cy="0"/>
          <a:chOff x="0" y="0"/>
          <a:chExt cx="0" cy="0"/>
        </a:xfrm>
      </p:grpSpPr>
      <p:sp>
        <p:nvSpPr>
          <p:cNvPr id="54" name="Google Shape;54;p5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5" name="Google Shape;55;p5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6" name="Google Shape;56;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7" name="Shape 57"/>
        <p:cNvGrpSpPr/>
        <p:nvPr/>
      </p:nvGrpSpPr>
      <p:grpSpPr>
        <a:xfrm>
          <a:off x="0" y="0"/>
          <a:ext cx="0" cy="0"/>
          <a:chOff x="0" y="0"/>
          <a:chExt cx="0" cy="0"/>
        </a:xfrm>
      </p:grpSpPr>
      <p:sp>
        <p:nvSpPr>
          <p:cNvPr id="58" name="Google Shape;58;p5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9" name="Google Shape;59;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0" name="Shape 60"/>
        <p:cNvGrpSpPr/>
        <p:nvPr/>
      </p:nvGrpSpPr>
      <p:grpSpPr>
        <a:xfrm>
          <a:off x="0" y="0"/>
          <a:ext cx="0" cy="0"/>
          <a:chOff x="0" y="0"/>
          <a:chExt cx="0" cy="0"/>
        </a:xfrm>
      </p:grpSpPr>
      <p:sp>
        <p:nvSpPr>
          <p:cNvPr id="61" name="Google Shape;61;p5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5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3" name="Google Shape;63;p5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5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5" name="Google Shape;65;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5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68" name="Google Shape;68;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9" name="Shape 69"/>
        <p:cNvGrpSpPr/>
        <p:nvPr/>
      </p:nvGrpSpPr>
      <p:grpSpPr>
        <a:xfrm>
          <a:off x="0" y="0"/>
          <a:ext cx="0" cy="0"/>
          <a:chOff x="0" y="0"/>
          <a:chExt cx="0" cy="0"/>
        </a:xfrm>
      </p:grpSpPr>
      <p:sp>
        <p:nvSpPr>
          <p:cNvPr id="70" name="Google Shape;70;p6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1" name="Google Shape;71;p6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72" name="Google Shape;72;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cSld name="BLANK_3_1">
    <p:bg>
      <p:bgPr>
        <a:solidFill>
          <a:schemeClr val="lt1"/>
        </a:solidFill>
      </p:bgPr>
    </p:bg>
    <p:spTree>
      <p:nvGrpSpPr>
        <p:cNvPr id="73" name="Shape 73"/>
        <p:cNvGrpSpPr/>
        <p:nvPr/>
      </p:nvGrpSpPr>
      <p:grpSpPr>
        <a:xfrm>
          <a:off x="0" y="0"/>
          <a:ext cx="0" cy="0"/>
          <a:chOff x="0" y="0"/>
          <a:chExt cx="0" cy="0"/>
        </a:xfrm>
      </p:grpSpPr>
      <p:pic>
        <p:nvPicPr>
          <p:cNvPr id="74" name="Google Shape;74;p61" title="27800720-6c2b-4e33-a6ed-849e08f57757.png"/>
          <p:cNvPicPr preferRelativeResize="0"/>
          <p:nvPr/>
        </p:nvPicPr>
        <p:blipFill rotWithShape="1">
          <a:blip r:embed="rId2">
            <a:alphaModFix/>
          </a:blip>
          <a:srcRect b="53399" l="0" r="0" t="15047"/>
          <a:stretch/>
        </p:blipFill>
        <p:spPr>
          <a:xfrm>
            <a:off x="-45875" y="-37100"/>
            <a:ext cx="9235751" cy="5180600"/>
          </a:xfrm>
          <a:prstGeom prst="rect">
            <a:avLst/>
          </a:prstGeom>
          <a:noFill/>
          <a:ln>
            <a:noFill/>
          </a:ln>
        </p:spPr>
      </p:pic>
      <p:sp>
        <p:nvSpPr>
          <p:cNvPr id="75" name="Google Shape;75;p61"/>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76" name="Google Shape;76;p61"/>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77" name="Google Shape;77;p61"/>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78" name="Google Shape;78;p61"/>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p:cSld name="BLANK_3_1_1">
    <p:bg>
      <p:bgPr>
        <a:solidFill>
          <a:schemeClr val="lt1"/>
        </a:solidFill>
      </p:bgPr>
    </p:bg>
    <p:spTree>
      <p:nvGrpSpPr>
        <p:cNvPr id="79" name="Shape 79"/>
        <p:cNvGrpSpPr/>
        <p:nvPr/>
      </p:nvGrpSpPr>
      <p:grpSpPr>
        <a:xfrm>
          <a:off x="0" y="0"/>
          <a:ext cx="0" cy="0"/>
          <a:chOff x="0" y="0"/>
          <a:chExt cx="0" cy="0"/>
        </a:xfrm>
      </p:grpSpPr>
      <p:pic>
        <p:nvPicPr>
          <p:cNvPr id="80" name="Google Shape;80;p62" title="pexels-dystopiasavagestudios-33048706 1.png"/>
          <p:cNvPicPr preferRelativeResize="0"/>
          <p:nvPr/>
        </p:nvPicPr>
        <p:blipFill rotWithShape="1">
          <a:blip r:embed="rId2">
            <a:alphaModFix/>
          </a:blip>
          <a:srcRect b="41728" l="0" r="0" t="13874"/>
          <a:stretch/>
        </p:blipFill>
        <p:spPr>
          <a:xfrm>
            <a:off x="-45875" y="-37100"/>
            <a:ext cx="9235753" cy="5180600"/>
          </a:xfrm>
          <a:prstGeom prst="rect">
            <a:avLst/>
          </a:prstGeom>
          <a:noFill/>
          <a:ln>
            <a:noFill/>
          </a:ln>
        </p:spPr>
      </p:pic>
      <p:sp>
        <p:nvSpPr>
          <p:cNvPr id="81" name="Google Shape;81;p62"/>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82" name="Google Shape;82;p62"/>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83" name="Google Shape;83;p62"/>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84" name="Google Shape;84;p62"/>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gro">
  <p:cSld name="BLANK_2">
    <p:bg>
      <p:bgPr>
        <a:solidFill>
          <a:srgbClr val="171717"/>
        </a:solidFill>
      </p:bgPr>
    </p:bg>
    <p:spTree>
      <p:nvGrpSpPr>
        <p:cNvPr id="85" name="Shape 85"/>
        <p:cNvGrpSpPr/>
        <p:nvPr/>
      </p:nvGrpSpPr>
      <p:grpSpPr>
        <a:xfrm>
          <a:off x="0" y="0"/>
          <a:ext cx="0" cy="0"/>
          <a:chOff x="0" y="0"/>
          <a:chExt cx="0" cy="0"/>
        </a:xfrm>
      </p:grpSpPr>
      <p:sp>
        <p:nvSpPr>
          <p:cNvPr id="86" name="Google Shape;86;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0.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txBox="1"/>
          <p:nvPr/>
        </p:nvSpPr>
        <p:spPr>
          <a:xfrm>
            <a:off x="1340550" y="1539125"/>
            <a:ext cx="6462900" cy="1389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600"/>
              <a:buFont typeface="Arial"/>
              <a:buNone/>
            </a:pPr>
            <a:r>
              <a:rPr b="0" i="0" lang="es" sz="6600" u="none" cap="none" strike="noStrike">
                <a:solidFill>
                  <a:srgbClr val="F8F2E8"/>
                </a:solidFill>
                <a:latin typeface="Plus Jakarta Sans ExtraBold"/>
                <a:ea typeface="Plus Jakarta Sans ExtraBold"/>
                <a:cs typeface="Plus Jakarta Sans ExtraBold"/>
                <a:sym typeface="Plus Jakarta Sans ExtraBold"/>
              </a:rPr>
              <a:t>IA Automation</a:t>
            </a:r>
            <a:endParaRPr b="0" i="0" sz="66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92" name="Google Shape;92;p1"/>
          <p:cNvSpPr txBox="1"/>
          <p:nvPr/>
        </p:nvSpPr>
        <p:spPr>
          <a:xfrm>
            <a:off x="1340550" y="133815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s" sz="1000" u="none" cap="none" strike="noStrike">
                <a:solidFill>
                  <a:srgbClr val="F8F2E8"/>
                </a:solidFill>
                <a:latin typeface="Plus Jakarta Sans Light"/>
                <a:ea typeface="Plus Jakarta Sans Light"/>
                <a:cs typeface="Plus Jakarta Sans Light"/>
                <a:sym typeface="Plus Jakarta Sans Light"/>
              </a:rPr>
              <a:t>Programa · Comisión 2026</a:t>
            </a:r>
            <a:endParaRPr b="0" i="0" sz="1000" u="none" cap="none" strike="noStrike">
              <a:solidFill>
                <a:srgbClr val="F8F2E8"/>
              </a:solidFill>
              <a:latin typeface="Plus Jakarta Sans Light"/>
              <a:ea typeface="Plus Jakarta Sans Light"/>
              <a:cs typeface="Plus Jakarta Sans Light"/>
              <a:sym typeface="Plus Jakarta Sans Light"/>
            </a:endParaRPr>
          </a:p>
        </p:txBody>
      </p:sp>
      <p:pic>
        <p:nvPicPr>
          <p:cNvPr id="93" name="Google Shape;93;p1" title="logo gradient 1.png"/>
          <p:cNvPicPr preferRelativeResize="0"/>
          <p:nvPr/>
        </p:nvPicPr>
        <p:blipFill rotWithShape="1">
          <a:blip r:embed="rId3">
            <a:alphaModFix/>
          </a:blip>
          <a:srcRect b="0" l="0" r="0" t="0"/>
          <a:stretch/>
        </p:blipFill>
        <p:spPr>
          <a:xfrm>
            <a:off x="3830803" y="4523150"/>
            <a:ext cx="1547950" cy="452250"/>
          </a:xfrm>
          <a:prstGeom prst="rect">
            <a:avLst/>
          </a:prstGeom>
          <a:noFill/>
          <a:ln>
            <a:noFill/>
          </a:ln>
        </p:spPr>
      </p:pic>
      <p:sp>
        <p:nvSpPr>
          <p:cNvPr id="94" name="Google Shape;94;p1"/>
          <p:cNvSpPr txBox="1"/>
          <p:nvPr/>
        </p:nvSpPr>
        <p:spPr>
          <a:xfrm>
            <a:off x="1373325" y="321955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s" sz="1600" u="none" cap="none" strike="noStrike">
                <a:solidFill>
                  <a:srgbClr val="F8F2E8"/>
                </a:solidFill>
                <a:latin typeface="Plus Jakarta Sans"/>
                <a:ea typeface="Plus Jakarta Sans"/>
                <a:cs typeface="Plus Jakarta Sans"/>
                <a:sym typeface="Plus Jakarta Sans"/>
              </a:rPr>
              <a:t>Módulo 6:</a:t>
            </a:r>
            <a:endParaRPr b="1" i="0" sz="1600" u="none" cap="none" strike="noStrike">
              <a:solidFill>
                <a:srgbClr val="F8F2E8"/>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1000"/>
              <a:buFont typeface="Arial"/>
              <a:buNone/>
            </a:pPr>
            <a:r>
              <a:rPr b="0" i="0" lang="es" sz="1600" u="none" cap="none" strike="noStrike">
                <a:solidFill>
                  <a:srgbClr val="F8F2E8"/>
                </a:solidFill>
                <a:latin typeface="Plus Jakarta Sans Light"/>
                <a:ea typeface="Plus Jakarta Sans Light"/>
                <a:cs typeface="Plus Jakarta Sans Light"/>
                <a:sym typeface="Plus Jakarta Sans Light"/>
              </a:rPr>
              <a:t>Inteligencia de Negocio con Anthropic Claude API</a:t>
            </a:r>
            <a:endParaRPr b="0" i="0" sz="1600" u="none" cap="none" strike="noStrike">
              <a:solidFill>
                <a:srgbClr val="F8F2E8"/>
              </a:solidFill>
              <a:latin typeface="Plus Jakarta Sans Light"/>
              <a:ea typeface="Plus Jakarta Sans Light"/>
              <a:cs typeface="Plus Jakarta Sans Light"/>
              <a:sym typeface="Plus Jakarta Sa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Objetivos</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00" name="Google Shape;100;p3"/>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Aprovechar el razonamiento profundo y la visión de documentos de Claude.</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Procesar volúmenes masivos a mitad de precio con la Message Batches API.</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Reducir costos hasta 90% en flujos recurrentes con Prompt Caching.</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Conectar Claude a tus herramientas con el Model Context Protocol (MCP).</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Diseñar prompts profesionales y una matriz de ahorro de costos.</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4"/>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Agenda</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06" name="Google Shape;106;p4"/>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Ventajas de Claude: razonamiento y visión de documentos.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Message Batches API: volúmenes a mitad de precio.</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Prompt Caching: flujos recurrentes económicos.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Model Context Protocol (MCP): contexto extendido.</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Pre-Entrega 6: tu estrategia de eficiencia.</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f1ced2c0bd_0_0"/>
          <p:cNvSpPr txBox="1"/>
          <p:nvPr/>
        </p:nvSpPr>
        <p:spPr>
          <a:xfrm>
            <a:off x="652525" y="1605717"/>
            <a:ext cx="7911300" cy="171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¡Esta clase va a ser     grabada!	</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112" name="Google Shape;112;g3f1ced2c0bd_0_0"/>
          <p:cNvSpPr/>
          <p:nvPr/>
        </p:nvSpPr>
        <p:spPr>
          <a:xfrm>
            <a:off x="4457845" y="3514842"/>
            <a:ext cx="228300" cy="228300"/>
          </a:xfrm>
          <a:prstGeom prst="ellipse">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6"/>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01</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18" name="Google Shape;118;p6"/>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800"/>
              <a:buFont typeface="Arial"/>
              <a:buNone/>
            </a:pPr>
            <a:r>
              <a:rPr b="0" i="0" lang="es" sz="3800" u="none" cap="none" strike="noStrike">
                <a:solidFill>
                  <a:srgbClr val="F8F2E8"/>
                </a:solidFill>
                <a:latin typeface="Plus Jakarta Sans ExtraBold"/>
                <a:ea typeface="Plus Jakarta Sans ExtraBold"/>
                <a:cs typeface="Plus Jakarta Sans ExtraBold"/>
                <a:sym typeface="Plus Jakarta Sans ExtraBold"/>
              </a:rPr>
              <a:t>Ventajas de Claude</a:t>
            </a:r>
            <a:endParaRPr b="0" i="0" sz="3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7"/>
          <p:cNvSpPr txBox="1"/>
          <p:nvPr/>
        </p:nvSpPr>
        <p:spPr>
          <a:xfrm>
            <a:off x="739075" y="2481425"/>
            <a:ext cx="59595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Claude no es un "chat" para preguntas rápidas: es un asistente que </a:t>
            </a:r>
            <a:r>
              <a:rPr b="1" i="0" lang="es" sz="1150" u="none" cap="none" strike="noStrike">
                <a:solidFill>
                  <a:srgbClr val="171717"/>
                </a:solidFill>
                <a:latin typeface="Plus Jakarta Sans"/>
                <a:ea typeface="Plus Jakarta Sans"/>
                <a:cs typeface="Plus Jakarta Sans"/>
                <a:sym typeface="Plus Jakarta Sans"/>
              </a:rPr>
              <a:t>lee, ve y razona</a:t>
            </a:r>
            <a:r>
              <a:rPr b="0" i="0" lang="es" sz="1150" u="none" cap="none" strike="noStrike">
                <a:solidFill>
                  <a:srgbClr val="171717"/>
                </a:solidFill>
                <a:latin typeface="Plus Jakarta Sans"/>
                <a:ea typeface="Plus Jakarta Sans"/>
                <a:cs typeface="Plus Jakarta Sans"/>
                <a:sym typeface="Plus Jakarta Sans"/>
              </a:rPr>
              <a:t> sobre montañas de información.</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No solo procesa datos: </a:t>
            </a:r>
            <a:r>
              <a:rPr b="0" i="0" lang="es" sz="1150" u="none" cap="none" strike="noStrike">
                <a:solidFill>
                  <a:srgbClr val="171717"/>
                </a:solidFill>
                <a:latin typeface="Plus Jakarta Sans"/>
                <a:ea typeface="Plus Jakarta Sans"/>
                <a:cs typeface="Plus Jakarta Sans"/>
                <a:sym typeface="Plus Jakarta Sans"/>
              </a:rPr>
              <a:t>entiende el tono, la intención y las sutilezas del lenguaje.</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No se cansa: </a:t>
            </a:r>
            <a:r>
              <a:rPr b="0" i="0" lang="es" sz="1150" u="none" cap="none" strike="noStrike">
                <a:solidFill>
                  <a:srgbClr val="171717"/>
                </a:solidFill>
                <a:latin typeface="Plus Jakarta Sans"/>
                <a:ea typeface="Plus Jakarta Sans"/>
                <a:cs typeface="Plus Jakarta Sans"/>
                <a:sym typeface="Plus Jakarta Sans"/>
              </a:rPr>
              <a:t>lee un libro entero en segundos y recuerda el capítulo 1 mientras analiza el 20.</a:t>
            </a:r>
            <a:endParaRPr/>
          </a:p>
        </p:txBody>
      </p:sp>
      <p:sp>
        <p:nvSpPr>
          <p:cNvPr id="124" name="Google Shape;124;p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171717"/>
                </a:solidFill>
                <a:latin typeface="Plus Jakarta Sans ExtraBold"/>
                <a:ea typeface="Plus Jakarta Sans ExtraBold"/>
                <a:cs typeface="Plus Jakarta Sans ExtraBold"/>
                <a:sym typeface="Plus Jakarta Sans ExtraBold"/>
              </a:rPr>
              <a:t>¿Por qué Claude?</a:t>
            </a:r>
            <a:endParaRPr b="0" i="0" sz="36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25" name="Google Shape;125;p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Un asistente ejecutivo</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nvSpPr>
        <p:spPr>
          <a:xfrm>
            <a:off x="739075" y="2481425"/>
            <a:ext cx="6565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La "ventana de contexto" es la memoria de corto plazo de la IA: su mesa de trabajo.</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Mesa chica: </a:t>
            </a:r>
            <a:r>
              <a:rPr b="0" i="0" lang="es" sz="1150" u="none" cap="none" strike="noStrike">
                <a:solidFill>
                  <a:srgbClr val="171717"/>
                </a:solidFill>
                <a:latin typeface="Plus Jakarta Sans"/>
                <a:ea typeface="Plus Jakarta Sans"/>
                <a:cs typeface="Plus Jakarta Sans"/>
                <a:sym typeface="Plus Jakarta Sans"/>
              </a:rPr>
              <a:t>si le ponés muchos papeles, los primeros se caen y los olvida.</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Claude tiene una mesa gigante: </a:t>
            </a:r>
            <a:r>
              <a:rPr b="0" i="0" lang="es" sz="1150" u="none" cap="none" strike="noStrike">
                <a:solidFill>
                  <a:srgbClr val="171717"/>
                </a:solidFill>
                <a:latin typeface="Plus Jakarta Sans"/>
                <a:ea typeface="Plus Jakarta Sans"/>
                <a:cs typeface="Plus Jakarta Sans"/>
                <a:sym typeface="Plus Jakarta Sans"/>
              </a:rPr>
              <a:t>200.000 tokens. Le subís 3 PDFs, la transcripción de una reunión de 2 hs y un manual, y los "ve" todos a la vez.</a:t>
            </a:r>
            <a:endParaRPr/>
          </a:p>
        </p:txBody>
      </p:sp>
      <p:sp>
        <p:nvSpPr>
          <p:cNvPr id="131" name="Google Shape;131;p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171717"/>
                </a:solidFill>
                <a:latin typeface="Plus Jakarta Sans ExtraBold"/>
                <a:ea typeface="Plus Jakarta Sans ExtraBold"/>
                <a:cs typeface="Plus Jakarta Sans ExtraBold"/>
                <a:sym typeface="Plus Jakarta Sans ExtraBold"/>
              </a:rPr>
              <a:t>La ventana de contexto</a:t>
            </a:r>
            <a:endParaRPr b="0" i="0" sz="3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32" name="Google Shape;132;p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Una memoria de elefante</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9"/>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Ante un problema complejo, Claude no lanza una cifra al azar: razona en pasos.</a:t>
            </a:r>
            <a:endParaRPr/>
          </a:p>
          <a:p>
            <a:pPr indent="-228600" lvl="0" marL="228600" marR="0" rtl="0" algn="l">
              <a:lnSpc>
                <a:spcPct val="110000"/>
              </a:lnSpc>
              <a:spcBef>
                <a:spcPts val="3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Descomposición: </a:t>
            </a:r>
            <a:r>
              <a:rPr b="0" i="0" lang="es" sz="1300" u="none" cap="none" strike="noStrike">
                <a:solidFill>
                  <a:srgbClr val="171717"/>
                </a:solidFill>
                <a:latin typeface="Plus Jakarta Sans"/>
                <a:ea typeface="Plus Jakarta Sans"/>
                <a:cs typeface="Plus Jakarta Sans"/>
                <a:sym typeface="Plus Jakarta Sans"/>
              </a:rPr>
              <a:t>divide el problema (gasto fijo vs. variable).</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Análisis interno: </a:t>
            </a:r>
            <a:r>
              <a:rPr b="0" i="0" lang="es" sz="1300" u="none" cap="none" strike="noStrike">
                <a:solidFill>
                  <a:srgbClr val="171717"/>
                </a:solidFill>
                <a:latin typeface="Plus Jakarta Sans"/>
                <a:ea typeface="Plus Jakarta Sans"/>
                <a:cs typeface="Plus Jakarta Sans"/>
                <a:sym typeface="Plus Jakarta Sans"/>
              </a:rPr>
              <a:t>revisa el documento que subiste buscando pruebas.</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Pensamiento extendido: </a:t>
            </a:r>
            <a:r>
              <a:rPr b="0" i="0" lang="es" sz="1300" u="none" cap="none" strike="noStrike">
                <a:solidFill>
                  <a:srgbClr val="171717"/>
                </a:solidFill>
                <a:latin typeface="Plus Jakarta Sans"/>
                <a:ea typeface="Plus Jakarta Sans"/>
                <a:cs typeface="Plus Jakarta Sans"/>
                <a:sym typeface="Plus Jakarta Sans"/>
              </a:rPr>
              <a:t>verifica su propia lógica antes de responder.</a:t>
            </a:r>
            <a:endParaRPr/>
          </a:p>
          <a:p>
            <a:pPr indent="0" lvl="0" marL="0" marR="0" rtl="0" algn="l">
              <a:lnSpc>
                <a:spcPct val="110000"/>
              </a:lnSpc>
              <a:spcBef>
                <a:spcPts val="30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La frase mágica: "Pensá paso a paso antes de darme la conclusión".</a:t>
            </a:r>
            <a:endParaRPr/>
          </a:p>
        </p:txBody>
      </p:sp>
      <p:sp>
        <p:nvSpPr>
          <p:cNvPr id="138" name="Google Shape;138;p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 sz="2700" u="none" cap="none" strike="noStrike">
                <a:solidFill>
                  <a:srgbClr val="FF632B"/>
                </a:solidFill>
                <a:latin typeface="Plus Jakarta Sans ExtraBold"/>
                <a:ea typeface="Plus Jakarta Sans ExtraBold"/>
                <a:cs typeface="Plus Jakarta Sans ExtraBold"/>
                <a:sym typeface="Plus Jakarta Sans ExtraBold"/>
              </a:rPr>
              <a:t>Razonamiento paso a paso</a:t>
            </a:r>
            <a:endParaRPr b="0" i="0" sz="27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39" name="Google Shape;139;p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Pensar antes de actuar</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0"/>
          <p:cNvSpPr txBox="1"/>
          <p:nvPr/>
        </p:nvSpPr>
        <p:spPr>
          <a:xfrm>
            <a:off x="739075" y="2481425"/>
            <a:ext cx="63261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Claude es multimodal: "ve" los elementos visuales dentro de un PDF, no solo el texto.</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Puede leer: </a:t>
            </a:r>
            <a:r>
              <a:rPr b="0" i="0" lang="es" sz="1150" u="none" cap="none" strike="noStrike">
                <a:solidFill>
                  <a:srgbClr val="171717"/>
                </a:solidFill>
                <a:latin typeface="Plus Jakarta Sans"/>
                <a:ea typeface="Plus Jakarta Sans"/>
                <a:cs typeface="Plus Jakarta Sans"/>
                <a:sym typeface="Plus Jakarta Sans"/>
              </a:rPr>
              <a:t>tablas complejas, gráficos de barras, diagramas de flujo.</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Ejemplo: </a:t>
            </a:r>
            <a:r>
              <a:rPr b="0" i="0" lang="es" sz="1150" u="none" cap="none" strike="noStrike">
                <a:solidFill>
                  <a:srgbClr val="171717"/>
                </a:solidFill>
                <a:latin typeface="Plus Jakarta Sans"/>
                <a:ea typeface="Plus Jakarta Sans"/>
                <a:cs typeface="Plus Jakarta Sans"/>
                <a:sym typeface="Plus Jakarta Sans"/>
              </a:rPr>
              <a:t>"Según el gráfico de la página 4, ¿cuál fue la región con menor crecimiento y por qué?". Ve el gráfico Y lee el texto.</a:t>
            </a:r>
            <a:endParaRPr/>
          </a:p>
        </p:txBody>
      </p:sp>
      <p:sp>
        <p:nvSpPr>
          <p:cNvPr id="145" name="Google Shape;145;p1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Visión de documentos</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46" name="Google Shape;146;p1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Más allá del texto</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1"/>
          <p:cNvSpPr txBox="1"/>
          <p:nvPr/>
        </p:nvSpPr>
        <p:spPr>
          <a:xfrm>
            <a:off x="601100" y="678225"/>
            <a:ext cx="82200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700"/>
              <a:buFont typeface="Arial"/>
              <a:buNone/>
            </a:pPr>
            <a:r>
              <a:rPr b="0" i="0" lang="es" sz="3700" u="none" cap="none" strike="noStrike">
                <a:solidFill>
                  <a:srgbClr val="260700"/>
                </a:solidFill>
                <a:latin typeface="Plus Jakarta Sans ExtraBold"/>
                <a:ea typeface="Plus Jakarta Sans ExtraBold"/>
                <a:cs typeface="Plus Jakarta Sans ExtraBold"/>
                <a:sym typeface="Plus Jakarta Sans ExtraBold"/>
              </a:rPr>
              <a:t>Errores comunes al usar Claude</a:t>
            </a:r>
            <a:endParaRPr b="0" i="0" sz="3700" u="none" cap="none" strike="noStrike">
              <a:solidFill>
                <a:srgbClr val="260700"/>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260700"/>
              </a:solidFill>
              <a:latin typeface="Plus Jakarta Sans ExtraBold"/>
              <a:ea typeface="Plus Jakarta Sans ExtraBold"/>
              <a:cs typeface="Plus Jakarta Sans ExtraBold"/>
              <a:sym typeface="Plus Jakarta Sans ExtraBold"/>
            </a:endParaRPr>
          </a:p>
        </p:txBody>
      </p:sp>
      <p:sp>
        <p:nvSpPr>
          <p:cNvPr id="152" name="Google Shape;152;p11"/>
          <p:cNvSpPr/>
          <p:nvPr/>
        </p:nvSpPr>
        <p:spPr>
          <a:xfrm flipH="1">
            <a:off x="752578" y="2177175"/>
            <a:ext cx="2328900" cy="2328900"/>
          </a:xfrm>
          <a:prstGeom prst="foldedCorner">
            <a:avLst>
              <a:gd fmla="val 16667" name="adj"/>
            </a:avLst>
          </a:prstGeom>
          <a:solidFill>
            <a:srgbClr val="FF632B"/>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100"/>
              <a:buFont typeface="Arial"/>
              <a:buNone/>
            </a:pPr>
            <a:r>
              <a:rPr b="1" i="0" lang="es" sz="1300" u="none" cap="none" strike="noStrike">
                <a:solidFill>
                  <a:srgbClr val="171717"/>
                </a:solidFill>
                <a:latin typeface="Plus Jakarta Sans"/>
                <a:ea typeface="Plus Jakarta Sans"/>
                <a:cs typeface="Plus Jakarta Sans"/>
                <a:sym typeface="Plus Jakarta Sans"/>
              </a:rPr>
              <a:t>Copiar y pegar fragmentos</a:t>
            </a:r>
            <a:endParaRPr sz="1600"/>
          </a:p>
          <a:p>
            <a:pPr indent="0" lvl="0" marL="0" marR="0" rtl="0" algn="ctr">
              <a:lnSpc>
                <a:spcPct val="105000"/>
              </a:lnSpc>
              <a:spcBef>
                <a:spcPts val="200"/>
              </a:spcBef>
              <a:spcAft>
                <a:spcPts val="0"/>
              </a:spcAft>
              <a:buClr>
                <a:srgbClr val="000000"/>
              </a:buClr>
              <a:buSzPts val="950"/>
              <a:buFont typeface="Arial"/>
              <a:buNone/>
            </a:pPr>
            <a:r>
              <a:rPr b="0" i="0" lang="es" sz="1150" u="none" cap="none" strike="noStrike">
                <a:solidFill>
                  <a:srgbClr val="171717"/>
                </a:solidFill>
                <a:latin typeface="Plus Jakarta Sans"/>
                <a:ea typeface="Plus Jakarta Sans"/>
                <a:cs typeface="Plus Jakarta Sans"/>
                <a:sym typeface="Plus Jakarta Sans"/>
              </a:rPr>
              <a:t>Perdés formato, tablas e imágenes. Subí el archivo original (.pdf, .docx) directamente.</a:t>
            </a:r>
            <a:endParaRPr sz="1600"/>
          </a:p>
        </p:txBody>
      </p:sp>
      <p:sp>
        <p:nvSpPr>
          <p:cNvPr id="153" name="Google Shape;153;p11"/>
          <p:cNvSpPr/>
          <p:nvPr/>
        </p:nvSpPr>
        <p:spPr>
          <a:xfrm flipH="1">
            <a:off x="3215420" y="2177175"/>
            <a:ext cx="2328900" cy="2328900"/>
          </a:xfrm>
          <a:prstGeom prst="foldedCorner">
            <a:avLst>
              <a:gd fmla="val 16667" name="adj"/>
            </a:avLst>
          </a:prstGeom>
          <a:solidFill>
            <a:srgbClr val="FE64A3"/>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100"/>
              <a:buFont typeface="Arial"/>
              <a:buNone/>
            </a:pPr>
            <a:r>
              <a:rPr b="1" i="0" lang="es" sz="1300" u="none" cap="none" strike="noStrike">
                <a:solidFill>
                  <a:srgbClr val="171717"/>
                </a:solidFill>
                <a:latin typeface="Plus Jakarta Sans"/>
                <a:ea typeface="Plus Jakarta Sans"/>
                <a:cs typeface="Plus Jakarta Sans"/>
                <a:sym typeface="Plus Jakarta Sans"/>
              </a:rPr>
              <a:t>Pedir resúmenes genéricos</a:t>
            </a:r>
            <a:endParaRPr sz="1600"/>
          </a:p>
          <a:p>
            <a:pPr indent="0" lvl="0" marL="0" marR="0" rtl="0" algn="ctr">
              <a:lnSpc>
                <a:spcPct val="105000"/>
              </a:lnSpc>
              <a:spcBef>
                <a:spcPts val="200"/>
              </a:spcBef>
              <a:spcAft>
                <a:spcPts val="0"/>
              </a:spcAft>
              <a:buClr>
                <a:srgbClr val="000000"/>
              </a:buClr>
              <a:buSzPts val="950"/>
              <a:buFont typeface="Arial"/>
              <a:buNone/>
            </a:pPr>
            <a:r>
              <a:rPr b="0" i="0" lang="es" sz="1150" u="none" cap="none" strike="noStrike">
                <a:solidFill>
                  <a:srgbClr val="171717"/>
                </a:solidFill>
                <a:latin typeface="Plus Jakarta Sans"/>
                <a:ea typeface="Plus Jakarta Sans"/>
                <a:cs typeface="Plus Jakarta Sans"/>
                <a:sym typeface="Plus Jakarta Sans"/>
              </a:rPr>
              <a:t>"Resumí este PDF" da algo vago. Dale un rol y un objetivo concreto.</a:t>
            </a:r>
            <a:endParaRPr sz="1600"/>
          </a:p>
        </p:txBody>
      </p:sp>
      <p:sp>
        <p:nvSpPr>
          <p:cNvPr id="154" name="Google Shape;154;p11"/>
          <p:cNvSpPr/>
          <p:nvPr/>
        </p:nvSpPr>
        <p:spPr>
          <a:xfrm flipH="1">
            <a:off x="5741925" y="2177175"/>
            <a:ext cx="2328900" cy="2328900"/>
          </a:xfrm>
          <a:prstGeom prst="foldedCorner">
            <a:avLst>
              <a:gd fmla="val 16667" name="adj"/>
            </a:avLst>
          </a:prstGeom>
          <a:solidFill>
            <a:srgbClr val="FDAB2E"/>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100"/>
              <a:buFont typeface="Arial"/>
              <a:buNone/>
            </a:pPr>
            <a:r>
              <a:rPr b="1" i="0" lang="es" sz="1300" u="none" cap="none" strike="noStrike">
                <a:solidFill>
                  <a:srgbClr val="171717"/>
                </a:solidFill>
                <a:latin typeface="Plus Jakarta Sans"/>
                <a:ea typeface="Plus Jakarta Sans"/>
                <a:cs typeface="Plus Jakarta Sans"/>
                <a:sym typeface="Plus Jakarta Sans"/>
              </a:rPr>
              <a:t>No pedir paso a paso</a:t>
            </a:r>
            <a:endParaRPr sz="1600"/>
          </a:p>
          <a:p>
            <a:pPr indent="0" lvl="0" marL="0" marR="0" rtl="0" algn="ctr">
              <a:lnSpc>
                <a:spcPct val="105000"/>
              </a:lnSpc>
              <a:spcBef>
                <a:spcPts val="200"/>
              </a:spcBef>
              <a:spcAft>
                <a:spcPts val="0"/>
              </a:spcAft>
              <a:buClr>
                <a:srgbClr val="000000"/>
              </a:buClr>
              <a:buSzPts val="950"/>
              <a:buFont typeface="Arial"/>
              <a:buNone/>
            </a:pPr>
            <a:r>
              <a:rPr b="0" i="0" lang="es" sz="1150" u="none" cap="none" strike="noStrike">
                <a:solidFill>
                  <a:srgbClr val="171717"/>
                </a:solidFill>
                <a:latin typeface="Plus Jakarta Sans"/>
                <a:ea typeface="Plus Jakarta Sans"/>
                <a:cs typeface="Plus Jakarta Sans"/>
                <a:sym typeface="Plus Jakarta Sans"/>
              </a:rPr>
              <a:t>Sin guía, Claude salta pasos. Usá "pensá paso a paso antes de concluir".</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2"/>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2"/>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161" name="Google Shape;161;p12"/>
          <p:cNvSpPr txBox="1"/>
          <p:nvPr/>
        </p:nvSpPr>
        <p:spPr>
          <a:xfrm>
            <a:off x="730900" y="20159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Actividad colaborativa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Para pensar</a:t>
            </a:r>
            <a:endParaRPr b="0" i="0" sz="5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Coder Tips</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162" name="Google Shape;162;p12"/>
          <p:cNvSpPr txBox="1"/>
          <p:nvPr/>
        </p:nvSpPr>
        <p:spPr>
          <a:xfrm>
            <a:off x="6075175" y="2930864"/>
            <a:ext cx="2457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Pensá en una tarea de análisis que hacés a mano cada semana (leer reportes, revisar contratos). ¿Cuántas páginas son? Esa montaña es justo lo que Claude puede leer y razonar en segundos.</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3"/>
          <p:cNvSpPr txBox="1"/>
          <p:nvPr/>
        </p:nvSpPr>
        <p:spPr>
          <a:xfrm>
            <a:off x="739075" y="2481425"/>
            <a:ext cx="65748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escribir un prompt profesional para tu tarea masiva.</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Asignále a Claude un rol experto y un objetivo detallado ("Actuá como mi asesor financiero...").</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Sumá "Pensá paso a paso antes de darme la conclusión".</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tu plantilla de prompt. Ladrillo 1 de la Pre-Entrega 6.</a:t>
            </a:r>
            <a:endParaRPr/>
          </a:p>
        </p:txBody>
      </p:sp>
      <p:sp>
        <p:nvSpPr>
          <p:cNvPr id="168" name="Google Shape;168;p13"/>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1</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69" name="Google Shape;169;p13"/>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Tu plantilla de prompt</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4"/>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02</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175" name="Google Shape;175;p14"/>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F8F2E8"/>
                </a:solidFill>
                <a:latin typeface="Plus Jakarta Sans ExtraBold"/>
                <a:ea typeface="Plus Jakarta Sans ExtraBold"/>
                <a:cs typeface="Plus Jakarta Sans ExtraBold"/>
                <a:sym typeface="Plus Jakarta Sans ExtraBold"/>
              </a:rPr>
              <a:t>Message Batches API</a:t>
            </a:r>
            <a:endParaRPr b="0" i="0" sz="36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5"/>
          <p:cNvSpPr txBox="1"/>
          <p:nvPr/>
        </p:nvSpPr>
        <p:spPr>
          <a:xfrm>
            <a:off x="739075" y="2481425"/>
            <a:ext cx="60459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En vez de pedir respuestas de a una (caro y lento), mandás un </a:t>
            </a:r>
            <a:r>
              <a:rPr b="1" i="0" lang="es" sz="1150" u="none" cap="none" strike="noStrike">
                <a:solidFill>
                  <a:srgbClr val="171717"/>
                </a:solidFill>
                <a:latin typeface="Plus Jakarta Sans"/>
                <a:ea typeface="Plus Jakarta Sans"/>
                <a:cs typeface="Plus Jakarta Sans"/>
                <a:sym typeface="Plus Jakarta Sans"/>
              </a:rPr>
              <a:t>lote de cientos de pedidos juntos</a:t>
            </a:r>
            <a:r>
              <a:rPr b="0" i="0" lang="es" sz="1150" u="none" cap="none" strike="noStrike">
                <a:solidFill>
                  <a:srgbClr val="171717"/>
                </a:solidFill>
                <a:latin typeface="Plus Jakarta Sans"/>
                <a:ea typeface="Plus Jakarta Sans"/>
                <a:cs typeface="Plus Jakarta Sans"/>
                <a:sym typeface="Plus Jakarta Sans"/>
              </a:rPr>
              <a:t>.</a:t>
            </a:r>
            <a:endParaRPr/>
          </a:p>
          <a:p>
            <a:pPr indent="0" lvl="0" marL="0" marR="0" rtl="0" algn="l">
              <a:lnSpc>
                <a:spcPct val="110000"/>
              </a:lnSpc>
              <a:spcBef>
                <a:spcPts val="2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Asíncrono: </a:t>
            </a:r>
            <a:r>
              <a:rPr b="0" i="0" lang="es" sz="1150" u="none" cap="none" strike="noStrike">
                <a:solidFill>
                  <a:srgbClr val="171717"/>
                </a:solidFill>
                <a:latin typeface="Plus Jakarta Sans"/>
                <a:ea typeface="Plus Jakarta Sans"/>
                <a:cs typeface="Plus Jakarta Sans"/>
                <a:sym typeface="Plus Jakarta Sans"/>
              </a:rPr>
              <a:t>Claude lo procesa cuando tiene menos carga y te entrega todo en máximo 24 hs.</a:t>
            </a:r>
            <a:endParaRPr/>
          </a:p>
          <a:p>
            <a:pPr indent="0" lvl="0" marL="0" marR="0" rtl="0" algn="l">
              <a:lnSpc>
                <a:spcPct val="110000"/>
              </a:lnSpc>
              <a:spcBef>
                <a:spcPts val="2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El proceso: </a:t>
            </a:r>
            <a:r>
              <a:rPr b="0" i="0" lang="es" sz="1150" u="none" cap="none" strike="noStrike">
                <a:solidFill>
                  <a:srgbClr val="171717"/>
                </a:solidFill>
                <a:latin typeface="Plus Jakarta Sans"/>
                <a:ea typeface="Plus Jakarta Sans"/>
                <a:cs typeface="Plus Jakarta Sans"/>
                <a:sym typeface="Plus Jakarta Sans"/>
              </a:rPr>
              <a:t>armás el "sobre" con las peticiones → lo enviás (te da un ID) → recogés todas las respuestas juntas.</a:t>
            </a:r>
            <a:endParaRPr/>
          </a:p>
          <a:p>
            <a:pPr indent="0" lvl="0" marL="0" marR="0" rtl="0" algn="l">
              <a:lnSpc>
                <a:spcPct val="110000"/>
              </a:lnSpc>
              <a:spcBef>
                <a:spcPts val="2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La regla de oro: </a:t>
            </a:r>
            <a:r>
              <a:rPr b="0" i="0" lang="es" sz="1150" u="none" cap="none" strike="noStrike">
                <a:solidFill>
                  <a:srgbClr val="171717"/>
                </a:solidFill>
                <a:latin typeface="Plus Jakarta Sans"/>
                <a:ea typeface="Plus Jakarta Sans"/>
                <a:cs typeface="Plus Jakarta Sans"/>
                <a:sym typeface="Plus Jakarta Sans"/>
              </a:rPr>
              <a:t>50% de descuento por esperar.</a:t>
            </a:r>
            <a:endParaRPr/>
          </a:p>
        </p:txBody>
      </p:sp>
      <p:sp>
        <p:nvSpPr>
          <p:cNvPr id="181" name="Google Shape;181;p1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171717"/>
                </a:solidFill>
                <a:latin typeface="Plus Jakarta Sans ExtraBold"/>
                <a:ea typeface="Plus Jakarta Sans ExtraBold"/>
                <a:cs typeface="Plus Jakarta Sans ExtraBold"/>
                <a:sym typeface="Plus Jakarta Sans ExtraBold"/>
              </a:rPr>
              <a:t>Message Batches API</a:t>
            </a:r>
            <a:endParaRPr b="0" i="0" sz="3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82" name="Google Shape;182;p1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La lavandería industrial</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Normal vs. Batch</a:t>
            </a:r>
            <a:endParaRPr b="0" i="0" sz="2400" u="none" cap="none" strike="noStrike">
              <a:solidFill>
                <a:srgbClr val="260700"/>
              </a:solidFill>
              <a:latin typeface="Plus Jakarta Sans"/>
              <a:ea typeface="Plus Jakarta Sans"/>
              <a:cs typeface="Plus Jakarta Sans"/>
              <a:sym typeface="Plus Jakarta Sans"/>
            </a:endParaRPr>
          </a:p>
        </p:txBody>
      </p:sp>
      <p:sp>
        <p:nvSpPr>
          <p:cNvPr id="188" name="Google Shape;188;p16"/>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Llamada normal</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Respuesta en segundos. 100% del precio. Ideal para chatbots y atención en vivo.</a:t>
            </a:r>
            <a:endParaRPr/>
          </a:p>
        </p:txBody>
      </p:sp>
      <p:sp>
        <p:nvSpPr>
          <p:cNvPr id="189" name="Google Shape;189;p16"/>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Message Batch</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Hasta 24 hs de espera. 50% del precio. Ideal para análisis, reportes y contenido masivo.</a:t>
            </a:r>
            <a:endParaRPr/>
          </a:p>
        </p:txBody>
      </p:sp>
      <p:sp>
        <p:nvSpPr>
          <p:cNvPr id="190" name="Google Shape;190;p16"/>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La diferencia</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Es el mismo modelo y la misma calidad. Solo cambia el horario en que se procesa.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7"/>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0000"/>
              </a:lnSpc>
              <a:spcBef>
                <a:spcPts val="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Análisis de campañas: </a:t>
            </a:r>
            <a:r>
              <a:rPr b="0" i="0" lang="es" sz="1300" u="none" cap="none" strike="noStrike">
                <a:solidFill>
                  <a:srgbClr val="171717"/>
                </a:solidFill>
                <a:latin typeface="Plus Jakarta Sans"/>
                <a:ea typeface="Plus Jakarta Sans"/>
                <a:cs typeface="Plus Jakarta Sans"/>
                <a:sym typeface="Plus Jakarta Sans"/>
              </a:rPr>
              <a:t>500 anuncios para el reporte del lunes.</a:t>
            </a:r>
            <a:endParaRPr/>
          </a:p>
          <a:p>
            <a:pPr indent="-228600" lvl="0" marL="228600" marR="0" rtl="0" algn="l">
              <a:lnSpc>
                <a:spcPct val="110000"/>
              </a:lnSpc>
              <a:spcBef>
                <a:spcPts val="18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Scoring de leads: </a:t>
            </a:r>
            <a:r>
              <a:rPr b="0" i="0" lang="es" sz="1300" u="none" cap="none" strike="noStrike">
                <a:solidFill>
                  <a:srgbClr val="171717"/>
                </a:solidFill>
                <a:latin typeface="Plus Jakarta Sans"/>
                <a:ea typeface="Plus Jakarta Sans"/>
                <a:cs typeface="Plus Jakarta Sans"/>
                <a:sym typeface="Plus Jakarta Sans"/>
              </a:rPr>
              <a:t>1.000 registros calificados antes de que entre ventas.</a:t>
            </a:r>
            <a:endParaRPr/>
          </a:p>
          <a:p>
            <a:pPr indent="-228600" lvl="0" marL="228600" marR="0" rtl="0" algn="l">
              <a:lnSpc>
                <a:spcPct val="110000"/>
              </a:lnSpc>
              <a:spcBef>
                <a:spcPts val="18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Contenido masivo: </a:t>
            </a:r>
            <a:r>
              <a:rPr b="0" i="0" lang="es" sz="1300" u="none" cap="none" strike="noStrike">
                <a:solidFill>
                  <a:srgbClr val="171717"/>
                </a:solidFill>
                <a:latin typeface="Plus Jakarta Sans"/>
                <a:ea typeface="Plus Jakarta Sans"/>
                <a:cs typeface="Plus Jakarta Sans"/>
                <a:sym typeface="Plus Jakarta Sans"/>
              </a:rPr>
              <a:t>descripciones para 300 productos nuevos.</a:t>
            </a:r>
            <a:endParaRPr/>
          </a:p>
          <a:p>
            <a:pPr indent="-228600" lvl="0" marL="228600" marR="0" rtl="0" algn="l">
              <a:lnSpc>
                <a:spcPct val="110000"/>
              </a:lnSpc>
              <a:spcBef>
                <a:spcPts val="18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Auditoría de docs: </a:t>
            </a:r>
            <a:r>
              <a:rPr b="0" i="0" lang="es" sz="1300" u="none" cap="none" strike="noStrike">
                <a:solidFill>
                  <a:srgbClr val="171717"/>
                </a:solidFill>
                <a:latin typeface="Plus Jakarta Sans"/>
                <a:ea typeface="Plus Jakarta Sans"/>
                <a:cs typeface="Plus Jakarta Sans"/>
                <a:sym typeface="Plus Jakarta Sans"/>
              </a:rPr>
              <a:t>100 contratos para extraer vencimientos.</a:t>
            </a:r>
            <a:endParaRPr/>
          </a:p>
          <a:p>
            <a:pPr indent="0" lvl="0" marL="0" marR="0" rtl="0" algn="l">
              <a:lnSpc>
                <a:spcPct val="110000"/>
              </a:lnSpc>
              <a:spcBef>
                <a:spcPts val="30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La regla: si la tarea puede esperar a que tomes un café o pase la noche, debe ser un Batch.</a:t>
            </a:r>
            <a:endParaRPr/>
          </a:p>
        </p:txBody>
      </p:sp>
      <p:sp>
        <p:nvSpPr>
          <p:cNvPr id="196" name="Google Shape;196;p1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FF632B"/>
                </a:solidFill>
                <a:latin typeface="Plus Jakarta Sans ExtraBold"/>
                <a:ea typeface="Plus Jakarta Sans ExtraBold"/>
                <a:cs typeface="Plus Jakarta Sans ExtraBold"/>
                <a:sym typeface="Plus Jakarta Sans ExtraBold"/>
              </a:rPr>
              <a:t>¿Cuándo usar lotes?</a:t>
            </a:r>
            <a:endParaRPr b="0" i="0" sz="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97" name="Google Shape;197;p1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Si puede esperar, es Batch</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8"/>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8"/>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204" name="Google Shape;204;p18"/>
          <p:cNvSpPr txBox="1"/>
          <p:nvPr/>
        </p:nvSpPr>
        <p:spPr>
          <a:xfrm>
            <a:off x="134825" y="2063992"/>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260700"/>
                </a:solidFill>
                <a:latin typeface="Plus Jakarta Sans ExtraBold"/>
                <a:ea typeface="Plus Jakarta Sans ExtraBold"/>
                <a:cs typeface="Plus Jakarta Sans ExtraBold"/>
                <a:sym typeface="Plus Jakarta Sans ExtraBold"/>
              </a:rPr>
              <a:t>Coder Tips</a:t>
            </a:r>
            <a:endParaRPr b="0" i="0" sz="4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205" name="Google Shape;205;p18"/>
          <p:cNvSpPr txBox="1"/>
          <p:nvPr/>
        </p:nvSpPr>
        <p:spPr>
          <a:xfrm>
            <a:off x="5823700" y="2481425"/>
            <a:ext cx="2997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La combinación ganadora: Prompt Caching + Batches. Si el 90% de tu instrucción es siempre la misma (el rol, el manual) la cacheás; y la generación masiva la mandás por lotes al 50%. Procesos que costaban 100 USD pasan a costar 10 o 15.</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9"/>
          <p:cNvSpPr txBox="1"/>
          <p:nvPr/>
        </p:nvSpPr>
        <p:spPr>
          <a:xfrm>
            <a:off x="739075" y="2481425"/>
            <a:ext cx="56517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diseñar tu procesamiento masivo no urgente.</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Elegí un volumen masivo (ej. 500 reseñas o contratos) y describí el flujo Batch.</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Marcá los tiempos: envío → espera (hasta 24 hs) → recogida de resultados.</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tu flujo por lotes modelado. Ladrillo 2.</a:t>
            </a:r>
            <a:endParaRPr/>
          </a:p>
        </p:txBody>
      </p:sp>
      <p:sp>
        <p:nvSpPr>
          <p:cNvPr id="211" name="Google Shape;211;p1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2</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12" name="Google Shape;212;p1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171717"/>
                </a:solidFill>
                <a:highlight>
                  <a:srgbClr val="FDAB2E"/>
                </a:highlight>
                <a:latin typeface="Plus Jakarta Sans"/>
                <a:ea typeface="Plus Jakarta Sans"/>
                <a:cs typeface="Plus Jakarta Sans"/>
                <a:sym typeface="Plus Jakarta Sans"/>
              </a:rPr>
              <a:t>Modelá tu flujo por lotes</a:t>
            </a:r>
            <a:endParaRPr b="0" i="0" sz="19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0"/>
          <p:cNvSpPr txBox="1"/>
          <p:nvPr/>
        </p:nvSpPr>
        <p:spPr>
          <a:xfrm>
            <a:off x="652525" y="1336525"/>
            <a:ext cx="6254700" cy="244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0"/>
              <a:buFont typeface="Arial"/>
              <a:buNone/>
            </a:pPr>
            <a:r>
              <a:rPr b="0" i="0" lang="es" sz="6000" u="none" cap="none" strike="noStrike">
                <a:solidFill>
                  <a:srgbClr val="F8F2E8"/>
                </a:solidFill>
                <a:latin typeface="Plus Jakarta Sans ExtraBold"/>
                <a:ea typeface="Plus Jakarta Sans ExtraBold"/>
                <a:cs typeface="Plus Jakarta Sans ExtraBold"/>
                <a:sym typeface="Plus Jakarta Sans ExtraBold"/>
              </a:rPr>
              <a:t>Break,</a:t>
            </a:r>
            <a:endParaRPr b="0" i="0" sz="6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andá por un cafecito</a:t>
            </a:r>
            <a:endParaRPr b="0" i="0" sz="2400" u="none" cap="none" strike="noStrike">
              <a:solidFill>
                <a:srgbClr val="F8F2E8"/>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o mate, ¡y volvemos!</a:t>
            </a:r>
            <a:endParaRPr b="0" i="0" sz="2400" u="none" cap="none" strike="noStrike">
              <a:solidFill>
                <a:srgbClr val="F8F2E8"/>
              </a:solidFill>
              <a:latin typeface="Plus Jakarta Sans"/>
              <a:ea typeface="Plus Jakarta Sans"/>
              <a:cs typeface="Plus Jakarta Sans"/>
              <a:sym typeface="Plus Jakarta Sans"/>
            </a:endParaRPr>
          </a:p>
        </p:txBody>
      </p:sp>
      <p:pic>
        <p:nvPicPr>
          <p:cNvPr id="218" name="Google Shape;218;p20" title="Vector.png"/>
          <p:cNvPicPr preferRelativeResize="0"/>
          <p:nvPr/>
        </p:nvPicPr>
        <p:blipFill rotWithShape="1">
          <a:blip r:embed="rId3">
            <a:alphaModFix/>
          </a:blip>
          <a:srcRect b="0" l="29" r="39" t="0"/>
          <a:stretch/>
        </p:blipFill>
        <p:spPr>
          <a:xfrm>
            <a:off x="7520578" y="2347936"/>
            <a:ext cx="524575" cy="4476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1"/>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03</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24" name="Google Shape;224;p21"/>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Prompt Caching</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2"/>
          <p:cNvSpPr txBox="1"/>
          <p:nvPr/>
        </p:nvSpPr>
        <p:spPr>
          <a:xfrm>
            <a:off x="739075" y="2481425"/>
            <a:ext cx="70074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Sin caché, cada vez que enviás un documento largo, Claude lo "lee de nuevo" y te cobra completo.</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Con caché: </a:t>
            </a:r>
            <a:r>
              <a:rPr b="0" i="0" lang="es" sz="1150" u="none" cap="none" strike="noStrike">
                <a:solidFill>
                  <a:srgbClr val="171717"/>
                </a:solidFill>
                <a:latin typeface="Plus Jakarta Sans"/>
                <a:ea typeface="Plus Jakarta Sans"/>
                <a:cs typeface="Plus Jakarta Sans"/>
                <a:sym typeface="Plus Jakarta Sans"/>
              </a:rPr>
              <a:t>Claude recuerda las partes repetitivas. Pagás completo la primera vez y una fracción las siguientes.</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El restaurante: </a:t>
            </a:r>
            <a:r>
              <a:rPr b="0" i="0" lang="es" sz="1150" u="none" cap="none" strike="noStrike">
                <a:solidFill>
                  <a:srgbClr val="171717"/>
                </a:solidFill>
                <a:latin typeface="Plus Jakarta Sans"/>
                <a:ea typeface="Plus Jakarta Sans"/>
                <a:cs typeface="Plus Jakarta Sans"/>
                <a:sym typeface="Plus Jakarta Sans"/>
              </a:rPr>
              <a:t>en vez de comprar y picar los ingredientes en cada pedido, los tenés listos. Ahorro de hasta 90%.</a:t>
            </a:r>
            <a:endParaRPr/>
          </a:p>
        </p:txBody>
      </p:sp>
      <p:sp>
        <p:nvSpPr>
          <p:cNvPr id="230" name="Google Shape;230;p22"/>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 sz="3400" u="none" cap="none" strike="noStrike">
                <a:solidFill>
                  <a:srgbClr val="171717"/>
                </a:solidFill>
                <a:latin typeface="Plus Jakarta Sans ExtraBold"/>
                <a:ea typeface="Plus Jakarta Sans ExtraBold"/>
                <a:cs typeface="Plus Jakarta Sans ExtraBold"/>
                <a:sym typeface="Plus Jakarta Sans ExtraBold"/>
              </a:rPr>
              <a:t>Prompt Caching</a:t>
            </a:r>
            <a:endParaRPr b="0" i="0" sz="34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31" name="Google Shape;231;p22"/>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171717"/>
                </a:solidFill>
                <a:highlight>
                  <a:srgbClr val="FDAB2E"/>
                </a:highlight>
                <a:latin typeface="Plus Jakarta Sans"/>
                <a:ea typeface="Plus Jakarta Sans"/>
                <a:cs typeface="Plus Jakarta Sans"/>
                <a:sym typeface="Plus Jakarta Sans"/>
              </a:rPr>
              <a:t>Los ingredientes pre-picados</a:t>
            </a:r>
            <a:endParaRPr b="0" i="0" sz="18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3"/>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3 conceptos clave</a:t>
            </a:r>
            <a:endParaRPr b="0" i="0" sz="2400" u="none" cap="none" strike="noStrike">
              <a:solidFill>
                <a:srgbClr val="260700"/>
              </a:solidFill>
              <a:latin typeface="Plus Jakarta Sans"/>
              <a:ea typeface="Plus Jakarta Sans"/>
              <a:cs typeface="Plus Jakarta Sans"/>
              <a:sym typeface="Plus Jakarta Sans"/>
            </a:endParaRPr>
          </a:p>
        </p:txBody>
      </p:sp>
      <p:sp>
        <p:nvSpPr>
          <p:cNvPr id="237" name="Google Shape;237;p23"/>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Prefix</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La parte estática que va al INICIO del prompt. Es lo que se guarda.</a:t>
            </a:r>
            <a:endParaRPr/>
          </a:p>
        </p:txBody>
      </p:sp>
      <p:sp>
        <p:nvSpPr>
          <p:cNvPr id="238" name="Google Shape;238;p23"/>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Cache Hit</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Claude encuentra el contenido guardado y lo usa. Rápido y barato.</a:t>
            </a:r>
            <a:endParaRPr/>
          </a:p>
        </p:txBody>
      </p:sp>
      <p:sp>
        <p:nvSpPr>
          <p:cNvPr id="239" name="Google Shape;239;p23"/>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Cache Miss</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El contenido no estaba o expiró: Claude lo procesa todo de nuevo (cocinar desde cero).</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4"/>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0000"/>
              </a:lnSpc>
              <a:spcBef>
                <a:spcPts val="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Bot con cerebro de empresa: </a:t>
            </a:r>
            <a:r>
              <a:rPr b="0" i="0" lang="es" sz="1300" u="none" cap="none" strike="noStrike">
                <a:solidFill>
                  <a:srgbClr val="171717"/>
                </a:solidFill>
                <a:latin typeface="Plus Jakarta Sans"/>
                <a:ea typeface="Plus Jakarta Sans"/>
                <a:cs typeface="Plus Jakarta Sans"/>
                <a:sym typeface="Plus Jakarta Sans"/>
              </a:rPr>
              <a:t>precios, políticas y horarios siempre cargados.</a:t>
            </a:r>
            <a:endParaRPr/>
          </a:p>
          <a:p>
            <a:pPr indent="-228600" lvl="0" marL="228600" marR="0" rtl="0" algn="l">
              <a:lnSpc>
                <a:spcPct val="110000"/>
              </a:lnSpc>
              <a:spcBef>
                <a:spcPts val="2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Análisis de docs masivos: </a:t>
            </a:r>
            <a:r>
              <a:rPr b="0" i="0" lang="es" sz="1300" u="none" cap="none" strike="noStrike">
                <a:solidFill>
                  <a:srgbClr val="171717"/>
                </a:solidFill>
                <a:latin typeface="Plus Jakarta Sans"/>
                <a:ea typeface="Plus Jakarta Sans"/>
                <a:cs typeface="Plus Jakarta Sans"/>
                <a:sym typeface="Plus Jakarta Sans"/>
              </a:rPr>
              <a:t>subís un estado de cuenta de 100 págs una vez y hacés varias preguntas.</a:t>
            </a:r>
            <a:endParaRPr/>
          </a:p>
          <a:p>
            <a:pPr indent="-228600" lvl="0" marL="228600" marR="0" rtl="0" algn="l">
              <a:lnSpc>
                <a:spcPct val="110000"/>
              </a:lnSpc>
              <a:spcBef>
                <a:spcPts val="2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Voz de marca: </a:t>
            </a:r>
            <a:r>
              <a:rPr b="0" i="0" lang="es" sz="1300" u="none" cap="none" strike="noStrike">
                <a:solidFill>
                  <a:srgbClr val="171717"/>
                </a:solidFill>
                <a:latin typeface="Plus Jakarta Sans"/>
                <a:ea typeface="Plus Jakarta Sans"/>
                <a:cs typeface="Plus Jakarta Sans"/>
                <a:sym typeface="Plus Jakarta Sans"/>
              </a:rPr>
              <a:t>un manual de identidad de 30 págs siempre en caché para escribir como vos.</a:t>
            </a:r>
            <a:endParaRPr/>
          </a:p>
          <a:p>
            <a:pPr indent="0" lvl="0" marL="0" marR="0" rtl="0" algn="l">
              <a:lnSpc>
                <a:spcPct val="110000"/>
              </a:lnSpc>
              <a:spcBef>
                <a:spcPts val="30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Si cada prompt es único y corto, el caché no sirve. Brilla en lo pesado y repetido.</a:t>
            </a:r>
            <a:endParaRPr/>
          </a:p>
        </p:txBody>
      </p:sp>
      <p:sp>
        <p:nvSpPr>
          <p:cNvPr id="245" name="Google Shape;245;p2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 sz="2700" u="none" cap="none" strike="noStrike">
                <a:solidFill>
                  <a:srgbClr val="FF632B"/>
                </a:solidFill>
                <a:latin typeface="Plus Jakarta Sans ExtraBold"/>
                <a:ea typeface="Plus Jakarta Sans ExtraBold"/>
                <a:cs typeface="Plus Jakarta Sans ExtraBold"/>
                <a:sym typeface="Plus Jakarta Sans ExtraBold"/>
              </a:rPr>
              <a:t>¿Dónde aplicar caching?</a:t>
            </a:r>
            <a:endParaRPr b="0" i="0" sz="27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46" name="Google Shape;246;p24"/>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171717"/>
                </a:solidFill>
                <a:latin typeface="Plus Jakarta Sans"/>
                <a:ea typeface="Plus Jakarta Sans"/>
                <a:cs typeface="Plus Jakarta Sans"/>
                <a:sym typeface="Plus Jakarta Sans"/>
              </a:rPr>
              <a:t>Flujos recurrentes y pesados</a:t>
            </a:r>
            <a:endParaRPr b="0" i="0" sz="19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5"/>
          <p:cNvSpPr txBox="1"/>
          <p:nvPr/>
        </p:nvSpPr>
        <p:spPr>
          <a:xfrm>
            <a:off x="739075" y="2481425"/>
            <a:ext cx="580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Al inicio: </a:t>
            </a:r>
            <a:r>
              <a:rPr b="0" i="0" lang="es" sz="1100" u="none" cap="none" strike="noStrike">
                <a:solidFill>
                  <a:srgbClr val="171717"/>
                </a:solidFill>
                <a:latin typeface="Plus Jakarta Sans"/>
                <a:ea typeface="Plus Jakarta Sans"/>
                <a:cs typeface="Plus Jakarta Sans"/>
                <a:sym typeface="Plus Jakarta Sans"/>
              </a:rPr>
              <a:t>lo que querés cachear va al principio del prompt (el prefix).</a:t>
            </a:r>
            <a:endParaRPr/>
          </a:p>
          <a:p>
            <a:pPr indent="0" lvl="0" marL="0" marR="0" rtl="0" algn="l">
              <a:lnSpc>
                <a:spcPct val="110000"/>
              </a:lnSpc>
              <a:spcBef>
                <a:spcPts val="25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Idéntico: </a:t>
            </a:r>
            <a:r>
              <a:rPr b="0" i="0" lang="es" sz="1100" u="none" cap="none" strike="noStrike">
                <a:solidFill>
                  <a:srgbClr val="171717"/>
                </a:solidFill>
                <a:latin typeface="Plus Jakarta Sans"/>
                <a:ea typeface="Plus Jakarta Sans"/>
                <a:cs typeface="Plus Jakarta Sans"/>
                <a:sym typeface="Plus Jakarta Sans"/>
              </a:rPr>
              <a:t>si cambiás una sola palabra del inicio, el caché se invalida.</a:t>
            </a:r>
            <a:endParaRPr/>
          </a:p>
          <a:p>
            <a:pPr indent="0" lvl="0" marL="0" marR="0" rtl="0" algn="l">
              <a:lnSpc>
                <a:spcPct val="110000"/>
              </a:lnSpc>
              <a:spcBef>
                <a:spcPts val="25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Mínimo 1.024 tokens: </a:t>
            </a:r>
            <a:r>
              <a:rPr b="0" i="0" lang="es" sz="1100" u="none" cap="none" strike="noStrike">
                <a:solidFill>
                  <a:srgbClr val="171717"/>
                </a:solidFill>
                <a:latin typeface="Plus Jakarta Sans"/>
                <a:ea typeface="Plus Jakarta Sans"/>
                <a:cs typeface="Plus Jakarta Sans"/>
                <a:sym typeface="Plus Jakarta Sans"/>
              </a:rPr>
              <a:t>no sirve cachear una oración corta.</a:t>
            </a:r>
            <a:endParaRPr/>
          </a:p>
          <a:p>
            <a:pPr indent="0" lvl="0" marL="0" marR="0" rtl="0" algn="l">
              <a:lnSpc>
                <a:spcPct val="110000"/>
              </a:lnSpc>
              <a:spcBef>
                <a:spcPts val="25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TTL 5 min: </a:t>
            </a:r>
            <a:r>
              <a:rPr b="0" i="0" lang="es" sz="1100" u="none" cap="none" strike="noStrike">
                <a:solidFill>
                  <a:srgbClr val="171717"/>
                </a:solidFill>
                <a:latin typeface="Plus Jakarta Sans"/>
                <a:ea typeface="Plus Jakarta Sans"/>
                <a:cs typeface="Plus Jakarta Sans"/>
                <a:sym typeface="Plus Jakarta Sans"/>
              </a:rPr>
              <a:t>el caché dura 5 minutos, pero cada uso reinicia el reloj. En flujos recurrentes vive todo el día.</a:t>
            </a:r>
            <a:endParaRPr/>
          </a:p>
        </p:txBody>
      </p:sp>
      <p:sp>
        <p:nvSpPr>
          <p:cNvPr id="252" name="Google Shape;252;p2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Las reglas del caché</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53" name="Google Shape;253;p2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El orden sí altera</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6"/>
          <p:cNvSpPr txBox="1"/>
          <p:nvPr/>
        </p:nvSpPr>
        <p:spPr>
          <a:xfrm>
            <a:off x="739075" y="2481425"/>
            <a:ext cx="6190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identificar qué vas a cachear en tu flujo recurrente.</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Detectá el bloque de texto largo e idéntico que se repite (manual, políticas, instrucciones).</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Ubicálo al inicio del prompt y marcá el punto de caché (cache_control).</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tu prefix definido. Ladrillo 3.</a:t>
            </a:r>
            <a:endParaRPr/>
          </a:p>
        </p:txBody>
      </p:sp>
      <p:sp>
        <p:nvSpPr>
          <p:cNvPr id="259" name="Google Shape;259;p2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3</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60" name="Google Shape;260;p26"/>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highlight>
                  <a:srgbClr val="FDAB2E"/>
                </a:highlight>
                <a:latin typeface="Plus Jakarta Sans"/>
                <a:ea typeface="Plus Jakarta Sans"/>
                <a:cs typeface="Plus Jakarta Sans"/>
                <a:sym typeface="Plus Jakarta Sans"/>
              </a:rPr>
              <a:t>Definí tu Prefix</a:t>
            </a:r>
            <a:endParaRPr b="0" i="0" sz="22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7"/>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04</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266" name="Google Shape;266;p27"/>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F8F2E8"/>
                </a:solidFill>
                <a:latin typeface="Plus Jakarta Sans ExtraBold"/>
                <a:ea typeface="Plus Jakarta Sans ExtraBold"/>
                <a:cs typeface="Plus Jakarta Sans ExtraBold"/>
                <a:sym typeface="Plus Jakarta Sans ExtraBold"/>
              </a:rPr>
              <a:t>Model Context Protocol</a:t>
            </a:r>
            <a:endParaRPr b="0" i="0" sz="30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8"/>
          <p:cNvSpPr txBox="1"/>
          <p:nvPr/>
        </p:nvSpPr>
        <p:spPr>
          <a:xfrm>
            <a:off x="739075" y="2481425"/>
            <a:ext cx="6892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El Model Context Protocol es un estándar abierto de Anthropic para que la IA se conecte a tus datos y herramientas.</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Antes: </a:t>
            </a:r>
            <a:r>
              <a:rPr b="0" i="0" lang="es" sz="1150" u="none" cap="none" strike="noStrike">
                <a:solidFill>
                  <a:srgbClr val="171717"/>
                </a:solidFill>
                <a:latin typeface="Plus Jakarta Sans"/>
                <a:ea typeface="Plus Jakarta Sans"/>
                <a:cs typeface="Plus Jakarta Sans"/>
                <a:sym typeface="Plus Jakarta Sans"/>
              </a:rPr>
              <a:t>cada IA + cada herramienta = una integración a medida, cara. Un caos de cables.</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Con MCP: </a:t>
            </a:r>
            <a:r>
              <a:rPr b="0" i="0" lang="es" sz="1150" u="none" cap="none" strike="noStrike">
                <a:solidFill>
                  <a:srgbClr val="171717"/>
                </a:solidFill>
                <a:latin typeface="Plus Jakarta Sans"/>
                <a:ea typeface="Plus Jakarta Sans"/>
                <a:cs typeface="Plus Jakarta Sans"/>
                <a:sym typeface="Plus Jakarta Sans"/>
              </a:rPr>
              <a:t>como el USB-C, un solo "enchufe" sirve para todo. Las herramientas exponen sus datos por un Servidor MCP y cualquier IA se conecta.</a:t>
            </a:r>
            <a:endParaRPr/>
          </a:p>
        </p:txBody>
      </p:sp>
      <p:sp>
        <p:nvSpPr>
          <p:cNvPr id="272" name="Google Shape;272;p2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171717"/>
                </a:solidFill>
                <a:latin typeface="Plus Jakarta Sans ExtraBold"/>
                <a:ea typeface="Plus Jakarta Sans ExtraBold"/>
                <a:cs typeface="Plus Jakarta Sans ExtraBold"/>
                <a:sym typeface="Plus Jakarta Sans ExtraBold"/>
              </a:rPr>
              <a:t>¿Qué es MCP?</a:t>
            </a:r>
            <a:endParaRPr b="0" i="0" sz="36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73" name="Google Shape;273;p2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El USB-C de la IA</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9"/>
          <p:cNvSpPr/>
          <p:nvPr/>
        </p:nvSpPr>
        <p:spPr>
          <a:xfrm>
            <a:off x="6824125" y="2759980"/>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Resources</a:t>
            </a:r>
            <a:endParaRPr b="0" i="0" sz="1200" u="none" cap="none" strike="noStrike">
              <a:solidFill>
                <a:srgbClr val="FAFAFA"/>
              </a:solidFill>
              <a:latin typeface="Plus Jakarta Sans"/>
              <a:ea typeface="Plus Jakarta Sans"/>
              <a:cs typeface="Plus Jakarta Sans"/>
              <a:sym typeface="Plus Jakarta Sans"/>
            </a:endParaRPr>
          </a:p>
        </p:txBody>
      </p:sp>
      <p:sp>
        <p:nvSpPr>
          <p:cNvPr id="279" name="Google Shape;279;p29"/>
          <p:cNvSpPr/>
          <p:nvPr/>
        </p:nvSpPr>
        <p:spPr>
          <a:xfrm>
            <a:off x="3403275" y="2073153"/>
            <a:ext cx="2405100" cy="997200"/>
          </a:xfrm>
          <a:prstGeom prst="roundRect">
            <a:avLst>
              <a:gd fmla="val 16667" name="adj"/>
            </a:avLst>
          </a:prstGeom>
          <a:solidFill>
            <a:srgbClr val="FF632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260700"/>
                </a:solidFill>
                <a:latin typeface="Plus Jakarta Sans"/>
                <a:ea typeface="Plus Jakarta Sans"/>
                <a:cs typeface="Plus Jakarta Sans"/>
                <a:sym typeface="Plus Jakarta Sans"/>
              </a:rPr>
              <a:t>MCP</a:t>
            </a:r>
            <a:endParaRPr b="1" i="0" sz="2000" u="none" cap="none" strike="noStrike">
              <a:solidFill>
                <a:srgbClr val="260700"/>
              </a:solidFill>
              <a:latin typeface="Plus Jakarta Sans"/>
              <a:ea typeface="Plus Jakarta Sans"/>
              <a:cs typeface="Plus Jakarta Sans"/>
              <a:sym typeface="Plus Jakarta Sans"/>
            </a:endParaRPr>
          </a:p>
        </p:txBody>
      </p:sp>
      <p:sp>
        <p:nvSpPr>
          <p:cNvPr id="280" name="Google Shape;280;p29"/>
          <p:cNvSpPr/>
          <p:nvPr/>
        </p:nvSpPr>
        <p:spPr>
          <a:xfrm>
            <a:off x="6824125" y="3618097"/>
            <a:ext cx="1399200" cy="580200"/>
          </a:xfrm>
          <a:prstGeom prst="roundRect">
            <a:avLst>
              <a:gd fmla="val 16667" name="adj"/>
            </a:avLst>
          </a:prstGeom>
          <a:noFill/>
          <a:ln cap="flat" cmpd="sng" w="9525">
            <a:solidFill>
              <a:srgbClr val="2222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222224"/>
                </a:solidFill>
                <a:latin typeface="Plus Jakarta Sans"/>
                <a:ea typeface="Plus Jakarta Sans"/>
                <a:cs typeface="Plus Jakarta Sans"/>
                <a:sym typeface="Plus Jakarta Sans"/>
              </a:rPr>
              <a:t>datos de solo lectura</a:t>
            </a:r>
            <a:endParaRPr b="0" i="0" sz="1200" u="none" cap="none" strike="noStrike">
              <a:solidFill>
                <a:srgbClr val="222224"/>
              </a:solidFill>
              <a:latin typeface="Plus Jakarta Sans"/>
              <a:ea typeface="Plus Jakarta Sans"/>
              <a:cs typeface="Plus Jakarta Sans"/>
              <a:sym typeface="Plus Jakarta Sans"/>
            </a:endParaRPr>
          </a:p>
        </p:txBody>
      </p:sp>
      <p:cxnSp>
        <p:nvCxnSpPr>
          <p:cNvPr id="281" name="Google Shape;281;p29"/>
          <p:cNvCxnSpPr>
            <a:stCxn id="278" idx="2"/>
            <a:endCxn id="280" idx="0"/>
          </p:cNvCxnSpPr>
          <p:nvPr/>
        </p:nvCxnSpPr>
        <p:spPr>
          <a:xfrm>
            <a:off x="7523725" y="3340180"/>
            <a:ext cx="0" cy="277800"/>
          </a:xfrm>
          <a:prstGeom prst="straightConnector1">
            <a:avLst/>
          </a:prstGeom>
          <a:noFill/>
          <a:ln cap="flat" cmpd="sng" w="9525">
            <a:solidFill>
              <a:srgbClr val="CCCCCC"/>
            </a:solidFill>
            <a:prstDash val="solid"/>
            <a:round/>
            <a:headEnd len="sm" w="sm" type="none"/>
            <a:tailEnd len="med" w="med" type="oval"/>
          </a:ln>
        </p:spPr>
      </p:cxnSp>
      <p:sp>
        <p:nvSpPr>
          <p:cNvPr id="282" name="Google Shape;282;p29"/>
          <p:cNvSpPr/>
          <p:nvPr/>
        </p:nvSpPr>
        <p:spPr>
          <a:xfrm>
            <a:off x="920675" y="275991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Tools</a:t>
            </a:r>
            <a:endParaRPr b="0" i="0" sz="1200" u="none" cap="none" strike="noStrike">
              <a:solidFill>
                <a:srgbClr val="FAFAFA"/>
              </a:solidFill>
              <a:latin typeface="Plus Jakarta Sans"/>
              <a:ea typeface="Plus Jakarta Sans"/>
              <a:cs typeface="Plus Jakarta Sans"/>
              <a:sym typeface="Plus Jakarta Sans"/>
            </a:endParaRPr>
          </a:p>
        </p:txBody>
      </p:sp>
      <p:sp>
        <p:nvSpPr>
          <p:cNvPr id="283" name="Google Shape;283;p29"/>
          <p:cNvSpPr/>
          <p:nvPr/>
        </p:nvSpPr>
        <p:spPr>
          <a:xfrm>
            <a:off x="920675" y="3618035"/>
            <a:ext cx="1399200" cy="580200"/>
          </a:xfrm>
          <a:prstGeom prst="roundRect">
            <a:avLst>
              <a:gd fmla="val 16667" name="adj"/>
            </a:avLst>
          </a:prstGeom>
          <a:noFill/>
          <a:ln cap="flat" cmpd="sng" w="9525">
            <a:solidFill>
              <a:srgbClr val="2222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222224"/>
                </a:solidFill>
                <a:latin typeface="Plus Jakarta Sans"/>
                <a:ea typeface="Plus Jakarta Sans"/>
                <a:cs typeface="Plus Jakarta Sans"/>
                <a:sym typeface="Plus Jakarta Sans"/>
              </a:rPr>
              <a:t>ejecuta acciones</a:t>
            </a:r>
            <a:endParaRPr b="0" i="0" sz="1200" u="none" cap="none" strike="noStrike">
              <a:solidFill>
                <a:srgbClr val="222224"/>
              </a:solidFill>
              <a:latin typeface="Plus Jakarta Sans"/>
              <a:ea typeface="Plus Jakarta Sans"/>
              <a:cs typeface="Plus Jakarta Sans"/>
              <a:sym typeface="Plus Jakarta Sans"/>
            </a:endParaRPr>
          </a:p>
        </p:txBody>
      </p:sp>
      <p:cxnSp>
        <p:nvCxnSpPr>
          <p:cNvPr id="284" name="Google Shape;284;p29"/>
          <p:cNvCxnSpPr>
            <a:stCxn id="282" idx="2"/>
            <a:endCxn id="283" idx="0"/>
          </p:cNvCxnSpPr>
          <p:nvPr/>
        </p:nvCxnSpPr>
        <p:spPr>
          <a:xfrm>
            <a:off x="1620275" y="3340118"/>
            <a:ext cx="0" cy="277800"/>
          </a:xfrm>
          <a:prstGeom prst="straightConnector1">
            <a:avLst/>
          </a:prstGeom>
          <a:noFill/>
          <a:ln cap="flat" cmpd="sng" w="9525">
            <a:solidFill>
              <a:srgbClr val="CCCCCC"/>
            </a:solidFill>
            <a:prstDash val="solid"/>
            <a:round/>
            <a:headEnd len="sm" w="sm" type="none"/>
            <a:tailEnd len="med" w="med" type="oval"/>
          </a:ln>
        </p:spPr>
      </p:cxnSp>
      <p:sp>
        <p:nvSpPr>
          <p:cNvPr id="285" name="Google Shape;285;p29"/>
          <p:cNvSpPr/>
          <p:nvPr/>
        </p:nvSpPr>
        <p:spPr>
          <a:xfrm>
            <a:off x="3906225" y="3618093"/>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Prompts</a:t>
            </a:r>
            <a:endParaRPr b="0" i="0" sz="1200" u="none" cap="none" strike="noStrike">
              <a:solidFill>
                <a:srgbClr val="FAFAFA"/>
              </a:solidFill>
              <a:latin typeface="Plus Jakarta Sans"/>
              <a:ea typeface="Plus Jakarta Sans"/>
              <a:cs typeface="Plus Jakarta Sans"/>
              <a:sym typeface="Plus Jakarta Sans"/>
            </a:endParaRPr>
          </a:p>
        </p:txBody>
      </p:sp>
      <p:cxnSp>
        <p:nvCxnSpPr>
          <p:cNvPr id="286" name="Google Shape;286;p29"/>
          <p:cNvCxnSpPr>
            <a:stCxn id="285" idx="0"/>
            <a:endCxn id="279" idx="2"/>
          </p:cNvCxnSpPr>
          <p:nvPr/>
        </p:nvCxnSpPr>
        <p:spPr>
          <a:xfrm rot="10800000">
            <a:off x="4605825" y="3070293"/>
            <a:ext cx="0" cy="547800"/>
          </a:xfrm>
          <a:prstGeom prst="straightConnector1">
            <a:avLst/>
          </a:prstGeom>
          <a:noFill/>
          <a:ln cap="flat" cmpd="sng" w="9525">
            <a:solidFill>
              <a:srgbClr val="CCCCCC"/>
            </a:solidFill>
            <a:prstDash val="solid"/>
            <a:round/>
            <a:headEnd len="med" w="med" type="oval"/>
            <a:tailEnd len="sm" w="sm" type="none"/>
          </a:ln>
        </p:spPr>
      </p:cxnSp>
      <p:sp>
        <p:nvSpPr>
          <p:cNvPr id="287" name="Google Shape;287;p29"/>
          <p:cNvSpPr/>
          <p:nvPr/>
        </p:nvSpPr>
        <p:spPr>
          <a:xfrm>
            <a:off x="920675" y="141141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plantillas listas</a:t>
            </a:r>
            <a:endParaRPr b="0" i="0" sz="1200" u="none" cap="none" strike="noStrike">
              <a:solidFill>
                <a:srgbClr val="FAFAFA"/>
              </a:solidFill>
              <a:latin typeface="Plus Jakarta Sans"/>
              <a:ea typeface="Plus Jakarta Sans"/>
              <a:cs typeface="Plus Jakarta Sans"/>
              <a:sym typeface="Plus Jakarta Sans"/>
            </a:endParaRPr>
          </a:p>
        </p:txBody>
      </p:sp>
      <p:sp>
        <p:nvSpPr>
          <p:cNvPr id="288" name="Google Shape;288;p29"/>
          <p:cNvSpPr/>
          <p:nvPr/>
        </p:nvSpPr>
        <p:spPr>
          <a:xfrm>
            <a:off x="6824125" y="141146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Server</a:t>
            </a:r>
            <a:endParaRPr b="0" i="0" sz="1200" u="none" cap="none" strike="noStrike">
              <a:solidFill>
                <a:srgbClr val="FAFAFA"/>
              </a:solidFill>
              <a:latin typeface="Plus Jakarta Sans"/>
              <a:ea typeface="Plus Jakarta Sans"/>
              <a:cs typeface="Plus Jakarta Sans"/>
              <a:sym typeface="Plus Jakarta Sans"/>
            </a:endParaRPr>
          </a:p>
        </p:txBody>
      </p:sp>
      <p:cxnSp>
        <p:nvCxnSpPr>
          <p:cNvPr id="289" name="Google Shape;289;p29"/>
          <p:cNvCxnSpPr>
            <a:stCxn id="287" idx="3"/>
            <a:endCxn id="279" idx="1"/>
          </p:cNvCxnSpPr>
          <p:nvPr/>
        </p:nvCxnSpPr>
        <p:spPr>
          <a:xfrm>
            <a:off x="2319875" y="1701518"/>
            <a:ext cx="1083300" cy="870300"/>
          </a:xfrm>
          <a:prstGeom prst="bentConnector3">
            <a:avLst>
              <a:gd fmla="val 50005" name="adj1"/>
            </a:avLst>
          </a:prstGeom>
          <a:noFill/>
          <a:ln cap="flat" cmpd="sng" w="9525">
            <a:solidFill>
              <a:srgbClr val="CCCCCC"/>
            </a:solidFill>
            <a:prstDash val="solid"/>
            <a:round/>
            <a:headEnd len="med" w="med" type="oval"/>
            <a:tailEnd len="sm" w="sm" type="none"/>
          </a:ln>
        </p:spPr>
      </p:cxnSp>
      <p:cxnSp>
        <p:nvCxnSpPr>
          <p:cNvPr id="290" name="Google Shape;290;p29"/>
          <p:cNvCxnSpPr>
            <a:stCxn id="288" idx="1"/>
            <a:endCxn id="279" idx="3"/>
          </p:cNvCxnSpPr>
          <p:nvPr/>
        </p:nvCxnSpPr>
        <p:spPr>
          <a:xfrm flipH="1">
            <a:off x="5808325" y="1701568"/>
            <a:ext cx="1015800" cy="870300"/>
          </a:xfrm>
          <a:prstGeom prst="bentConnector3">
            <a:avLst>
              <a:gd fmla="val 49998" name="adj1"/>
            </a:avLst>
          </a:prstGeom>
          <a:noFill/>
          <a:ln cap="flat" cmpd="sng" w="9525">
            <a:solidFill>
              <a:srgbClr val="CCCCCC"/>
            </a:solidFill>
            <a:prstDash val="solid"/>
            <a:round/>
            <a:headEnd len="med" w="med" type="oval"/>
            <a:tailEnd len="sm" w="sm" type="none"/>
          </a:ln>
        </p:spPr>
      </p:cxnSp>
      <p:cxnSp>
        <p:nvCxnSpPr>
          <p:cNvPr id="291" name="Google Shape;291;p29"/>
          <p:cNvCxnSpPr>
            <a:stCxn id="282" idx="0"/>
            <a:endCxn id="279" idx="1"/>
          </p:cNvCxnSpPr>
          <p:nvPr/>
        </p:nvCxnSpPr>
        <p:spPr>
          <a:xfrm rot="-5400000">
            <a:off x="2417675" y="1774418"/>
            <a:ext cx="188100" cy="1782900"/>
          </a:xfrm>
          <a:prstGeom prst="bentConnector2">
            <a:avLst/>
          </a:prstGeom>
          <a:noFill/>
          <a:ln cap="flat" cmpd="sng" w="9525">
            <a:solidFill>
              <a:srgbClr val="CCCCCC"/>
            </a:solidFill>
            <a:prstDash val="solid"/>
            <a:round/>
            <a:headEnd len="med" w="med" type="oval"/>
            <a:tailEnd len="sm" w="sm" type="none"/>
          </a:ln>
        </p:spPr>
      </p:cxnSp>
      <p:cxnSp>
        <p:nvCxnSpPr>
          <p:cNvPr id="292" name="Google Shape;292;p29"/>
          <p:cNvCxnSpPr>
            <a:stCxn id="279" idx="3"/>
            <a:endCxn id="278" idx="0"/>
          </p:cNvCxnSpPr>
          <p:nvPr/>
        </p:nvCxnSpPr>
        <p:spPr>
          <a:xfrm>
            <a:off x="5808375" y="2571753"/>
            <a:ext cx="1715400" cy="188100"/>
          </a:xfrm>
          <a:prstGeom prst="bentConnector2">
            <a:avLst/>
          </a:prstGeom>
          <a:noFill/>
          <a:ln cap="flat" cmpd="sng" w="9525">
            <a:solidFill>
              <a:srgbClr val="CCCCCC"/>
            </a:solidFill>
            <a:prstDash val="solid"/>
            <a:round/>
            <a:headEnd len="sm" w="sm" type="none"/>
            <a:tailEnd len="med" w="med" type="oval"/>
          </a:ln>
        </p:spPr>
      </p:cxnSp>
      <p:sp>
        <p:nvSpPr>
          <p:cNvPr id="293" name="Google Shape;293;p29"/>
          <p:cNvSpPr/>
          <p:nvPr/>
        </p:nvSpPr>
        <p:spPr>
          <a:xfrm>
            <a:off x="3906225" y="945193"/>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el traductor</a:t>
            </a:r>
            <a:endParaRPr b="0" i="0" sz="1200" u="none" cap="none" strike="noStrike">
              <a:solidFill>
                <a:srgbClr val="FAFAFA"/>
              </a:solidFill>
              <a:latin typeface="Plus Jakarta Sans"/>
              <a:ea typeface="Plus Jakarta Sans"/>
              <a:cs typeface="Plus Jakarta Sans"/>
              <a:sym typeface="Plus Jakarta Sans"/>
            </a:endParaRPr>
          </a:p>
        </p:txBody>
      </p:sp>
      <p:cxnSp>
        <p:nvCxnSpPr>
          <p:cNvPr id="294" name="Google Shape;294;p29"/>
          <p:cNvCxnSpPr>
            <a:stCxn id="279" idx="0"/>
            <a:endCxn id="293" idx="2"/>
          </p:cNvCxnSpPr>
          <p:nvPr/>
        </p:nvCxnSpPr>
        <p:spPr>
          <a:xfrm rot="10800000">
            <a:off x="4605825" y="1525353"/>
            <a:ext cx="0" cy="547800"/>
          </a:xfrm>
          <a:prstGeom prst="straightConnector1">
            <a:avLst/>
          </a:prstGeom>
          <a:noFill/>
          <a:ln cap="flat" cmpd="sng" w="9525">
            <a:solidFill>
              <a:srgbClr val="CCCCCC"/>
            </a:solidFill>
            <a:prstDash val="solid"/>
            <a:round/>
            <a:headEnd len="sm" w="sm" type="none"/>
            <a:tailEnd len="med" w="med" type="oval"/>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0"/>
          <p:cNvSpPr txBox="1"/>
          <p:nvPr/>
        </p:nvSpPr>
        <p:spPr>
          <a:xfrm>
            <a:off x="739075" y="2481425"/>
            <a:ext cx="62673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Host: </a:t>
            </a:r>
            <a:r>
              <a:rPr b="0" i="0" lang="es" sz="1100" u="none" cap="none" strike="noStrike">
                <a:solidFill>
                  <a:srgbClr val="171717"/>
                </a:solidFill>
                <a:latin typeface="Plus Jakarta Sans"/>
                <a:ea typeface="Plus Jakarta Sans"/>
                <a:cs typeface="Plus Jakarta Sans"/>
                <a:sym typeface="Plus Jakarta Sans"/>
              </a:rPr>
              <a:t>donde interactuás con la IA (Claude Desktop, tu flujo en n8n).</a:t>
            </a:r>
            <a:endParaRPr/>
          </a:p>
          <a:p>
            <a:pPr indent="0" lvl="0" marL="0" marR="0" rtl="0" algn="l">
              <a:lnSpc>
                <a:spcPct val="110000"/>
              </a:lnSpc>
              <a:spcBef>
                <a:spcPts val="25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Client: </a:t>
            </a:r>
            <a:r>
              <a:rPr b="0" i="0" lang="es" sz="1100" u="none" cap="none" strike="noStrike">
                <a:solidFill>
                  <a:srgbClr val="171717"/>
                </a:solidFill>
                <a:latin typeface="Plus Jakarta Sans"/>
                <a:ea typeface="Plus Jakarta Sans"/>
                <a:cs typeface="Plus Jakarta Sans"/>
                <a:sym typeface="Plus Jakarta Sans"/>
              </a:rPr>
              <a:t>la pieza que sabe hablar el protocolo MCP.</a:t>
            </a:r>
            <a:endParaRPr/>
          </a:p>
          <a:p>
            <a:pPr indent="0" lvl="0" marL="0" marR="0" rtl="0" algn="l">
              <a:lnSpc>
                <a:spcPct val="110000"/>
              </a:lnSpc>
              <a:spcBef>
                <a:spcPts val="25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MCP Server: </a:t>
            </a:r>
            <a:r>
              <a:rPr b="0" i="0" lang="es" sz="1100" u="none" cap="none" strike="noStrike">
                <a:solidFill>
                  <a:srgbClr val="171717"/>
                </a:solidFill>
                <a:latin typeface="Plus Jakarta Sans"/>
                <a:ea typeface="Plus Jakarta Sans"/>
                <a:cs typeface="Plus Jakarta Sans"/>
                <a:sym typeface="Plus Jakarta Sans"/>
              </a:rPr>
              <a:t>el "traductor" que pasa el idioma de tu herramienta (Jira) al de MCP.</a:t>
            </a:r>
            <a:endParaRPr/>
          </a:p>
          <a:p>
            <a:pPr indent="0" lvl="0" marL="0" marR="0" rtl="0" algn="l">
              <a:lnSpc>
                <a:spcPct val="110000"/>
              </a:lnSpc>
              <a:spcBef>
                <a:spcPts val="25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Data: </a:t>
            </a:r>
            <a:r>
              <a:rPr b="0" i="0" lang="es" sz="1100" u="none" cap="none" strike="noStrike">
                <a:solidFill>
                  <a:srgbClr val="171717"/>
                </a:solidFill>
                <a:latin typeface="Plus Jakarta Sans"/>
                <a:ea typeface="Plus Jakarta Sans"/>
                <a:cs typeface="Plus Jakarta Sans"/>
                <a:sym typeface="Plus Jakarta Sans"/>
              </a:rPr>
              <a:t>tus datos reales. Vos preguntás → el Client consulta al Server → el Server trae los datos → la IA responde o actúa.</a:t>
            </a:r>
            <a:endParaRPr/>
          </a:p>
        </p:txBody>
      </p:sp>
      <p:sp>
        <p:nvSpPr>
          <p:cNvPr id="300" name="Google Shape;300;p3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171717"/>
                </a:solidFill>
                <a:latin typeface="Plus Jakarta Sans ExtraBold"/>
                <a:ea typeface="Plus Jakarta Sans ExtraBold"/>
                <a:cs typeface="Plus Jakarta Sans ExtraBold"/>
                <a:sym typeface="Plus Jakarta Sans ExtraBold"/>
              </a:rPr>
              <a:t>La arquitectura de MCP</a:t>
            </a:r>
            <a:endParaRPr b="0" i="0" sz="3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301" name="Google Shape;301;p3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4 piezas que conversan</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1"/>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Errores con MCP</a:t>
            </a:r>
            <a:endParaRPr b="0" i="0" sz="2400" u="none" cap="none" strike="noStrike">
              <a:solidFill>
                <a:srgbClr val="260700"/>
              </a:solidFill>
              <a:latin typeface="Plus Jakarta Sans"/>
              <a:ea typeface="Plus Jakarta Sans"/>
              <a:cs typeface="Plus Jakarta Sans"/>
              <a:sym typeface="Plus Jakarta Sans"/>
            </a:endParaRPr>
          </a:p>
        </p:txBody>
      </p:sp>
      <p:sp>
        <p:nvSpPr>
          <p:cNvPr id="307" name="Google Shape;307;p31"/>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No conecta solo</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MCP no enchufa mágicamente cualquier cosa: la herramienta necesita su Servidor MCP.</a:t>
            </a:r>
            <a:endParaRPr/>
          </a:p>
        </p:txBody>
      </p:sp>
      <p:sp>
        <p:nvSpPr>
          <p:cNvPr id="308" name="Google Shape;308;p31"/>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MCP ≠ RAG</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RAG busca en documentos; MCP conecta a herramientas y acciones en vivo. No son lo mismo.</a:t>
            </a:r>
            <a:endParaRPr/>
          </a:p>
        </p:txBody>
      </p:sp>
      <p:sp>
        <p:nvSpPr>
          <p:cNvPr id="309" name="Google Shape;309;p31"/>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No reemplaza las APIs</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MCP es una capa estándar sobre las APIs, no su reemplazo. Las sigue necesitando por detrás.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2"/>
          <p:cNvSpPr txBox="1"/>
          <p:nvPr/>
        </p:nvSpPr>
        <p:spPr>
          <a:xfrm>
            <a:off x="739075" y="2481425"/>
            <a:ext cx="60363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demostrar con números cuánto ahorra tu diseño.</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Tomá tu tarea masiva y aplicá el 50% de descuento del Batch.</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Sumá la lectura barata del caché y compará "sin optimizar" vs. "optimizado".</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tu matriz de ahorro. ¡Pre-Entrega 6 lista!</a:t>
            </a:r>
            <a:endParaRPr/>
          </a:p>
        </p:txBody>
      </p:sp>
      <p:sp>
        <p:nvSpPr>
          <p:cNvPr id="315" name="Google Shape;315;p32"/>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4</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316" name="Google Shape;316;p32"/>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Tu matriz de ahorro</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3"/>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PE</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322" name="Google Shape;322;p33"/>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400"/>
              <a:buFont typeface="Arial"/>
              <a:buNone/>
            </a:pPr>
            <a:r>
              <a:rPr b="0" i="0" lang="es" sz="4400" u="none" cap="none" strike="noStrike">
                <a:solidFill>
                  <a:srgbClr val="F8F2E8"/>
                </a:solidFill>
                <a:latin typeface="Plus Jakarta Sans ExtraBold"/>
                <a:ea typeface="Plus Jakarta Sans ExtraBold"/>
                <a:cs typeface="Plus Jakarta Sans ExtraBold"/>
                <a:sym typeface="Plus Jakarta Sans ExtraBold"/>
              </a:rPr>
              <a:t>Pre-Entrega 6</a:t>
            </a:r>
            <a:endParaRPr b="0" i="0" sz="44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4"/>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Diseñás una estrategia de eficiencia: prompts profesionales recurrentes + una matriz de ahorro de costos para tareas masivas.</a:t>
            </a:r>
            <a:endParaRPr/>
          </a:p>
          <a:p>
            <a:pPr indent="-228600" lvl="0" marL="228600" marR="0" rtl="0" algn="l">
              <a:lnSpc>
                <a:spcPct val="110000"/>
              </a:lnSpc>
              <a:spcBef>
                <a:spcPts val="3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Pasos 1-2 → </a:t>
            </a:r>
            <a:r>
              <a:rPr b="0" i="0" lang="es" sz="1300" u="none" cap="none" strike="noStrike">
                <a:solidFill>
                  <a:srgbClr val="171717"/>
                </a:solidFill>
                <a:latin typeface="Plus Jakarta Sans"/>
                <a:ea typeface="Plus Jakarta Sans"/>
                <a:cs typeface="Plus Jakarta Sans"/>
                <a:sym typeface="Plus Jakarta Sans"/>
              </a:rPr>
              <a:t>plantilla de prompt (rol + "pensá paso a paso") y flujo por lotes.</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Paso 3 → </a:t>
            </a:r>
            <a:r>
              <a:rPr b="0" i="0" lang="es" sz="1300" u="none" cap="none" strike="noStrike">
                <a:solidFill>
                  <a:srgbClr val="171717"/>
                </a:solidFill>
                <a:latin typeface="Plus Jakarta Sans"/>
                <a:ea typeface="Plus Jakarta Sans"/>
                <a:cs typeface="Plus Jakarta Sans"/>
                <a:sym typeface="Plus Jakarta Sans"/>
              </a:rPr>
              <a:t>el bloque estático (prefix) para cachear.</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Paso 4 → </a:t>
            </a:r>
            <a:r>
              <a:rPr b="0" i="0" lang="es" sz="1300" u="none" cap="none" strike="noStrike">
                <a:solidFill>
                  <a:srgbClr val="171717"/>
                </a:solidFill>
                <a:latin typeface="Plus Jakarta Sans"/>
                <a:ea typeface="Plus Jakarta Sans"/>
                <a:cs typeface="Plus Jakarta Sans"/>
                <a:sym typeface="Plus Jakarta Sans"/>
              </a:rPr>
              <a:t>la matriz de ahorro (50% batch + caché).</a:t>
            </a:r>
            <a:endParaRPr/>
          </a:p>
          <a:p>
            <a:pPr indent="0" lvl="0" marL="0" marR="0" rtl="0" algn="l">
              <a:lnSpc>
                <a:spcPct val="110000"/>
              </a:lnSpc>
              <a:spcBef>
                <a:spcPts val="35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Objetivo de aprendizaje: </a:t>
            </a:r>
            <a:r>
              <a:rPr b="0" i="0" lang="es" sz="1300" u="none" cap="none" strike="noStrike">
                <a:solidFill>
                  <a:srgbClr val="171717"/>
                </a:solidFill>
                <a:latin typeface="Plus Jakarta Sans"/>
                <a:ea typeface="Plus Jakarta Sans"/>
                <a:cs typeface="Plus Jakarta Sans"/>
                <a:sym typeface="Plus Jakarta Sans"/>
              </a:rPr>
              <a:t>pensar como un arquitecto que cuida la salud financiera del proyecto.</a:t>
            </a:r>
            <a:endParaRPr/>
          </a:p>
        </p:txBody>
      </p:sp>
      <p:sp>
        <p:nvSpPr>
          <p:cNvPr id="328" name="Google Shape;328;p3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¿De qué se trata?</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29" name="Google Shape;329;p34"/>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171717"/>
                </a:solidFill>
                <a:latin typeface="Plus Jakarta Sans"/>
                <a:ea typeface="Plus Jakarta Sans"/>
                <a:cs typeface="Plus Jakarta Sans"/>
                <a:sym typeface="Plus Jakarta Sans"/>
              </a:rPr>
              <a:t>Pre-Entrega 6</a:t>
            </a:r>
            <a:endParaRPr b="0" i="0" sz="25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5"/>
          <p:cNvSpPr txBox="1"/>
          <p:nvPr/>
        </p:nvSpPr>
        <p:spPr>
          <a:xfrm>
            <a:off x="1645050" y="2272675"/>
            <a:ext cx="58539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250"/>
              <a:buFont typeface="Arial"/>
              <a:buNone/>
            </a:pPr>
            <a:r>
              <a:rPr b="1" i="0" lang="es" sz="1250" u="none" cap="none" strike="noStrike">
                <a:solidFill>
                  <a:srgbClr val="FF632B"/>
                </a:solidFill>
                <a:latin typeface="Plus Jakarta Sans"/>
                <a:ea typeface="Plus Jakarta Sans"/>
                <a:cs typeface="Plus Jakarta Sans"/>
                <a:sym typeface="Plus Jakarta Sans"/>
              </a:rPr>
              <a:t>⏱️ Duración estimada: ~2,5 horas</a:t>
            </a:r>
            <a:endParaRPr/>
          </a:p>
          <a:p>
            <a:pPr indent="0" lvl="0" marL="0" marR="0" rtl="0" algn="l">
              <a:lnSpc>
                <a:spcPct val="110000"/>
              </a:lnSpc>
              <a:spcBef>
                <a:spcPts val="150"/>
              </a:spcBef>
              <a:spcAft>
                <a:spcPts val="0"/>
              </a:spcAft>
              <a:buClr>
                <a:srgbClr val="000000"/>
              </a:buClr>
              <a:buSzPts val="1250"/>
              <a:buFont typeface="Arial"/>
              <a:buNone/>
            </a:pPr>
            <a:r>
              <a:rPr b="1" i="0" lang="es" sz="1250" u="none" cap="none" strike="noStrike">
                <a:solidFill>
                  <a:srgbClr val="FF632B"/>
                </a:solidFill>
                <a:latin typeface="Plus Jakarta Sans"/>
                <a:ea typeface="Plus Jakarta Sans"/>
                <a:cs typeface="Plus Jakarta Sans"/>
                <a:sym typeface="Plus Jakarta Sans"/>
              </a:rPr>
              <a:t>📄 Entrega: documento .pdf con prompts, variables y matriz de ahorro</a:t>
            </a:r>
            <a:endParaRPr/>
          </a:p>
          <a:p>
            <a:pPr indent="0" lvl="0" marL="0" marR="0" rtl="0" algn="l">
              <a:lnSpc>
                <a:spcPct val="110000"/>
              </a:lnSpc>
              <a:spcBef>
                <a:spcPts val="45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Diseñá la estrategia: prompts con rol y razonamiento, un flujo Batch para volumen masivo con su cálculo de ahorro, y el prefix a cachear.</a:t>
            </a:r>
            <a:endParaRPr/>
          </a:p>
        </p:txBody>
      </p:sp>
      <p:sp>
        <p:nvSpPr>
          <p:cNvPr id="335" name="Google Shape;335;p3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171717"/>
                </a:solidFill>
                <a:latin typeface="Plus Jakarta Sans ExtraBold"/>
                <a:ea typeface="Plus Jakarta Sans ExtraBold"/>
                <a:cs typeface="Plus Jakarta Sans ExtraBold"/>
                <a:sym typeface="Plus Jakarta Sans ExtraBold"/>
              </a:rPr>
              <a:t>Tu misión</a:t>
            </a:r>
            <a:endParaRPr b="0" i="0" sz="4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336" name="Google Shape;336;p3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highlight>
                  <a:srgbClr val="FDAB2E"/>
                </a:highlight>
                <a:latin typeface="Plus Jakarta Sans"/>
                <a:ea typeface="Plus Jakarta Sans"/>
                <a:cs typeface="Plus Jakarta Sans"/>
                <a:sym typeface="Plus Jakarta Sans"/>
              </a:rPr>
              <a:t>El entregable</a:t>
            </a:r>
            <a:endParaRPr b="0" i="0" sz="22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6"/>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Pasos</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42" name="Google Shape;342;p36"/>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Escribí una plantilla de prompt: asignále a Claude un rol experto y un objetivo detallado.</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Sumá la instrucción "Pensá paso a paso antes de darme la conclusión" para evitar alucinaciones.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Modelá un flujo por lotes (Batch) para un volumen masivo (ej. 500 reseñas) con sus tiempos.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Definí el bloque estático (Prefix) que vas a cachear en ejecuciones recurrentes.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Calculá la matriz de ahorro: aplicá el 50% del Batch y la lectura barata del caché.</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7"/>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Desglose del tiempo:</a:t>
            </a:r>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Redactar los prompts (rol + objetivo + paso a paso) — 50 min.</a:t>
            </a:r>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Modelar el flujo Batch + tiempos — 40 min.</a:t>
            </a:r>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Definir el prefix y armar la matriz de ahorro — 1 h.</a:t>
            </a:r>
            <a:endParaRPr/>
          </a:p>
          <a:p>
            <a:pPr indent="0" lvl="0" marL="0" marR="0" rtl="0" algn="l">
              <a:lnSpc>
                <a:spcPct val="110000"/>
              </a:lnSpc>
              <a:spcBef>
                <a:spcPts val="300"/>
              </a:spcBef>
              <a:spcAft>
                <a:spcPts val="0"/>
              </a:spcAft>
              <a:buClr>
                <a:srgbClr val="000000"/>
              </a:buClr>
              <a:buSzPts val="1300"/>
              <a:buFont typeface="Arial"/>
              <a:buNone/>
            </a:pPr>
            <a:r>
              <a:rPr b="1" i="0" lang="es" sz="1300" u="none" cap="none" strike="noStrike">
                <a:solidFill>
                  <a:srgbClr val="FF632B"/>
                </a:solidFill>
                <a:latin typeface="Plus Jakarta Sans"/>
                <a:ea typeface="Plus Jakarta Sans"/>
                <a:cs typeface="Plus Jakarta Sans"/>
                <a:sym typeface="Plus Jakarta Sans"/>
              </a:rPr>
              <a:t>Total ≈ 2,5 horas.</a:t>
            </a:r>
            <a:endParaRPr/>
          </a:p>
          <a:p>
            <a:pPr indent="0" lvl="0" marL="0" marR="0" rtl="0" algn="l">
              <a:lnSpc>
                <a:spcPct val="110000"/>
              </a:lnSpc>
              <a:spcBef>
                <a:spcPts val="30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Formato: </a:t>
            </a:r>
            <a:r>
              <a:rPr b="0" i="0" lang="es" sz="1300" u="none" cap="none" strike="noStrike">
                <a:solidFill>
                  <a:srgbClr val="171717"/>
                </a:solidFill>
                <a:latin typeface="Plus Jakarta Sans"/>
                <a:ea typeface="Plus Jakarta Sans"/>
                <a:cs typeface="Plus Jakarta Sans"/>
                <a:sym typeface="Plus Jakarta Sans"/>
              </a:rPr>
              <a:t>un .pdf con el diseño de prompts, las variables dinámicas delimitadas y la matriz de ahorro de tokens.</a:t>
            </a:r>
            <a:endParaRPr/>
          </a:p>
        </p:txBody>
      </p:sp>
      <p:sp>
        <p:nvSpPr>
          <p:cNvPr id="348" name="Google Shape;348;p3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Tiempo y formato</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49" name="Google Shape;349;p3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Planificá tu entrega</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8"/>
          <p:cNvSpPr txBox="1"/>
          <p:nvPr/>
        </p:nvSpPr>
        <p:spPr>
          <a:xfrm>
            <a:off x="602400" y="659600"/>
            <a:ext cx="71826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lang="es" sz="4800">
                <a:solidFill>
                  <a:srgbClr val="FF632B"/>
                </a:solidFill>
                <a:latin typeface="Plus Jakarta Sans ExtraBold"/>
                <a:ea typeface="Plus Jakarta Sans ExtraBold"/>
                <a:cs typeface="Plus Jakarta Sans ExtraBold"/>
                <a:sym typeface="Plus Jakarta Sans ExtraBold"/>
              </a:rPr>
              <a:t>¿</a:t>
            </a:r>
            <a:r>
              <a:rPr b="0" i="0" lang="es" sz="4800" u="none" cap="none" strike="noStrike">
                <a:solidFill>
                  <a:srgbClr val="FF632B"/>
                </a:solidFill>
                <a:latin typeface="Plus Jakarta Sans ExtraBold"/>
                <a:ea typeface="Plus Jakarta Sans ExtraBold"/>
                <a:cs typeface="Plus Jakarta Sans ExtraBold"/>
                <a:sym typeface="Plus Jakarta Sans ExtraBold"/>
              </a:rPr>
              <a:t>Cómo se evalúa?</a:t>
            </a:r>
            <a:r>
              <a:rPr b="0" i="0" lang="es" sz="2400" u="none" cap="none" strike="noStrike">
                <a:solidFill>
                  <a:srgbClr val="260700"/>
                </a:solidFill>
                <a:latin typeface="Plus Jakarta Sans"/>
                <a:ea typeface="Plus Jakarta Sans"/>
                <a:cs typeface="Plus Jakarta Sans"/>
                <a:sym typeface="Plus Jakarta Sans"/>
              </a:rPr>
              <a:t> · 60 pts</a:t>
            </a:r>
            <a:endParaRPr b="0" i="0" sz="2400" u="none" cap="none" strike="noStrike">
              <a:solidFill>
                <a:srgbClr val="260700"/>
              </a:solidFill>
              <a:latin typeface="Plus Jakarta Sans"/>
              <a:ea typeface="Plus Jakarta Sans"/>
              <a:cs typeface="Plus Jakarta Sans"/>
              <a:sym typeface="Plus Jakarta Sans"/>
            </a:endParaRPr>
          </a:p>
        </p:txBody>
      </p:sp>
      <p:sp>
        <p:nvSpPr>
          <p:cNvPr id="355" name="Google Shape;355;p38"/>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Ingeniería de prompts · 40%</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Prompts con rol experto, "pensá paso a paso" y fuente de verdad en el caché.</a:t>
            </a:r>
            <a:endParaRPr/>
          </a:p>
        </p:txBody>
      </p:sp>
      <p:sp>
        <p:nvSpPr>
          <p:cNvPr id="356" name="Google Shape;356;p38"/>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Cálculo de eficiencia · 30%</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Demostración matemática del 50% de ahorro con Batches + Prompt Caching.</a:t>
            </a:r>
            <a:endParaRPr/>
          </a:p>
        </p:txBody>
      </p:sp>
      <p:sp>
        <p:nvSpPr>
          <p:cNvPr id="357" name="Google Shape;357;p38"/>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Modelado del flujo Batch · 30%</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Modelado visual o descriptivo del flujo por lotes con sus marcas de tiempo.</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9"/>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Ya tenés el cerebro de razonamiento más potente y barato. En el Módulo 7 lo ponés a crear: diseño de agentes y automatización de la creatividad.</a:t>
            </a:r>
            <a:endParaRPr/>
          </a:p>
          <a:p>
            <a:pPr indent="-228600" lvl="0" marL="228600" marR="0" rtl="0" algn="l">
              <a:lnSpc>
                <a:spcPct val="110000"/>
              </a:lnSpc>
              <a:spcBef>
                <a:spcPts val="3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Módulo 7: </a:t>
            </a:r>
            <a:r>
              <a:rPr b="0" i="0" lang="es" sz="1300" u="none" cap="none" strike="noStrike">
                <a:solidFill>
                  <a:srgbClr val="171717"/>
                </a:solidFill>
                <a:latin typeface="Plus Jakarta Sans"/>
                <a:ea typeface="Plus Jakarta Sans"/>
                <a:cs typeface="Plus Jakarta Sans"/>
                <a:sym typeface="Plus Jakarta Sans"/>
              </a:rPr>
              <a:t>agentes creativos y generación de contenido a escala.</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Tu estrategia de costos de hoy </a:t>
            </a:r>
            <a:r>
              <a:rPr b="0" i="0" lang="es" sz="1300" u="none" cap="none" strike="noStrike">
                <a:solidFill>
                  <a:srgbClr val="171717"/>
                </a:solidFill>
                <a:latin typeface="Plus Jakarta Sans"/>
                <a:ea typeface="Plus Jakarta Sans"/>
                <a:cs typeface="Plus Jakarta Sans"/>
                <a:sym typeface="Plus Jakarta Sans"/>
              </a:rPr>
              <a:t>hace que esos agentes creativos sean sostenibles.</a:t>
            </a:r>
            <a:endParaRPr/>
          </a:p>
          <a:p>
            <a:pPr indent="0" lvl="0" marL="0" marR="0" rtl="0" algn="l">
              <a:lnSpc>
                <a:spcPct val="110000"/>
              </a:lnSpc>
              <a:spcBef>
                <a:spcPts val="400"/>
              </a:spcBef>
              <a:spcAft>
                <a:spcPts val="0"/>
              </a:spcAft>
              <a:buClr>
                <a:srgbClr val="000000"/>
              </a:buClr>
              <a:buSzPts val="1300"/>
              <a:buFont typeface="Arial"/>
              <a:buNone/>
            </a:pPr>
            <a:r>
              <a:rPr b="0" i="1" lang="es" sz="1300" u="none" cap="none" strike="noStrike">
                <a:solidFill>
                  <a:srgbClr val="171717"/>
                </a:solidFill>
                <a:latin typeface="Plus Jakarta Sans"/>
                <a:ea typeface="Plus Jakarta Sans"/>
                <a:cs typeface="Plus Jakarta Sans"/>
                <a:sym typeface="Plus Jakarta Sans"/>
              </a:rPr>
              <a:t>Un arquitecto de élite no solo hace que funcione: cuida la salud financiera del proyecto.</a:t>
            </a:r>
            <a:endParaRPr/>
          </a:p>
        </p:txBody>
      </p:sp>
      <p:sp>
        <p:nvSpPr>
          <p:cNvPr id="363" name="Google Shape;363;p3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s" sz="2800" u="none" cap="none" strike="noStrike">
                <a:solidFill>
                  <a:srgbClr val="FF632B"/>
                </a:solidFill>
                <a:latin typeface="Plus Jakarta Sans ExtraBold"/>
                <a:ea typeface="Plus Jakarta Sans ExtraBold"/>
                <a:cs typeface="Plus Jakarta Sans ExtraBold"/>
                <a:sym typeface="Plus Jakarta Sans ExtraBold"/>
              </a:rPr>
              <a:t>¿Cómo continúa el proyecto?</a:t>
            </a:r>
            <a:endParaRPr b="0" i="0" sz="28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64" name="Google Shape;364;p3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Puente al Módulo 7</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0"/>
          <p:cNvSpPr txBox="1"/>
          <p:nvPr/>
        </p:nvSpPr>
        <p:spPr>
          <a:xfrm>
            <a:off x="739075" y="3510226"/>
            <a:ext cx="7815600" cy="274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es" sz="1200" u="none" cap="none" strike="noStrike">
                <a:solidFill>
                  <a:srgbClr val="F8F2E8"/>
                </a:solidFill>
                <a:latin typeface="Plus Jakarta Sans Light"/>
                <a:ea typeface="Plus Jakarta Sans Light"/>
                <a:cs typeface="Plus Jakarta Sans Light"/>
                <a:sym typeface="Plus Jakarta Sans Light"/>
              </a:rPr>
              <a:t>El cerebro más potente también puede ser el más barato. Soltá tus dudas del módulo.</a:t>
            </a:r>
            <a:endParaRPr b="0" i="0" sz="1200" u="none" cap="none" strike="noStrike">
              <a:solidFill>
                <a:srgbClr val="F8F2E8"/>
              </a:solidFill>
              <a:latin typeface="Plus Jakarta Sans Light"/>
              <a:ea typeface="Plus Jakarta Sans Light"/>
              <a:cs typeface="Plus Jakarta Sans Light"/>
              <a:sym typeface="Plus Jakarta Sans Light"/>
            </a:endParaRPr>
          </a:p>
        </p:txBody>
      </p:sp>
      <p:sp>
        <p:nvSpPr>
          <p:cNvPr id="370" name="Google Shape;370;p40"/>
          <p:cNvSpPr txBox="1"/>
          <p:nvPr/>
        </p:nvSpPr>
        <p:spPr>
          <a:xfrm>
            <a:off x="1415425" y="2371426"/>
            <a:ext cx="6462900" cy="1138800"/>
          </a:xfrm>
          <a:prstGeom prst="rect">
            <a:avLst/>
          </a:prstGeom>
          <a:noFill/>
          <a:ln>
            <a:noFill/>
          </a:ln>
        </p:spPr>
        <p:txBody>
          <a:bodyPr anchorCtr="0" anchor="t" bIns="91425" lIns="91425" spcFirstLastPara="1" rIns="91425" wrap="square" tIns="91425">
            <a:noAutofit/>
          </a:bodyPr>
          <a:lstStyle/>
          <a:p>
            <a:pPr indent="0" lvl="0" marL="0" marR="0" rtl="0" algn="ctr">
              <a:lnSpc>
                <a:spcPct val="7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¿Preguntas?</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1"/>
          <p:cNvSpPr txBox="1"/>
          <p:nvPr/>
        </p:nvSpPr>
        <p:spPr>
          <a:xfrm>
            <a:off x="571500" y="2175175"/>
            <a:ext cx="6462900" cy="15000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0" i="0" lang="es" sz="4000" u="none" cap="none" strike="noStrike">
                <a:solidFill>
                  <a:srgbClr val="260700"/>
                </a:solidFill>
                <a:latin typeface="Plus Jakarta Sans ExtraBold"/>
                <a:ea typeface="Plus Jakarta Sans ExtraBold"/>
                <a:cs typeface="Plus Jakarta Sans ExtraBold"/>
                <a:sym typeface="Plus Jakarta Sans ExtraBold"/>
              </a:rPr>
              <a:t>¡Cerramos el Módulo 6,</a:t>
            </a:r>
            <a:endParaRPr b="0" i="0" sz="4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70000"/>
              </a:lnSpc>
              <a:spcBef>
                <a:spcPts val="0"/>
              </a:spcBef>
              <a:spcAft>
                <a:spcPts val="0"/>
              </a:spcAft>
              <a:buClr>
                <a:srgbClr val="000000"/>
              </a:buClr>
              <a:buSzPts val="4000"/>
              <a:buFont typeface="Arial"/>
              <a:buNone/>
            </a:pPr>
            <a:r>
              <a:rPr b="0" i="0" lang="es" sz="4000" u="none" cap="none" strike="noStrike">
                <a:solidFill>
                  <a:srgbClr val="260700"/>
                </a:solidFill>
                <a:latin typeface="Plus Jakarta Sans ExtraBold"/>
                <a:ea typeface="Plus Jakarta Sans ExtraBold"/>
                <a:cs typeface="Plus Jakarta Sans ExtraBold"/>
                <a:sym typeface="Plus Jakarta Sans ExtraBold"/>
              </a:rPr>
              <a:t>arquitectos!</a:t>
            </a:r>
            <a:endParaRPr b="0" i="0" sz="4000" u="none" cap="none" strike="noStrike">
              <a:solidFill>
                <a:srgbClr val="260700"/>
              </a:solidFill>
              <a:latin typeface="Plus Jakarta Sans ExtraBold"/>
              <a:ea typeface="Plus Jakarta Sans ExtraBold"/>
              <a:cs typeface="Plus Jakarta Sans ExtraBold"/>
              <a:sym typeface="Plus Jakarta Sans ExtraBold"/>
            </a:endParaRPr>
          </a:p>
        </p:txBody>
      </p:sp>
      <p:sp>
        <p:nvSpPr>
          <p:cNvPr id="376" name="Google Shape;376;p41"/>
          <p:cNvSpPr txBox="1"/>
          <p:nvPr/>
        </p:nvSpPr>
        <p:spPr>
          <a:xfrm>
            <a:off x="571500" y="3792150"/>
            <a:ext cx="8001000" cy="906300"/>
          </a:xfrm>
          <a:prstGeom prst="rect">
            <a:avLst/>
          </a:prstGeom>
          <a:noFill/>
          <a:ln>
            <a:noFill/>
          </a:ln>
        </p:spPr>
        <p:txBody>
          <a:bodyPr anchorCtr="0" anchor="b" bIns="0" lIns="0" spcFirstLastPara="1" rIns="0" wrap="square" tIns="0">
            <a:noAutofit/>
          </a:bodyPr>
          <a:lstStyle/>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260700"/>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b="0" i="0" sz="600" u="none" cap="none" strike="noStrike">
              <a:solidFill>
                <a:srgbClr val="260700"/>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t/>
            </a:r>
            <a:endParaRPr b="0" i="0" sz="600" u="none" cap="none" strike="noStrike">
              <a:solidFill>
                <a:srgbClr val="260700"/>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260700"/>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b="0" i="0" sz="600" u="none" cap="none" strike="noStrike">
              <a:solidFill>
                <a:srgbClr val="260700"/>
              </a:solidFill>
              <a:latin typeface="Plus Jakarta Sans"/>
              <a:ea typeface="Plus Jakarta Sans"/>
              <a:cs typeface="Plus Jakarta Sans"/>
              <a:sym typeface="Plus Jakarta Sans"/>
            </a:endParaRPr>
          </a:p>
        </p:txBody>
      </p:sp>
      <p:pic>
        <p:nvPicPr>
          <p:cNvPr id="377" name="Google Shape;377;p41" title="Group 1321320857.png"/>
          <p:cNvPicPr preferRelativeResize="0"/>
          <p:nvPr/>
        </p:nvPicPr>
        <p:blipFill rotWithShape="1">
          <a:blip r:embed="rId3">
            <a:alphaModFix/>
          </a:blip>
          <a:srcRect b="0" l="0" r="0" t="0"/>
          <a:stretch/>
        </p:blipFill>
        <p:spPr>
          <a:xfrm>
            <a:off x="7259075" y="488075"/>
            <a:ext cx="1221826" cy="356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