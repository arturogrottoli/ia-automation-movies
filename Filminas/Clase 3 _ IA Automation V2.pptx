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Plus Jakarta Sans ExtraBold"/>
      <p:bold r:id="rId49"/>
      <p:boldItalic r:id="rId50"/>
    </p:embeddedFont>
    <p:embeddedFont>
      <p:font typeface="Plus Jakarta Sans"/>
      <p:regular r:id="rId51"/>
      <p:bold r:id="rId52"/>
      <p:italic r:id="rId53"/>
      <p:boldItalic r:id="rId54"/>
    </p:embeddedFont>
    <p:embeddedFont>
      <p:font typeface="Plus Jakarta Sans Light"/>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iTklxL1jIKzgeqPeDIRns/lCMz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PlusJakartaSansExtraBo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lusJakartaSans-regular.fntdata"/><Relationship Id="rId50" Type="http://schemas.openxmlformats.org/officeDocument/2006/relationships/font" Target="fonts/PlusJakartaSansExtraBold-boldItalic.fntdata"/><Relationship Id="rId53" Type="http://schemas.openxmlformats.org/officeDocument/2006/relationships/font" Target="fonts/PlusJakartaSans-italic.fntdata"/><Relationship Id="rId52" Type="http://schemas.openxmlformats.org/officeDocument/2006/relationships/font" Target="fonts/PlusJakartaSans-bold.fntdata"/><Relationship Id="rId11" Type="http://schemas.openxmlformats.org/officeDocument/2006/relationships/slide" Target="slides/slide6.xml"/><Relationship Id="rId55" Type="http://schemas.openxmlformats.org/officeDocument/2006/relationships/font" Target="fonts/PlusJakartaSansLight-regular.fntdata"/><Relationship Id="rId10" Type="http://schemas.openxmlformats.org/officeDocument/2006/relationships/slide" Target="slides/slide5.xml"/><Relationship Id="rId54" Type="http://schemas.openxmlformats.org/officeDocument/2006/relationships/font" Target="fonts/PlusJakartaSans-boldItalic.fntdata"/><Relationship Id="rId13" Type="http://schemas.openxmlformats.org/officeDocument/2006/relationships/slide" Target="slides/slide8.xml"/><Relationship Id="rId57" Type="http://schemas.openxmlformats.org/officeDocument/2006/relationships/font" Target="fonts/PlusJakartaSansLight-italic.fntdata"/><Relationship Id="rId12" Type="http://schemas.openxmlformats.org/officeDocument/2006/relationships/slide" Target="slides/slide7.xml"/><Relationship Id="rId56" Type="http://schemas.openxmlformats.org/officeDocument/2006/relationships/font" Target="fonts/PlusJakartaSansLight-bold.fntdata"/><Relationship Id="rId15" Type="http://schemas.openxmlformats.org/officeDocument/2006/relationships/slide" Target="slides/slide10.xml"/><Relationship Id="rId59" Type="http://customschemas.google.com/relationships/presentationmetadata" Target="metadata"/><Relationship Id="rId14" Type="http://schemas.openxmlformats.org/officeDocument/2006/relationships/slide" Target="slides/slide9.xml"/><Relationship Id="rId58" Type="http://schemas.openxmlformats.org/officeDocument/2006/relationships/font" Target="fonts/PlusJakartaSansLight-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1ced3f6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3f1ced3f6b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1accc46a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f1accc46a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1accc46a3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g3f1accc46a3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1accc46a3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g3f1accc46a3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9" name="Shape 9"/>
        <p:cNvGrpSpPr/>
        <p:nvPr/>
      </p:nvGrpSpPr>
      <p:grpSpPr>
        <a:xfrm>
          <a:off x="0" y="0"/>
          <a:ext cx="0" cy="0"/>
          <a:chOff x="0" y="0"/>
          <a:chExt cx="0" cy="0"/>
        </a:xfrm>
      </p:grpSpPr>
      <p:pic>
        <p:nvPicPr>
          <p:cNvPr id="10" name="Google Shape;10;p43"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11" name="Shape 11"/>
        <p:cNvGrpSpPr/>
        <p:nvPr/>
      </p:nvGrpSpPr>
      <p:grpSpPr>
        <a:xfrm>
          <a:off x="0" y="0"/>
          <a:ext cx="0" cy="0"/>
          <a:chOff x="0" y="0"/>
          <a:chExt cx="0" cy="0"/>
        </a:xfrm>
      </p:grpSpPr>
      <p:sp>
        <p:nvSpPr>
          <p:cNvPr id="12" name="Google Shape;1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13" name="Google Shape;13;p44"/>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14" name="Google Shape;14;p44"/>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15" name="Google Shape;15;p44"/>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16" name="Google Shape;16;p44"/>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17" name="Shape 17"/>
        <p:cNvGrpSpPr/>
        <p:nvPr/>
      </p:nvGrpSpPr>
      <p:grpSpPr>
        <a:xfrm>
          <a:off x="0" y="0"/>
          <a:ext cx="0" cy="0"/>
          <a:chOff x="0" y="0"/>
          <a:chExt cx="0" cy="0"/>
        </a:xfrm>
      </p:grpSpPr>
      <p:sp>
        <p:nvSpPr>
          <p:cNvPr id="18" name="Google Shape;1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9" name="Shape 19"/>
        <p:cNvGrpSpPr/>
        <p:nvPr/>
      </p:nvGrpSpPr>
      <p:grpSpPr>
        <a:xfrm>
          <a:off x="0" y="0"/>
          <a:ext cx="0" cy="0"/>
          <a:chOff x="0" y="0"/>
          <a:chExt cx="0" cy="0"/>
        </a:xfrm>
      </p:grpSpPr>
      <p:sp>
        <p:nvSpPr>
          <p:cNvPr id="20" name="Google Shape;20;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21" name="Shape 21"/>
        <p:cNvGrpSpPr/>
        <p:nvPr/>
      </p:nvGrpSpPr>
      <p:grpSpPr>
        <a:xfrm>
          <a:off x="0" y="0"/>
          <a:ext cx="0" cy="0"/>
          <a:chOff x="0" y="0"/>
          <a:chExt cx="0" cy="0"/>
        </a:xfrm>
      </p:grpSpPr>
      <p:sp>
        <p:nvSpPr>
          <p:cNvPr id="22" name="Google Shape;22;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23" name="Shape 23"/>
        <p:cNvGrpSpPr/>
        <p:nvPr/>
      </p:nvGrpSpPr>
      <p:grpSpPr>
        <a:xfrm>
          <a:off x="0" y="0"/>
          <a:ext cx="0" cy="0"/>
          <a:chOff x="0" y="0"/>
          <a:chExt cx="0" cy="0"/>
        </a:xfrm>
      </p:grpSpPr>
      <p:sp>
        <p:nvSpPr>
          <p:cNvPr id="24" name="Google Shape;2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25" name="Shape 25"/>
        <p:cNvGrpSpPr/>
        <p:nvPr/>
      </p:nvGrpSpPr>
      <p:grpSpPr>
        <a:xfrm>
          <a:off x="0" y="0"/>
          <a:ext cx="0" cy="0"/>
          <a:chOff x="0" y="0"/>
          <a:chExt cx="0" cy="0"/>
        </a:xfrm>
      </p:grpSpPr>
      <p:pic>
        <p:nvPicPr>
          <p:cNvPr id="26" name="Google Shape;26;p49" title="4d917f2d-7c08-49ef-b177-326a60a5c815.png"/>
          <p:cNvPicPr preferRelativeResize="0"/>
          <p:nvPr/>
        </p:nvPicPr>
        <p:blipFill rotWithShape="1">
          <a:blip r:embed="rId2">
            <a:alphaModFix/>
          </a:blip>
          <a:srcRect b="23542" l="0" r="0" t="34387"/>
          <a:stretch/>
        </p:blipFill>
        <p:spPr>
          <a:xfrm>
            <a:off x="-45875" y="-37100"/>
            <a:ext cx="9235753" cy="5180600"/>
          </a:xfrm>
          <a:prstGeom prst="rect">
            <a:avLst/>
          </a:prstGeom>
          <a:noFill/>
          <a:ln>
            <a:noFill/>
          </a:ln>
        </p:spPr>
      </p:pic>
      <p:sp>
        <p:nvSpPr>
          <p:cNvPr id="27" name="Google Shape;27;p49"/>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28" name="Google Shape;28;p49"/>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29" name="Google Shape;29;p49"/>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30" name="Google Shape;30;p49"/>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31" name="Shape 31"/>
        <p:cNvGrpSpPr/>
        <p:nvPr/>
      </p:nvGrpSpPr>
      <p:grpSpPr>
        <a:xfrm>
          <a:off x="0" y="0"/>
          <a:ext cx="0" cy="0"/>
          <a:chOff x="0" y="0"/>
          <a:chExt cx="0" cy="0"/>
        </a:xfrm>
      </p:grpSpPr>
      <p:sp>
        <p:nvSpPr>
          <p:cNvPr id="32" name="Google Shape;3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33" name="Google Shape;33;p50" title="Group 1321318181.png"/>
          <p:cNvPicPr preferRelativeResize="0"/>
          <p:nvPr/>
        </p:nvPicPr>
        <p:blipFill rotWithShape="1">
          <a:blip r:embed="rId2">
            <a:alphaModFix/>
          </a:blip>
          <a:srcRect b="0" l="0" r="0" t="0"/>
          <a:stretch/>
        </p:blipFill>
        <p:spPr>
          <a:xfrm>
            <a:off x="0" y="2076162"/>
            <a:ext cx="9143997" cy="306733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p5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6" name="Google Shape;36;p5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7" name="Google Shape;3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5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0" name="Google Shape;40;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sp>
        <p:nvSpPr>
          <p:cNvPr id="42" name="Google Shape;42;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5" name="Shape 45"/>
        <p:cNvGrpSpPr/>
        <p:nvPr/>
      </p:nvGrpSpPr>
      <p:grpSpPr>
        <a:xfrm>
          <a:off x="0" y="0"/>
          <a:ext cx="0" cy="0"/>
          <a:chOff x="0" y="0"/>
          <a:chExt cx="0" cy="0"/>
        </a:xfrm>
      </p:grpSpPr>
      <p:sp>
        <p:nvSpPr>
          <p:cNvPr id="46" name="Google Shape;46;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 name="Google Shape;47;p5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8" name="Google Shape;48;p5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9" name="Google Shape;49;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5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5" name="Google Shape;55;p5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6" name="Google Shape;56;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7" name="Shape 57"/>
        <p:cNvGrpSpPr/>
        <p:nvPr/>
      </p:nvGrpSpPr>
      <p:grpSpPr>
        <a:xfrm>
          <a:off x="0" y="0"/>
          <a:ext cx="0" cy="0"/>
          <a:chOff x="0" y="0"/>
          <a:chExt cx="0" cy="0"/>
        </a:xfrm>
      </p:grpSpPr>
      <p:sp>
        <p:nvSpPr>
          <p:cNvPr id="58" name="Google Shape;58;p5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9" name="Google Shape;59;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0" name="Shape 60"/>
        <p:cNvGrpSpPr/>
        <p:nvPr/>
      </p:nvGrpSpPr>
      <p:grpSpPr>
        <a:xfrm>
          <a:off x="0" y="0"/>
          <a:ext cx="0" cy="0"/>
          <a:chOff x="0" y="0"/>
          <a:chExt cx="0" cy="0"/>
        </a:xfrm>
      </p:grpSpPr>
      <p:sp>
        <p:nvSpPr>
          <p:cNvPr id="61" name="Google Shape;61;p5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5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3" name="Google Shape;63;p5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5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5" name="Google Shape;65;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5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8" name="Google Shape;68;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 name="Shape 69"/>
        <p:cNvGrpSpPr/>
        <p:nvPr/>
      </p:nvGrpSpPr>
      <p:grpSpPr>
        <a:xfrm>
          <a:off x="0" y="0"/>
          <a:ext cx="0" cy="0"/>
          <a:chOff x="0" y="0"/>
          <a:chExt cx="0" cy="0"/>
        </a:xfrm>
      </p:grpSpPr>
      <p:sp>
        <p:nvSpPr>
          <p:cNvPr id="70" name="Google Shape;70;p6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1" name="Google Shape;71;p6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2" name="Google Shape;72;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73" name="Shape 73"/>
        <p:cNvGrpSpPr/>
        <p:nvPr/>
      </p:nvGrpSpPr>
      <p:grpSpPr>
        <a:xfrm>
          <a:off x="0" y="0"/>
          <a:ext cx="0" cy="0"/>
          <a:chOff x="0" y="0"/>
          <a:chExt cx="0" cy="0"/>
        </a:xfrm>
      </p:grpSpPr>
      <p:pic>
        <p:nvPicPr>
          <p:cNvPr id="74" name="Google Shape;74;p61" title="27800720-6c2b-4e33-a6ed-849e08f57757.png"/>
          <p:cNvPicPr preferRelativeResize="0"/>
          <p:nvPr/>
        </p:nvPicPr>
        <p:blipFill rotWithShape="1">
          <a:blip r:embed="rId2">
            <a:alphaModFix/>
          </a:blip>
          <a:srcRect b="53399" l="0" r="0" t="15047"/>
          <a:stretch/>
        </p:blipFill>
        <p:spPr>
          <a:xfrm>
            <a:off x="-45875" y="-37100"/>
            <a:ext cx="9235751" cy="5180600"/>
          </a:xfrm>
          <a:prstGeom prst="rect">
            <a:avLst/>
          </a:prstGeom>
          <a:noFill/>
          <a:ln>
            <a:noFill/>
          </a:ln>
        </p:spPr>
      </p:pic>
      <p:sp>
        <p:nvSpPr>
          <p:cNvPr id="75" name="Google Shape;75;p61"/>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76" name="Google Shape;76;p61"/>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77" name="Google Shape;77;p61"/>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78" name="Google Shape;78;p61"/>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79" name="Shape 79"/>
        <p:cNvGrpSpPr/>
        <p:nvPr/>
      </p:nvGrpSpPr>
      <p:grpSpPr>
        <a:xfrm>
          <a:off x="0" y="0"/>
          <a:ext cx="0" cy="0"/>
          <a:chOff x="0" y="0"/>
          <a:chExt cx="0" cy="0"/>
        </a:xfrm>
      </p:grpSpPr>
      <p:pic>
        <p:nvPicPr>
          <p:cNvPr id="80" name="Google Shape;80;p62" title="pexels-dystopiasavagestudios-33048706 1.png"/>
          <p:cNvPicPr preferRelativeResize="0"/>
          <p:nvPr/>
        </p:nvPicPr>
        <p:blipFill rotWithShape="1">
          <a:blip r:embed="rId2">
            <a:alphaModFix/>
          </a:blip>
          <a:srcRect b="41728" l="0" r="0" t="13874"/>
          <a:stretch/>
        </p:blipFill>
        <p:spPr>
          <a:xfrm>
            <a:off x="-45875" y="-37100"/>
            <a:ext cx="9235753" cy="5180600"/>
          </a:xfrm>
          <a:prstGeom prst="rect">
            <a:avLst/>
          </a:prstGeom>
          <a:noFill/>
          <a:ln>
            <a:noFill/>
          </a:ln>
        </p:spPr>
      </p:pic>
      <p:sp>
        <p:nvSpPr>
          <p:cNvPr id="81" name="Google Shape;81;p62"/>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82" name="Google Shape;82;p62"/>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83" name="Google Shape;83;p62"/>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84" name="Google Shape;84;p62"/>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85" name="Shape 85"/>
        <p:cNvGrpSpPr/>
        <p:nvPr/>
      </p:nvGrpSpPr>
      <p:grpSpPr>
        <a:xfrm>
          <a:off x="0" y="0"/>
          <a:ext cx="0" cy="0"/>
          <a:chOff x="0" y="0"/>
          <a:chExt cx="0" cy="0"/>
        </a:xfrm>
      </p:grpSpPr>
      <p:sp>
        <p:nvSpPr>
          <p:cNvPr id="86" name="Google Shape;86;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nvSpPr>
        <p:spPr>
          <a:xfrm>
            <a:off x="1340550" y="1539125"/>
            <a:ext cx="6462900" cy="138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600"/>
              <a:buFont typeface="Arial"/>
              <a:buNone/>
            </a:pPr>
            <a:r>
              <a:rPr b="0" i="0" lang="es" sz="6600" u="none" cap="none" strike="noStrike">
                <a:solidFill>
                  <a:srgbClr val="F8F2E8"/>
                </a:solidFill>
                <a:latin typeface="Plus Jakarta Sans ExtraBold"/>
                <a:ea typeface="Plus Jakarta Sans ExtraBold"/>
                <a:cs typeface="Plus Jakarta Sans ExtraBold"/>
                <a:sym typeface="Plus Jakarta Sans ExtraBold"/>
              </a:rPr>
              <a:t>IA Automation</a:t>
            </a:r>
            <a:endParaRPr b="0" i="0" sz="66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92" name="Google Shape;92;p1"/>
          <p:cNvSpPr txBox="1"/>
          <p:nvPr/>
        </p:nvSpPr>
        <p:spPr>
          <a:xfrm>
            <a:off x="1340550" y="13381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000" u="none" cap="none" strike="noStrike">
                <a:solidFill>
                  <a:srgbClr val="F8F2E8"/>
                </a:solidFill>
                <a:latin typeface="Plus Jakarta Sans Light"/>
                <a:ea typeface="Plus Jakarta Sans Light"/>
                <a:cs typeface="Plus Jakarta Sans Light"/>
                <a:sym typeface="Plus Jakarta Sans Light"/>
              </a:rPr>
              <a:t>Programa · Comisión 2026</a:t>
            </a:r>
            <a:endParaRPr b="0" i="0" sz="1000" u="none" cap="none" strike="noStrike">
              <a:solidFill>
                <a:srgbClr val="F8F2E8"/>
              </a:solidFill>
              <a:latin typeface="Plus Jakarta Sans Light"/>
              <a:ea typeface="Plus Jakarta Sans Light"/>
              <a:cs typeface="Plus Jakarta Sans Light"/>
              <a:sym typeface="Plus Jakarta Sans Light"/>
            </a:endParaRPr>
          </a:p>
        </p:txBody>
      </p:sp>
      <p:pic>
        <p:nvPicPr>
          <p:cNvPr id="93" name="Google Shape;93;p1" title="logo gradient 1.png"/>
          <p:cNvPicPr preferRelativeResize="0"/>
          <p:nvPr/>
        </p:nvPicPr>
        <p:blipFill rotWithShape="1">
          <a:blip r:embed="rId3">
            <a:alphaModFix/>
          </a:blip>
          <a:srcRect b="0" l="0" r="0" t="0"/>
          <a:stretch/>
        </p:blipFill>
        <p:spPr>
          <a:xfrm>
            <a:off x="3830803" y="4523150"/>
            <a:ext cx="1547950" cy="452250"/>
          </a:xfrm>
          <a:prstGeom prst="rect">
            <a:avLst/>
          </a:prstGeom>
          <a:noFill/>
          <a:ln>
            <a:noFill/>
          </a:ln>
        </p:spPr>
      </p:pic>
      <p:sp>
        <p:nvSpPr>
          <p:cNvPr id="94" name="Google Shape;94;p1"/>
          <p:cNvSpPr txBox="1"/>
          <p:nvPr/>
        </p:nvSpPr>
        <p:spPr>
          <a:xfrm>
            <a:off x="1373325" y="32195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600" u="none" cap="none" strike="noStrike">
                <a:solidFill>
                  <a:srgbClr val="F8F2E8"/>
                </a:solidFill>
                <a:latin typeface="Plus Jakarta Sans"/>
                <a:ea typeface="Plus Jakarta Sans"/>
                <a:cs typeface="Plus Jakarta Sans"/>
                <a:sym typeface="Plus Jakarta Sans"/>
              </a:rPr>
              <a:t>Módulo 3:</a:t>
            </a:r>
            <a:endParaRPr b="1" i="0" sz="1600" u="none" cap="none" strike="noStrike">
              <a:solidFill>
                <a:srgbClr val="F8F2E8"/>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000"/>
              <a:buFont typeface="Arial"/>
              <a:buNone/>
            </a:pPr>
            <a:r>
              <a:rPr b="0" i="0" lang="es" sz="1600" u="none" cap="none" strike="noStrike">
                <a:solidFill>
                  <a:srgbClr val="F8F2E8"/>
                </a:solidFill>
                <a:latin typeface="Plus Jakarta Sans Light"/>
                <a:ea typeface="Plus Jakarta Sans Light"/>
                <a:cs typeface="Plus Jakarta Sans Light"/>
                <a:sym typeface="Plus Jakarta Sans Light"/>
              </a:rPr>
              <a:t>Orquestación No-Code con Make (Integromat)</a:t>
            </a:r>
            <a:endParaRPr b="0" i="0" sz="1600" u="none" cap="none" strike="noStrike">
              <a:solidFill>
                <a:srgbClr val="F8F2E8"/>
              </a:solidFill>
              <a:latin typeface="Plus Jakarta Sans Light"/>
              <a:ea typeface="Plus Jakarta Sans Light"/>
              <a:cs typeface="Plus Jakarta Sans Light"/>
              <a:sym typeface="Plus Jakarta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Objetivos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0" name="Google Shape;100;p3"/>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Navegar el lienzo de Make: escenarios, módulos, triggers y acciones.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Diseñar flujos que deciden con Routers, Filtros y funciones de transformación.</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Dominar JSON y el mapeo de variables dinámicas entre apps.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Integrar OpenAI para que tus flujos entiendan y clasifiquen texto.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Blindar tus escenarios con Error Handling y reintentos automáticos.</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Agenda</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6" name="Google Shape;106;p4"/>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La interfaz de Make: escenarios y módulos.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Lógica de flujos: Routers, Filtros y Transformación.</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JSON y Variables: el idioma de los datos.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Flujos profesionales: Error Handling y OpenAI.</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Pre-Entrega 3: tu escenario de clasificación de leads.</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f1ced3f6ba_0_0"/>
          <p:cNvSpPr txBox="1"/>
          <p:nvPr/>
        </p:nvSpPr>
        <p:spPr>
          <a:xfrm>
            <a:off x="652525" y="1605717"/>
            <a:ext cx="7911300" cy="171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¡Esta clase va a ser     grabada!	</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12" name="Google Shape;112;g3f1ced3f6ba_0_0"/>
          <p:cNvSpPr/>
          <p:nvPr/>
        </p:nvSpPr>
        <p:spPr>
          <a:xfrm>
            <a:off x="4457845" y="3514842"/>
            <a:ext cx="228300" cy="228300"/>
          </a:xfrm>
          <a:prstGeom prst="ellipse">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01</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18" name="Google Shape;118;p6"/>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8F2E8"/>
                </a:solidFill>
                <a:latin typeface="Plus Jakarta Sans ExtraBold"/>
                <a:ea typeface="Plus Jakarta Sans ExtraBold"/>
                <a:cs typeface="Plus Jakarta Sans ExtraBold"/>
                <a:sym typeface="Plus Jakarta Sans ExtraBold"/>
              </a:rPr>
              <a:t>La interfaz de Make</a:t>
            </a:r>
            <a:endParaRPr b="0" i="0" sz="36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nvSpPr>
        <p:spPr>
          <a:xfrm>
            <a:off x="739075" y="2481425"/>
            <a:ext cx="58440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Make (antes Integromat) conecta </a:t>
            </a:r>
            <a:r>
              <a:rPr b="1" i="0" lang="es" sz="1150" u="none" cap="none" strike="noStrike">
                <a:solidFill>
                  <a:srgbClr val="171717"/>
                </a:solidFill>
                <a:latin typeface="Plus Jakarta Sans"/>
                <a:ea typeface="Plus Jakarta Sans"/>
                <a:cs typeface="Plus Jakarta Sans"/>
                <a:sym typeface="Plus Jakarta Sans"/>
              </a:rPr>
              <a:t>+1.000 apps sin escribir código</a:t>
            </a:r>
            <a:r>
              <a:rPr b="0" i="0" lang="es" sz="1150" u="none" cap="none" strike="noStrike">
                <a:solidFill>
                  <a:srgbClr val="171717"/>
                </a:solidFill>
                <a:latin typeface="Plus Jakarta Sans"/>
                <a:ea typeface="Plus Jakarta Sans"/>
                <a:cs typeface="Plus Jakarta Sans"/>
                <a:sym typeface="Plus Jakarta Sans"/>
              </a:rPr>
              <a:t>.</a:t>
            </a:r>
            <a:endParaRPr/>
          </a:p>
          <a:p>
            <a:pPr indent="0" lvl="0" marL="0" marR="0" rtl="0" algn="l">
              <a:lnSpc>
                <a:spcPct val="110000"/>
              </a:lnSpc>
              <a:spcBef>
                <a:spcPts val="4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Una automatización se llama </a:t>
            </a:r>
            <a:r>
              <a:rPr b="1" i="0" lang="es" sz="1150" u="none" cap="none" strike="noStrike">
                <a:solidFill>
                  <a:srgbClr val="171717"/>
                </a:solidFill>
                <a:latin typeface="Plus Jakarta Sans"/>
                <a:ea typeface="Plus Jakarta Sans"/>
                <a:cs typeface="Plus Jakarta Sans"/>
                <a:sym typeface="Plus Jakarta Sans"/>
              </a:rPr>
              <a:t>Escenario</a:t>
            </a:r>
            <a:r>
              <a:rPr b="0" i="0" lang="es" sz="1150" u="none" cap="none" strike="noStrike">
                <a:solidFill>
                  <a:srgbClr val="171717"/>
                </a:solidFill>
                <a:latin typeface="Plus Jakarta Sans"/>
                <a:ea typeface="Plus Jakarta Sans"/>
                <a:cs typeface="Plus Jakarta Sans"/>
                <a:sym typeface="Plus Jakarta Sans"/>
              </a:rPr>
              <a:t>: un lienzo visual donde "dibujás" tu proceso con módulos (círculos) unidos por líneas.</a:t>
            </a:r>
            <a:endParaRPr/>
          </a:p>
          <a:p>
            <a:pPr indent="0" lvl="0" marL="0" marR="0" rtl="0" algn="l">
              <a:lnSpc>
                <a:spcPct val="110000"/>
              </a:lnSpc>
              <a:spcBef>
                <a:spcPts val="4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Pensalo como una receta visual: ves el dato viajar de Gmail a Sheets por una línea que une los íconos.</a:t>
            </a:r>
            <a:endParaRPr/>
          </a:p>
        </p:txBody>
      </p:sp>
      <p:sp>
        <p:nvSpPr>
          <p:cNvPr id="124" name="Google Shape;124;p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171717"/>
                </a:solidFill>
                <a:latin typeface="Plus Jakarta Sans ExtraBold"/>
                <a:ea typeface="Plus Jakarta Sans ExtraBold"/>
                <a:cs typeface="Plus Jakarta Sans ExtraBold"/>
                <a:sym typeface="Plus Jakarta Sans ExtraBold"/>
              </a:rPr>
              <a:t>¿Qué es Make?</a:t>
            </a:r>
            <a:endParaRPr b="0" i="0" sz="36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25" name="Google Shape;125;p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Tu lienzo de orquestación</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Los 3 módulos</a:t>
            </a:r>
            <a:endParaRPr b="0" i="0" sz="2400" u="none" cap="none" strike="noStrike">
              <a:solidFill>
                <a:srgbClr val="260700"/>
              </a:solidFill>
              <a:latin typeface="Plus Jakarta Sans"/>
              <a:ea typeface="Plus Jakarta Sans"/>
              <a:cs typeface="Plus Jakarta Sans"/>
              <a:sym typeface="Plus Jakarta Sans"/>
            </a:endParaRPr>
          </a:p>
        </p:txBody>
      </p:sp>
      <p:sp>
        <p:nvSpPr>
          <p:cNvPr id="131" name="Google Shape;131;p8"/>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Triggers</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El "cuándo": el evento que despierta el flujo. Siempre el primer módulo.</a:t>
            </a:r>
            <a:endParaRPr/>
          </a:p>
        </p:txBody>
      </p:sp>
      <p:sp>
        <p:nvSpPr>
          <p:cNvPr id="132" name="Google Shape;132;p8"/>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Acciones</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El "qué": crean, mueven o modifican datos. Hacen el trabajo.</a:t>
            </a:r>
            <a:endParaRPr/>
          </a:p>
        </p:txBody>
      </p:sp>
      <p:sp>
        <p:nvSpPr>
          <p:cNvPr id="133" name="Google Shape;133;p8"/>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Searches</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El "encontrá esto": buscan un dato y lo traen de vuelta al flujo.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El Trigger es siempre el primer módulo: el evento que despierta la automatización. Sin trigger, no pasa nada.</a:t>
            </a:r>
            <a:endParaRPr/>
          </a:p>
          <a:p>
            <a:pPr indent="-228600" lvl="0" marL="228600" marR="0" rtl="0" algn="l">
              <a:lnSpc>
                <a:spcPct val="110000"/>
              </a:lnSpc>
              <a:spcBef>
                <a:spcPts val="3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Polling (programado): </a:t>
            </a:r>
            <a:r>
              <a:rPr b="0" i="0" lang="es" sz="1300" u="none" cap="none" strike="noStrike">
                <a:solidFill>
                  <a:srgbClr val="171717"/>
                </a:solidFill>
                <a:latin typeface="Plus Jakarta Sans"/>
                <a:ea typeface="Plus Jakarta Sans"/>
                <a:cs typeface="Plus Jakarta Sans"/>
                <a:sym typeface="Plus Jakarta Sans"/>
              </a:rPr>
              <a:t>Make pregunta cada X minutos "¿hay algo nuevo?". Ej: revisar Gmail cada 10 min.</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Instant / Webhook: </a:t>
            </a:r>
            <a:r>
              <a:rPr b="0" i="0" lang="es" sz="1300" u="none" cap="none" strike="noStrike">
                <a:solidFill>
                  <a:srgbClr val="171717"/>
                </a:solidFill>
                <a:latin typeface="Plus Jakarta Sans"/>
                <a:ea typeface="Plus Jakarta Sans"/>
                <a:cs typeface="Plus Jakarta Sans"/>
                <a:sym typeface="Plus Jakarta Sans"/>
              </a:rPr>
              <a:t>la app avisa a Make en el milisegundo en que algo pasa. Ej: alguien paga en Stripe.</a:t>
            </a:r>
            <a:endParaRPr/>
          </a:p>
          <a:p>
            <a:pPr indent="0" lvl="0" marL="0" marR="0" rtl="0" algn="l">
              <a:lnSpc>
                <a:spcPct val="110000"/>
              </a:lnSpc>
              <a:spcBef>
                <a:spcPts val="35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Tip: </a:t>
            </a:r>
            <a:r>
              <a:rPr b="0" i="0" lang="es" sz="1300" u="none" cap="none" strike="noStrike">
                <a:solidFill>
                  <a:srgbClr val="171717"/>
                </a:solidFill>
                <a:latin typeface="Plus Jakarta Sans"/>
                <a:ea typeface="Plus Jakarta Sans"/>
                <a:cs typeface="Plus Jakarta Sans"/>
                <a:sym typeface="Plus Jakarta Sans"/>
              </a:rPr>
              <a:t>si el flujo no arranca solo, revisá que el interruptor "Scheduling" esté en ON.</a:t>
            </a:r>
            <a:endParaRPr/>
          </a:p>
        </p:txBody>
      </p:sp>
      <p:sp>
        <p:nvSpPr>
          <p:cNvPr id="139" name="Google Shape;139;p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0" i="0" lang="es" sz="3800" u="none" cap="none" strike="noStrike">
                <a:solidFill>
                  <a:srgbClr val="FF632B"/>
                </a:solidFill>
                <a:latin typeface="Plus Jakarta Sans ExtraBold"/>
                <a:ea typeface="Plus Jakarta Sans ExtraBold"/>
                <a:cs typeface="Plus Jakarta Sans ExtraBold"/>
                <a:sym typeface="Plus Jakarta Sans ExtraBold"/>
              </a:rPr>
              <a:t>Los Triggers</a:t>
            </a:r>
            <a:endParaRPr b="0" i="0" sz="3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40" name="Google Shape;140;p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El "cuándo" del flujo</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0"/>
          <p:cNvSpPr txBox="1"/>
          <p:nvPr/>
        </p:nvSpPr>
        <p:spPr>
          <a:xfrm>
            <a:off x="739075" y="2481425"/>
            <a:ext cx="6462900" cy="2269500"/>
          </a:xfrm>
          <a:prstGeom prst="rect">
            <a:avLst/>
          </a:prstGeom>
          <a:noFill/>
          <a:ln>
            <a:noFill/>
          </a:ln>
        </p:spPr>
        <p:txBody>
          <a:bodyPr anchorCtr="0" anchor="t" bIns="91425" lIns="91425" spcFirstLastPara="1" rIns="91425" wrap="square" tIns="91425">
            <a:noAutofit/>
          </a:bodyPr>
          <a:lstStyle/>
          <a:p>
            <a:pPr indent="-301625" lvl="0" marL="457200" marR="0" rtl="0" algn="l">
              <a:lnSpc>
                <a:spcPct val="110000"/>
              </a:lnSpc>
              <a:spcBef>
                <a:spcPts val="0"/>
              </a:spcBef>
              <a:spcAft>
                <a:spcPts val="0"/>
              </a:spcAft>
              <a:buClr>
                <a:srgbClr val="FF632B"/>
              </a:buClr>
              <a:buSzPts val="1150"/>
              <a:buFont typeface="Plus Jakarta Sans"/>
              <a:buChar char="●"/>
            </a:pPr>
            <a:r>
              <a:rPr b="1" i="0" lang="es" sz="1150" u="none" cap="none" strike="noStrike">
                <a:solidFill>
                  <a:srgbClr val="171717"/>
                </a:solidFill>
                <a:latin typeface="Plus Jakarta Sans"/>
                <a:ea typeface="Plus Jakarta Sans"/>
                <a:cs typeface="Plus Jakarta Sans"/>
                <a:sym typeface="Plus Jakarta Sans"/>
              </a:rPr>
              <a:t>Operaciones: </a:t>
            </a:r>
            <a:r>
              <a:rPr b="0" i="0" lang="es" sz="1150" u="none" cap="none" strike="noStrike">
                <a:solidFill>
                  <a:srgbClr val="171717"/>
                </a:solidFill>
                <a:latin typeface="Plus Jakarta Sans"/>
                <a:ea typeface="Plus Jakarta Sans"/>
                <a:cs typeface="Plus Jakarta Sans"/>
                <a:sym typeface="Plus Jakarta Sans"/>
              </a:rPr>
              <a:t>la moneda de Make. Cada módulo que ejecuta con éxito gasta 1 op. Trigger + acción = 2 ops. Sé eficiente.</a:t>
            </a:r>
            <a:endParaRPr/>
          </a:p>
          <a:p>
            <a:pPr indent="-301625" lvl="0" marL="457200" marR="0" rtl="0" algn="l">
              <a:lnSpc>
                <a:spcPct val="110000"/>
              </a:lnSpc>
              <a:spcBef>
                <a:spcPts val="0"/>
              </a:spcBef>
              <a:spcAft>
                <a:spcPts val="0"/>
              </a:spcAft>
              <a:buClr>
                <a:srgbClr val="FF632B"/>
              </a:buClr>
              <a:buSzPts val="1150"/>
              <a:buFont typeface="Plus Jakarta Sans"/>
              <a:buChar char="●"/>
            </a:pPr>
            <a:r>
              <a:rPr b="1" i="0" lang="es" sz="1150" u="none" cap="none" strike="noStrike">
                <a:solidFill>
                  <a:srgbClr val="171717"/>
                </a:solidFill>
                <a:latin typeface="Plus Jakarta Sans"/>
                <a:ea typeface="Plus Jakarta Sans"/>
                <a:cs typeface="Plus Jakarta Sans"/>
                <a:sym typeface="Plus Jakarta Sans"/>
              </a:rPr>
              <a:t>Mapping: </a:t>
            </a:r>
            <a:r>
              <a:rPr b="0" i="0" lang="es" sz="1150" u="none" cap="none" strike="noStrike">
                <a:solidFill>
                  <a:srgbClr val="171717"/>
                </a:solidFill>
                <a:latin typeface="Plus Jakarta Sans"/>
                <a:ea typeface="Plus Jakarta Sans"/>
                <a:cs typeface="Plus Jakarta Sans"/>
                <a:sym typeface="Plus Jakarta Sans"/>
              </a:rPr>
              <a:t>arrastrás los datos de un módulo a otro. No escribís "Juan"; elegís la variable Nombre y el email sale personalizado solo.</a:t>
            </a:r>
            <a:endParaRPr/>
          </a:p>
          <a:p>
            <a:pPr indent="-301625" lvl="0" marL="457200" marR="0" rtl="0" algn="l">
              <a:lnSpc>
                <a:spcPct val="110000"/>
              </a:lnSpc>
              <a:spcBef>
                <a:spcPts val="0"/>
              </a:spcBef>
              <a:spcAft>
                <a:spcPts val="0"/>
              </a:spcAft>
              <a:buClr>
                <a:srgbClr val="FF632B"/>
              </a:buClr>
              <a:buSzPts val="1150"/>
              <a:buFont typeface="Plus Jakarta Sans"/>
              <a:buChar char="●"/>
            </a:pPr>
            <a:r>
              <a:rPr b="1" i="0" lang="es" sz="1150" u="none" cap="none" strike="noStrike">
                <a:solidFill>
                  <a:srgbClr val="171717"/>
                </a:solidFill>
                <a:latin typeface="Plus Jakarta Sans"/>
                <a:ea typeface="Plus Jakarta Sans"/>
                <a:cs typeface="Plus Jakarta Sans"/>
                <a:sym typeface="Plus Jakarta Sans"/>
              </a:rPr>
              <a:t>Conexiones: </a:t>
            </a:r>
            <a:r>
              <a:rPr b="0" i="0" lang="es" sz="1150" u="none" cap="none" strike="noStrike">
                <a:solidFill>
                  <a:srgbClr val="171717"/>
                </a:solidFill>
                <a:latin typeface="Plus Jakarta Sans"/>
                <a:ea typeface="Plus Jakarta Sans"/>
                <a:cs typeface="Plus Jakarta Sans"/>
                <a:sym typeface="Plus Jakarta Sans"/>
              </a:rPr>
              <a:t>el permiso (OAuth) para que Make entre a tu Gmail o Notion. El botón "Autorizar".</a:t>
            </a:r>
            <a:endParaRPr/>
          </a:p>
        </p:txBody>
      </p:sp>
      <p:sp>
        <p:nvSpPr>
          <p:cNvPr id="146" name="Google Shape;146;p1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3 conceptos clave</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47" name="Google Shape;147;p1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171717"/>
                </a:solidFill>
                <a:highlight>
                  <a:srgbClr val="FDAB2E"/>
                </a:highlight>
                <a:latin typeface="Plus Jakarta Sans"/>
                <a:ea typeface="Plus Jakarta Sans"/>
                <a:cs typeface="Plus Jakarta Sans"/>
                <a:sym typeface="Plus Jakarta Sans"/>
              </a:rPr>
              <a:t>Operaciones, Mapping y Conexiones</a:t>
            </a:r>
            <a:endParaRPr b="0" i="0" sz="16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1"/>
          <p:cNvSpPr txBox="1"/>
          <p:nvPr/>
        </p:nvSpPr>
        <p:spPr>
          <a:xfrm>
            <a:off x="601100" y="678225"/>
            <a:ext cx="82200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700"/>
              <a:buFont typeface="Arial"/>
              <a:buNone/>
            </a:pPr>
            <a:r>
              <a:rPr b="0" i="0" lang="es" sz="3700" u="none" cap="none" strike="noStrike">
                <a:solidFill>
                  <a:srgbClr val="260700"/>
                </a:solidFill>
                <a:latin typeface="Plus Jakarta Sans ExtraBold"/>
                <a:ea typeface="Plus Jakarta Sans ExtraBold"/>
                <a:cs typeface="Plus Jakarta Sans ExtraBold"/>
                <a:sym typeface="Plus Jakarta Sans ExtraBold"/>
              </a:rPr>
              <a:t>Errores comunes al empezar en Make</a:t>
            </a:r>
            <a:endParaRPr b="0" i="0" sz="3700" u="none" cap="none" strike="noStrike">
              <a:solidFill>
                <a:srgbClr val="2607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153" name="Google Shape;153;p11"/>
          <p:cNvSpPr/>
          <p:nvPr/>
        </p:nvSpPr>
        <p:spPr>
          <a:xfrm flipH="1">
            <a:off x="752578" y="2177175"/>
            <a:ext cx="2328900" cy="2328900"/>
          </a:xfrm>
          <a:prstGeom prst="foldedCorner">
            <a:avLst>
              <a:gd fmla="val 16667" name="adj"/>
            </a:avLst>
          </a:prstGeom>
          <a:solidFill>
            <a:srgbClr val="FF632B"/>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00"/>
              <a:buFont typeface="Arial"/>
              <a:buNone/>
            </a:pPr>
            <a:r>
              <a:rPr b="1" i="0" lang="es" sz="1300" u="none" cap="none" strike="noStrike">
                <a:solidFill>
                  <a:srgbClr val="171717"/>
                </a:solidFill>
                <a:latin typeface="Plus Jakarta Sans"/>
                <a:ea typeface="Plus Jakarta Sans"/>
                <a:cs typeface="Plus Jakarta Sans"/>
                <a:sym typeface="Plus Jakarta Sans"/>
              </a:rPr>
              <a:t>Empezar con una Acción</a:t>
            </a:r>
            <a:endParaRPr sz="1600"/>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Todo flujo necesita un Trigger (motor de arranque). Sin él, nunca se activa solo.</a:t>
            </a:r>
            <a:endParaRPr sz="1600"/>
          </a:p>
        </p:txBody>
      </p:sp>
      <p:sp>
        <p:nvSpPr>
          <p:cNvPr id="154" name="Google Shape;154;p11"/>
          <p:cNvSpPr/>
          <p:nvPr/>
        </p:nvSpPr>
        <p:spPr>
          <a:xfrm flipH="1">
            <a:off x="3215420" y="2177175"/>
            <a:ext cx="2328900" cy="2328900"/>
          </a:xfrm>
          <a:prstGeom prst="foldedCorner">
            <a:avLst>
              <a:gd fmla="val 16667" name="adj"/>
            </a:avLst>
          </a:prstGeom>
          <a:solidFill>
            <a:srgbClr val="FE64A3"/>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00"/>
              <a:buFont typeface="Arial"/>
              <a:buNone/>
            </a:pPr>
            <a:r>
              <a:rPr b="1" i="0" lang="es" sz="1300" u="none" cap="none" strike="noStrike">
                <a:solidFill>
                  <a:srgbClr val="171717"/>
                </a:solidFill>
                <a:latin typeface="Plus Jakarta Sans"/>
                <a:ea typeface="Plus Jakarta Sans"/>
                <a:cs typeface="Plus Jakarta Sans"/>
                <a:sym typeface="Plus Jakarta Sans"/>
              </a:rPr>
              <a:t>Búsqueda ≠ Acción</a:t>
            </a:r>
            <a:endParaRPr sz="1600"/>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Buscar un contacto solo lee; no lo crea. Para crear necesitás un módulo "Create"</a:t>
            </a:r>
            <a:r>
              <a:rPr b="0" i="0" lang="es" sz="950" u="none" cap="none" strike="noStrike">
                <a:solidFill>
                  <a:srgbClr val="171717"/>
                </a:solidFill>
                <a:latin typeface="Plus Jakarta Sans"/>
                <a:ea typeface="Plus Jakarta Sans"/>
                <a:cs typeface="Plus Jakarta Sans"/>
                <a:sym typeface="Plus Jakarta Sans"/>
              </a:rPr>
              <a:t>.</a:t>
            </a:r>
            <a:endParaRPr/>
          </a:p>
        </p:txBody>
      </p:sp>
      <p:sp>
        <p:nvSpPr>
          <p:cNvPr id="155" name="Google Shape;155;p11"/>
          <p:cNvSpPr/>
          <p:nvPr/>
        </p:nvSpPr>
        <p:spPr>
          <a:xfrm flipH="1">
            <a:off x="5741925" y="2177175"/>
            <a:ext cx="2328900" cy="2328900"/>
          </a:xfrm>
          <a:prstGeom prst="foldedCorner">
            <a:avLst>
              <a:gd fmla="val 16667" name="adj"/>
            </a:avLst>
          </a:prstGeom>
          <a:solidFill>
            <a:srgbClr val="FDAB2E"/>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00"/>
              <a:buFont typeface="Arial"/>
              <a:buNone/>
            </a:pPr>
            <a:r>
              <a:rPr b="1" i="0" lang="es" sz="1300" u="none" cap="none" strike="noStrike">
                <a:solidFill>
                  <a:srgbClr val="171717"/>
                </a:solidFill>
                <a:latin typeface="Plus Jakarta Sans"/>
                <a:ea typeface="Plus Jakarta Sans"/>
                <a:cs typeface="Plus Jakarta Sans"/>
                <a:sym typeface="Plus Jakarta Sans"/>
              </a:rPr>
              <a:t>Olvidar el Scheduling</a:t>
            </a:r>
            <a:endParaRPr sz="1600"/>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Si el interruptor de programación está en OFF, tu asistente duerme. ¡Activalo!</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Problema: </a:t>
            </a:r>
            <a:r>
              <a:rPr b="0" i="0" lang="es" sz="1300" u="none" cap="none" strike="noStrike">
                <a:solidFill>
                  <a:srgbClr val="171717"/>
                </a:solidFill>
                <a:latin typeface="Plus Jakarta Sans"/>
                <a:ea typeface="Plus Jakarta Sans"/>
                <a:cs typeface="Plus Jakarta Sans"/>
                <a:sym typeface="Plus Jakarta Sans"/>
              </a:rPr>
              <a:t>recibís solicitudes por un formulario, pero tardás horas en verlas entre el spam. Los clientes se enfrían.</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Solución con Make:</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Trigger: </a:t>
            </a:r>
            <a:r>
              <a:rPr b="0" i="0" lang="es" sz="1300" u="none" cap="none" strike="noStrike">
                <a:solidFill>
                  <a:srgbClr val="171717"/>
                </a:solidFill>
                <a:latin typeface="Plus Jakarta Sans"/>
                <a:ea typeface="Plus Jakarta Sans"/>
                <a:cs typeface="Plus Jakarta Sans"/>
                <a:sym typeface="Plus Jakarta Sans"/>
              </a:rPr>
              <a:t>Watch New Responses en Google Sheets.</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Acción: </a:t>
            </a:r>
            <a:r>
              <a:rPr b="0" i="0" lang="es" sz="1300" u="none" cap="none" strike="noStrike">
                <a:solidFill>
                  <a:srgbClr val="171717"/>
                </a:solidFill>
                <a:latin typeface="Plus Jakarta Sans"/>
                <a:ea typeface="Plus Jakarta Sans"/>
                <a:cs typeface="Plus Jakarta Sans"/>
                <a:sym typeface="Plus Jakarta Sans"/>
              </a:rPr>
              <a:t>Create a Message en Slack o WhatsApp.</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Resultado: </a:t>
            </a:r>
            <a:r>
              <a:rPr b="0" i="0" lang="es" sz="1300" u="none" cap="none" strike="noStrike">
                <a:solidFill>
                  <a:srgbClr val="171717"/>
                </a:solidFill>
                <a:latin typeface="Plus Jakarta Sans"/>
                <a:ea typeface="Plus Jakarta Sans"/>
                <a:cs typeface="Plus Jakarta Sans"/>
                <a:sym typeface="Plus Jakarta Sans"/>
              </a:rPr>
              <a:t>tu respuesta baja de 4 horas a 30 segundos. Esa es la ventaja competitiva.</a:t>
            </a:r>
            <a:endParaRPr/>
          </a:p>
        </p:txBody>
      </p:sp>
      <p:sp>
        <p:nvSpPr>
          <p:cNvPr id="161" name="Google Shape;161;p1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De lead a notificación</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62" name="Google Shape;162;p1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En tiempo real</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nvSpPr>
        <p:spPr>
          <a:xfrm>
            <a:off x="739075" y="2481425"/>
            <a:ext cx="67191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arrancar el escenario que vas a entregar.</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Creá un escenario nuevo y sumá un Trigger real (Google Sheets / Forms / Gmail).</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Cargá 2 filas de prueba con nombre, email y presupuesto.</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escenario con su entrada de datos. Ladrillo 1 de la Pre-Entrega 3.</a:t>
            </a:r>
            <a:endParaRPr/>
          </a:p>
        </p:txBody>
      </p:sp>
      <p:sp>
        <p:nvSpPr>
          <p:cNvPr id="168" name="Google Shape;168;p1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1</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69" name="Google Shape;169;p1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Creá tu escenario</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02</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175" name="Google Shape;175;p14"/>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ExtraBold"/>
                <a:ea typeface="Plus Jakarta Sans ExtraBold"/>
                <a:cs typeface="Plus Jakarta Sans ExtraBold"/>
                <a:sym typeface="Plus Jakarta Sans ExtraBold"/>
              </a:rPr>
              <a:t>Routers, Filtros y Transformación</a:t>
            </a:r>
            <a:endParaRPr b="0" i="0" sz="24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5"/>
          <p:cNvSpPr txBox="1"/>
          <p:nvPr/>
        </p:nvSpPr>
        <p:spPr>
          <a:xfrm>
            <a:off x="739075" y="2481425"/>
            <a:ext cx="58923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En Make la info no viaja suelta: viaja en </a:t>
            </a:r>
            <a:r>
              <a:rPr b="1" i="0" lang="es" sz="1150" u="none" cap="none" strike="noStrike">
                <a:solidFill>
                  <a:srgbClr val="171717"/>
                </a:solidFill>
                <a:latin typeface="Plus Jakarta Sans"/>
                <a:ea typeface="Plus Jakarta Sans"/>
                <a:cs typeface="Plus Jakarta Sans"/>
                <a:sym typeface="Plus Jakarta Sans"/>
              </a:rPr>
              <a:t>Bundles</a:t>
            </a:r>
            <a:r>
              <a:rPr b="0" i="0" lang="es" sz="1150" u="none" cap="none" strike="noStrike">
                <a:solidFill>
                  <a:srgbClr val="171717"/>
                </a:solidFill>
                <a:latin typeface="Plus Jakarta Sans"/>
                <a:ea typeface="Plus Jakarta Sans"/>
                <a:cs typeface="Plus Jakarta Sans"/>
                <a:sym typeface="Plus Jakarta Sans"/>
              </a:rPr>
              <a:t> (paquetes).</a:t>
            </a:r>
            <a:endParaRPr/>
          </a:p>
          <a:p>
            <a:pPr indent="0" lvl="0" marL="0" marR="0" rtl="0" algn="l">
              <a:lnSpc>
                <a:spcPct val="110000"/>
              </a:lnSpc>
              <a:spcBef>
                <a:spcPts val="4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Cada formulario crea una caja con sobres etiquetados: "Nombre", "Email", "Presupuesto". Esa caja recorre todo tu escenario.</a:t>
            </a:r>
            <a:endParaRPr/>
          </a:p>
          <a:p>
            <a:pPr indent="0" lvl="0" marL="0" marR="0" rtl="0" algn="l">
              <a:lnSpc>
                <a:spcPct val="110000"/>
              </a:lnSpc>
              <a:spcBef>
                <a:spcPts val="4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El Router </a:t>
            </a:r>
            <a:r>
              <a:rPr b="0" i="0" lang="es" sz="1150" u="none" cap="none" strike="noStrike">
                <a:solidFill>
                  <a:srgbClr val="171717"/>
                </a:solidFill>
                <a:latin typeface="Plus Jakarta Sans"/>
                <a:ea typeface="Plus Jakarta Sans"/>
                <a:cs typeface="Plus Jakarta Sans"/>
                <a:sym typeface="Plus Jakarta Sans"/>
              </a:rPr>
              <a:t>copia la caja; </a:t>
            </a:r>
            <a:r>
              <a:rPr b="1" i="0" lang="es" sz="1150" u="none" cap="none" strike="noStrike">
                <a:solidFill>
                  <a:srgbClr val="171717"/>
                </a:solidFill>
                <a:latin typeface="Plus Jakarta Sans"/>
                <a:ea typeface="Plus Jakarta Sans"/>
                <a:cs typeface="Plus Jakarta Sans"/>
                <a:sym typeface="Plus Jakarta Sans"/>
              </a:rPr>
              <a:t>el Filtro </a:t>
            </a:r>
            <a:r>
              <a:rPr b="0" i="0" lang="es" sz="1150" u="none" cap="none" strike="noStrike">
                <a:solidFill>
                  <a:srgbClr val="171717"/>
                </a:solidFill>
                <a:latin typeface="Plus Jakarta Sans"/>
                <a:ea typeface="Plus Jakarta Sans"/>
                <a:cs typeface="Plus Jakarta Sans"/>
                <a:sym typeface="Plus Jakarta Sans"/>
              </a:rPr>
              <a:t>la abre, lee una etiqueta y decide si pasa.</a:t>
            </a:r>
            <a:endParaRPr/>
          </a:p>
        </p:txBody>
      </p:sp>
      <p:sp>
        <p:nvSpPr>
          <p:cNvPr id="181" name="Google Shape;181;p1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171717"/>
                </a:solidFill>
                <a:latin typeface="Plus Jakarta Sans ExtraBold"/>
                <a:ea typeface="Plus Jakarta Sans ExtraBold"/>
                <a:cs typeface="Plus Jakarta Sans ExtraBold"/>
                <a:sym typeface="Plus Jakarta Sans ExtraBold"/>
              </a:rPr>
              <a:t>Los Bundles</a:t>
            </a:r>
            <a:endParaRPr b="0" i="0" sz="4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82" name="Google Shape;182;p1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Las cajas que viajan</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6"/>
          <p:cNvSpPr txBox="1"/>
          <p:nvPr/>
        </p:nvSpPr>
        <p:spPr>
          <a:xfrm>
            <a:off x="739075" y="2481425"/>
            <a:ext cx="63921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Un Router divide el flujo en dos o más caminos. Su función es </a:t>
            </a:r>
            <a:r>
              <a:rPr b="1" i="0" lang="es" sz="1150" u="none" cap="none" strike="noStrike">
                <a:solidFill>
                  <a:srgbClr val="171717"/>
                </a:solidFill>
                <a:latin typeface="Plus Jakarta Sans"/>
                <a:ea typeface="Plus Jakarta Sans"/>
                <a:cs typeface="Plus Jakarta Sans"/>
                <a:sym typeface="Plus Jakarta Sans"/>
              </a:rPr>
              <a:t>duplicar</a:t>
            </a:r>
            <a:r>
              <a:rPr b="0" i="0" lang="es" sz="1150" u="none" cap="none" strike="noStrike">
                <a:solidFill>
                  <a:srgbClr val="171717"/>
                </a:solidFill>
                <a:latin typeface="Plus Jakarta Sans"/>
                <a:ea typeface="Plus Jakarta Sans"/>
                <a:cs typeface="Plus Jakarta Sans"/>
                <a:sym typeface="Plus Jakarta Sans"/>
              </a:rPr>
              <a:t>: copia la caja para cada ruta.</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La analogía del cartero: </a:t>
            </a:r>
            <a:r>
              <a:rPr b="0" i="0" lang="es" sz="1150" u="none" cap="none" strike="noStrike">
                <a:solidFill>
                  <a:srgbClr val="171717"/>
                </a:solidFill>
                <a:latin typeface="Plus Jakarta Sans"/>
                <a:ea typeface="Plus Jakarta Sans"/>
                <a:cs typeface="Plus Jakarta Sans"/>
                <a:sym typeface="Plus Jakarta Sans"/>
              </a:rPr>
              <a:t>en vez de ir a Ventas, Soporte y Finanzas uno por uno, teletransportás una copia del paquete a cada puerta a la vez.</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Clave: </a:t>
            </a:r>
            <a:r>
              <a:rPr b="0" i="0" lang="es" sz="1150" u="none" cap="none" strike="noStrike">
                <a:solidFill>
                  <a:srgbClr val="171717"/>
                </a:solidFill>
                <a:latin typeface="Plus Jakarta Sans"/>
                <a:ea typeface="Plus Jakarta Sans"/>
                <a:cs typeface="Plus Jakarta Sans"/>
                <a:sym typeface="Plus Jakarta Sans"/>
              </a:rPr>
              <a:t>el Router solo copia y manda a todos; para que sea inteligente, necesita Filtros.</a:t>
            </a:r>
            <a:endParaRPr/>
          </a:p>
        </p:txBody>
      </p:sp>
      <p:sp>
        <p:nvSpPr>
          <p:cNvPr id="188" name="Google Shape;188;p1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400"/>
              <a:buFont typeface="Arial"/>
              <a:buNone/>
            </a:pPr>
            <a:r>
              <a:rPr b="0" i="0" lang="es" sz="4400" u="none" cap="none" strike="noStrike">
                <a:solidFill>
                  <a:srgbClr val="171717"/>
                </a:solidFill>
                <a:latin typeface="Plus Jakarta Sans ExtraBold"/>
                <a:ea typeface="Plus Jakarta Sans ExtraBold"/>
                <a:cs typeface="Plus Jakarta Sans ExtraBold"/>
                <a:sym typeface="Plus Jakarta Sans ExtraBold"/>
              </a:rPr>
              <a:t>Routers</a:t>
            </a:r>
            <a:endParaRPr b="0" i="0" sz="44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89" name="Google Shape;189;p1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El gran distribuidor</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Filtros</a:t>
            </a:r>
            <a:r>
              <a:rPr b="0" i="0" lang="es" sz="2400" u="none" cap="none" strike="noStrike">
                <a:solidFill>
                  <a:srgbClr val="260700"/>
                </a:solidFill>
                <a:latin typeface="Plus Jakarta Sans"/>
                <a:ea typeface="Plus Jakarta Sans"/>
                <a:cs typeface="Plus Jakarta Sans"/>
                <a:sym typeface="Plus Jakarta Sans"/>
              </a:rPr>
              <a:t> los guardias</a:t>
            </a:r>
            <a:endParaRPr b="0" i="0" sz="2400" u="none" cap="none" strike="noStrike">
              <a:solidFill>
                <a:srgbClr val="260700"/>
              </a:solidFill>
              <a:latin typeface="Plus Jakarta Sans"/>
              <a:ea typeface="Plus Jakarta Sans"/>
              <a:cs typeface="Plus Jakarta Sans"/>
              <a:sym typeface="Plus Jakarta Sans"/>
            </a:endParaRPr>
          </a:p>
        </p:txBody>
      </p:sp>
      <p:sp>
        <p:nvSpPr>
          <p:cNvPr id="195" name="Google Shape;195;p17"/>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Condición (Variable)</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Qué etiqueta de la caja vamos a mirar. Ej: "Presupuesto".</a:t>
            </a:r>
            <a:endParaRPr/>
          </a:p>
        </p:txBody>
      </p:sp>
      <p:sp>
        <p:nvSpPr>
          <p:cNvPr id="196" name="Google Shape;196;p17"/>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Operador</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Qué regla aplicamos. Ej: "es mayor que", "contiene", "existe".</a:t>
            </a:r>
            <a:endParaRPr/>
          </a:p>
        </p:txBody>
      </p:sp>
      <p:sp>
        <p:nvSpPr>
          <p:cNvPr id="197" name="Google Shape;197;p17"/>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Valor</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Con qué comparamos. Ej: 1000 → Si [Presupuesto] [es mayor que] [1000].</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Las apps hablan idiomas distintos: una manda "100 USD" (texto) y la otra necesita 100 (número). Las funciones limpian y cambian el formato:</a:t>
            </a:r>
            <a:endParaRPr/>
          </a:p>
          <a:p>
            <a:pPr indent="-228600" lvl="0" marL="228600" marR="0" rtl="0" algn="l">
              <a:lnSpc>
                <a:spcPct val="110000"/>
              </a:lnSpc>
              <a:spcBef>
                <a:spcPts val="2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split: </a:t>
            </a:r>
            <a:r>
              <a:rPr b="0" i="0" lang="es" sz="1300" u="none" cap="none" strike="noStrike">
                <a:solidFill>
                  <a:srgbClr val="171717"/>
                </a:solidFill>
                <a:latin typeface="Plus Jakarta Sans"/>
                <a:ea typeface="Plus Jakarta Sans"/>
                <a:cs typeface="Plus Jakarta Sans"/>
                <a:sym typeface="Plus Jakarta Sans"/>
              </a:rPr>
              <a:t>divide un texto (de "Juan Perez" sacar "Juan").</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formatDate: </a:t>
            </a:r>
            <a:r>
              <a:rPr b="0" i="0" lang="es" sz="1300" u="none" cap="none" strike="noStrike">
                <a:solidFill>
                  <a:srgbClr val="171717"/>
                </a:solidFill>
                <a:latin typeface="Plus Jakarta Sans"/>
                <a:ea typeface="Plus Jakarta Sans"/>
                <a:cs typeface="Plus Jakarta Sans"/>
                <a:sym typeface="Plus Jakarta Sans"/>
              </a:rPr>
              <a:t>cambia cómo se ve una fecha.</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upper / lower: </a:t>
            </a:r>
            <a:r>
              <a:rPr b="0" i="0" lang="es" sz="1300" u="none" cap="none" strike="noStrike">
                <a:solidFill>
                  <a:srgbClr val="171717"/>
                </a:solidFill>
                <a:latin typeface="Plus Jakarta Sans"/>
                <a:ea typeface="Plus Jakarta Sans"/>
                <a:cs typeface="Plus Jakarta Sans"/>
                <a:sym typeface="Plus Jakarta Sans"/>
              </a:rPr>
              <a:t>pasa a mayúsculas o minúsculas.</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parseNumber: </a:t>
            </a:r>
            <a:r>
              <a:rPr b="0" i="0" lang="es" sz="1300" u="none" cap="none" strike="noStrike">
                <a:solidFill>
                  <a:srgbClr val="171717"/>
                </a:solidFill>
                <a:latin typeface="Plus Jakarta Sans"/>
                <a:ea typeface="Plus Jakarta Sans"/>
                <a:cs typeface="Plus Jakarta Sans"/>
                <a:sym typeface="Plus Jakarta Sans"/>
              </a:rPr>
              <a:t>convierte un texto que parece número en número real.</a:t>
            </a:r>
            <a:endParaRPr/>
          </a:p>
        </p:txBody>
      </p:sp>
      <p:sp>
        <p:nvSpPr>
          <p:cNvPr id="203" name="Google Shape;203;p1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FF632B"/>
                </a:solidFill>
                <a:latin typeface="Plus Jakarta Sans ExtraBold"/>
                <a:ea typeface="Plus Jakarta Sans ExtraBold"/>
                <a:cs typeface="Plus Jakarta Sans ExtraBold"/>
                <a:sym typeface="Plus Jakarta Sans ExtraBold"/>
              </a:rPr>
              <a:t>Transformación de datos</a:t>
            </a:r>
            <a:endParaRPr b="0" i="0" sz="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04" name="Google Shape;204;p1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El traductor universal</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9"/>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9"/>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211" name="Google Shape;211;p19"/>
          <p:cNvSpPr txBox="1"/>
          <p:nvPr/>
        </p:nvSpPr>
        <p:spPr>
          <a:xfrm>
            <a:off x="202125" y="2035142"/>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Coder Tips</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12" name="Google Shape;212;p19"/>
          <p:cNvSpPr txBox="1"/>
          <p:nvPr/>
        </p:nvSpPr>
        <p:spPr>
          <a:xfrm>
            <a:off x="5679475" y="2481425"/>
            <a:ext cx="32721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Filtros sin solapamiento: usá &gt; 1000 (VIP) y ≤ 1000 (Estándar). </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t/>
            </a:r>
            <a:endParaRPr sz="1200">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Si pusieras ≥ 1000 en ambos, un lead de exactamente 1000 dispararía las dos rutas y duplicarías el trabajo. </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t/>
            </a:r>
            <a:endParaRPr sz="1200">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La condición complementaria es la clave de la rúbrica.</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0"/>
          <p:cNvSpPr txBox="1"/>
          <p:nvPr/>
        </p:nvSpPr>
        <p:spPr>
          <a:xfrm>
            <a:off x="739075" y="2481425"/>
            <a:ext cx="72285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hacer que tu flujo tome decisiones.</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Sumá un Router con 2 rutas: VIP y Estándar.</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Filtros sin solapar: presupuesto &gt; 1000 (VIP) y ≤ 1000 (Estándar).</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flujo bifurcado. Ladrillo 2 de la Pre-Entrega.</a:t>
            </a:r>
            <a:endParaRPr/>
          </a:p>
        </p:txBody>
      </p:sp>
      <p:sp>
        <p:nvSpPr>
          <p:cNvPr id="218" name="Google Shape;218;p2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2</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19" name="Google Shape;219;p2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171717"/>
                </a:solidFill>
                <a:highlight>
                  <a:srgbClr val="FDAB2E"/>
                </a:highlight>
                <a:latin typeface="Plus Jakarta Sans"/>
                <a:ea typeface="Plus Jakarta Sans"/>
                <a:cs typeface="Plus Jakarta Sans"/>
                <a:sym typeface="Plus Jakarta Sans"/>
              </a:rPr>
              <a:t>Sumá el Router y los filtros</a:t>
            </a:r>
            <a:endParaRPr b="0" i="0" sz="18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1"/>
          <p:cNvSpPr txBox="1"/>
          <p:nvPr/>
        </p:nvSpPr>
        <p:spPr>
          <a:xfrm>
            <a:off x="652525" y="1336525"/>
            <a:ext cx="6254700" cy="244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es" sz="6000" u="none" cap="none" strike="noStrike">
                <a:solidFill>
                  <a:srgbClr val="F8F2E8"/>
                </a:solidFill>
                <a:latin typeface="Plus Jakarta Sans ExtraBold"/>
                <a:ea typeface="Plus Jakarta Sans ExtraBold"/>
                <a:cs typeface="Plus Jakarta Sans ExtraBold"/>
                <a:sym typeface="Plus Jakarta Sans ExtraBold"/>
              </a:rPr>
              <a:t>Break,</a:t>
            </a:r>
            <a:endParaRPr b="0" i="0" sz="6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andá por un cafecito</a:t>
            </a:r>
            <a:endParaRPr b="0" i="0" sz="2400" u="none" cap="none" strike="noStrike">
              <a:solidFill>
                <a:srgbClr val="F8F2E8"/>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o mate, ¡y volvemos!</a:t>
            </a:r>
            <a:endParaRPr b="0" i="0" sz="2400" u="none" cap="none" strike="noStrike">
              <a:solidFill>
                <a:srgbClr val="F8F2E8"/>
              </a:solidFill>
              <a:latin typeface="Plus Jakarta Sans"/>
              <a:ea typeface="Plus Jakarta Sans"/>
              <a:cs typeface="Plus Jakarta Sans"/>
              <a:sym typeface="Plus Jakarta Sans"/>
            </a:endParaRPr>
          </a:p>
        </p:txBody>
      </p:sp>
      <p:pic>
        <p:nvPicPr>
          <p:cNvPr id="225" name="Google Shape;225;p21" title="Vector.png"/>
          <p:cNvPicPr preferRelativeResize="0"/>
          <p:nvPr/>
        </p:nvPicPr>
        <p:blipFill rotWithShape="1">
          <a:blip r:embed="rId3">
            <a:alphaModFix/>
          </a:blip>
          <a:srcRect b="0" l="29" r="39" t="0"/>
          <a:stretch/>
        </p:blipFill>
        <p:spPr>
          <a:xfrm>
            <a:off x="7520578" y="2347936"/>
            <a:ext cx="524575" cy="447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03</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31" name="Google Shape;231;p22"/>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JSON y Variables</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txBox="1"/>
          <p:nvPr/>
        </p:nvSpPr>
        <p:spPr>
          <a:xfrm>
            <a:off x="739075" y="2481425"/>
            <a:ext cx="71325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JSON organiza la info para que las apps se entiendan </a:t>
            </a:r>
            <a:r>
              <a:rPr b="1" i="0" lang="es" sz="1150" u="none" cap="none" strike="noStrike">
                <a:solidFill>
                  <a:srgbClr val="171717"/>
                </a:solidFill>
                <a:latin typeface="Plus Jakarta Sans"/>
                <a:ea typeface="Plus Jakarta Sans"/>
                <a:cs typeface="Plus Jakarta Sans"/>
                <a:sym typeface="Plus Jakarta Sans"/>
              </a:rPr>
              <a:t>sin confusiones</a:t>
            </a:r>
            <a:r>
              <a:rPr b="0" i="0" lang="es" sz="1150" u="none" cap="none" strike="noStrike">
                <a:solidFill>
                  <a:srgbClr val="171717"/>
                </a:solidFill>
                <a:latin typeface="Plus Jakarta Sans"/>
                <a:ea typeface="Plus Jakarta Sans"/>
                <a:cs typeface="Plus Jakarta Sans"/>
                <a:sym typeface="Plus Jakarta Sans"/>
              </a:rPr>
              <a:t>. No te asustes por el nombre.</a:t>
            </a:r>
            <a:endParaRPr/>
          </a:p>
          <a:p>
            <a:pPr indent="0" lvl="0" marL="0" marR="0" rtl="0" algn="l">
              <a:lnSpc>
                <a:spcPct val="110000"/>
              </a:lnSpc>
              <a:spcBef>
                <a:spcPts val="4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Es como una receta estructurada: en vez de "echá harina y dos huevos", cada dato tiene su etiqueta: "ingredientes": ["harina", "huevos"].</a:t>
            </a:r>
            <a:endParaRPr/>
          </a:p>
          <a:p>
            <a:pPr indent="0" lvl="0" marL="0" marR="0" rtl="0" algn="l">
              <a:lnSpc>
                <a:spcPct val="110000"/>
              </a:lnSpc>
              <a:spcBef>
                <a:spcPts val="4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Si Make necesita el tiempo, busca la etiqueta "tiempo_minutos". Orden total.</a:t>
            </a:r>
            <a:endParaRPr/>
          </a:p>
        </p:txBody>
      </p:sp>
      <p:sp>
        <p:nvSpPr>
          <p:cNvPr id="237" name="Google Shape;237;p2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171717"/>
                </a:solidFill>
                <a:latin typeface="Plus Jakarta Sans ExtraBold"/>
                <a:ea typeface="Plus Jakarta Sans ExtraBold"/>
                <a:cs typeface="Plus Jakarta Sans ExtraBold"/>
                <a:sym typeface="Plus Jakarta Sans ExtraBold"/>
              </a:rPr>
              <a:t>¿Qué es JSON?</a:t>
            </a:r>
            <a:endParaRPr b="0" i="0" sz="36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38" name="Google Shape;238;p2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171717"/>
                </a:solidFill>
                <a:highlight>
                  <a:srgbClr val="FDAB2E"/>
                </a:highlight>
                <a:latin typeface="Plus Jakarta Sans"/>
                <a:ea typeface="Plus Jakarta Sans"/>
                <a:cs typeface="Plus Jakarta Sans"/>
                <a:sym typeface="Plus Jakarta Sans"/>
              </a:rPr>
              <a:t>El idioma universal de datos</a:t>
            </a:r>
            <a:endParaRPr b="0" i="0" sz="18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4"/>
          <p:cNvSpPr txBox="1"/>
          <p:nvPr/>
        </p:nvSpPr>
        <p:spPr>
          <a:xfrm>
            <a:off x="739075" y="2481425"/>
            <a:ext cx="67191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Clave: </a:t>
            </a:r>
            <a:r>
              <a:rPr b="0" i="0" lang="es" sz="1100" u="none" cap="none" strike="noStrike">
                <a:solidFill>
                  <a:srgbClr val="171717"/>
                </a:solidFill>
                <a:latin typeface="Plus Jakarta Sans"/>
                <a:ea typeface="Plus Jakarta Sans"/>
                <a:cs typeface="Plus Jakarta Sans"/>
                <a:sym typeface="Plus Jakarta Sans"/>
              </a:rPr>
              <a:t>la etiqueta, entre comillas. </a:t>
            </a:r>
            <a:r>
              <a:rPr b="1" i="0" lang="es" sz="1100" u="none" cap="none" strike="noStrike">
                <a:solidFill>
                  <a:srgbClr val="171717"/>
                </a:solidFill>
                <a:latin typeface="Plus Jakarta Sans"/>
                <a:ea typeface="Plus Jakarta Sans"/>
                <a:cs typeface="Plus Jakarta Sans"/>
                <a:sym typeface="Plus Jakarta Sans"/>
              </a:rPr>
              <a:t>Valor: </a:t>
            </a:r>
            <a:r>
              <a:rPr b="0" i="0" lang="es" sz="1100" u="none" cap="none" strike="noStrike">
                <a:solidFill>
                  <a:srgbClr val="171717"/>
                </a:solidFill>
                <a:latin typeface="Plus Jakarta Sans"/>
                <a:ea typeface="Plus Jakarta Sans"/>
                <a:cs typeface="Plus Jakarta Sans"/>
                <a:sym typeface="Plus Jakarta Sans"/>
              </a:rPr>
              <a:t>el dato real. Separados por dos puntos.</a:t>
            </a:r>
            <a:endParaRPr/>
          </a:p>
          <a:p>
            <a:pPr indent="-228600" lvl="0" marL="228600" marR="0" rtl="0" algn="l">
              <a:lnSpc>
                <a:spcPct val="110000"/>
              </a:lnSpc>
              <a:spcBef>
                <a:spcPts val="250"/>
              </a:spcBef>
              <a:spcAft>
                <a:spcPts val="0"/>
              </a:spcAft>
              <a:buClr>
                <a:srgbClr val="FF632B"/>
              </a:buClr>
              <a:buSzPts val="1100"/>
              <a:buFont typeface="Plus Jakarta Sans"/>
              <a:buChar char="•"/>
            </a:pPr>
            <a:r>
              <a:rPr b="1" i="0" lang="es" sz="1100" u="none" cap="none" strike="noStrike">
                <a:solidFill>
                  <a:srgbClr val="171717"/>
                </a:solidFill>
                <a:latin typeface="Plus Jakarta Sans"/>
                <a:ea typeface="Plus Jakarta Sans"/>
                <a:cs typeface="Plus Jakarta Sans"/>
                <a:sym typeface="Plus Jakarta Sans"/>
              </a:rPr>
              <a:t>Texto (String): </a:t>
            </a:r>
            <a:r>
              <a:rPr b="0" i="0" lang="es" sz="1100" u="none" cap="none" strike="noStrike">
                <a:solidFill>
                  <a:srgbClr val="171717"/>
                </a:solidFill>
                <a:latin typeface="Plus Jakarta Sans"/>
                <a:ea typeface="Plus Jakarta Sans"/>
                <a:cs typeface="Plus Jakarta Sans"/>
                <a:sym typeface="Plus Jakarta Sans"/>
              </a:rPr>
              <a:t>entre comillas. "Asistente".</a:t>
            </a:r>
            <a:endParaRPr/>
          </a:p>
          <a:p>
            <a:pPr indent="-228600" lvl="0" marL="228600" marR="0" rtl="0" algn="l">
              <a:lnSpc>
                <a:spcPct val="110000"/>
              </a:lnSpc>
              <a:spcBef>
                <a:spcPts val="120"/>
              </a:spcBef>
              <a:spcAft>
                <a:spcPts val="0"/>
              </a:spcAft>
              <a:buClr>
                <a:srgbClr val="FF632B"/>
              </a:buClr>
              <a:buSzPts val="1100"/>
              <a:buFont typeface="Plus Jakarta Sans"/>
              <a:buChar char="•"/>
            </a:pPr>
            <a:r>
              <a:rPr b="1" i="0" lang="es" sz="1100" u="none" cap="none" strike="noStrike">
                <a:solidFill>
                  <a:srgbClr val="171717"/>
                </a:solidFill>
                <a:latin typeface="Plus Jakarta Sans"/>
                <a:ea typeface="Plus Jakarta Sans"/>
                <a:cs typeface="Plus Jakarta Sans"/>
                <a:sym typeface="Plus Jakarta Sans"/>
              </a:rPr>
              <a:t>Número: </a:t>
            </a:r>
            <a:r>
              <a:rPr b="0" i="0" lang="es" sz="1100" u="none" cap="none" strike="noStrike">
                <a:solidFill>
                  <a:srgbClr val="171717"/>
                </a:solidFill>
                <a:latin typeface="Plus Jakarta Sans"/>
                <a:ea typeface="Plus Jakarta Sans"/>
                <a:cs typeface="Plus Jakarta Sans"/>
                <a:sym typeface="Plus Jakarta Sans"/>
              </a:rPr>
              <a:t>sin comillas. 1500.</a:t>
            </a:r>
            <a:endParaRPr/>
          </a:p>
          <a:p>
            <a:pPr indent="-228600" lvl="0" marL="228600" marR="0" rtl="0" algn="l">
              <a:lnSpc>
                <a:spcPct val="110000"/>
              </a:lnSpc>
              <a:spcBef>
                <a:spcPts val="120"/>
              </a:spcBef>
              <a:spcAft>
                <a:spcPts val="0"/>
              </a:spcAft>
              <a:buClr>
                <a:srgbClr val="FF632B"/>
              </a:buClr>
              <a:buSzPts val="1100"/>
              <a:buFont typeface="Plus Jakarta Sans"/>
              <a:buChar char="•"/>
            </a:pPr>
            <a:r>
              <a:rPr b="1" i="0" lang="es" sz="1100" u="none" cap="none" strike="noStrike">
                <a:solidFill>
                  <a:srgbClr val="171717"/>
                </a:solidFill>
                <a:latin typeface="Plus Jakarta Sans"/>
                <a:ea typeface="Plus Jakarta Sans"/>
                <a:cs typeface="Plus Jakarta Sans"/>
                <a:sym typeface="Plus Jakarta Sans"/>
              </a:rPr>
              <a:t>Booleano: </a:t>
            </a:r>
            <a:r>
              <a:rPr b="0" i="0" lang="es" sz="1100" u="none" cap="none" strike="noStrike">
                <a:solidFill>
                  <a:srgbClr val="171717"/>
                </a:solidFill>
                <a:latin typeface="Plus Jakarta Sans"/>
                <a:ea typeface="Plus Jakarta Sans"/>
                <a:cs typeface="Plus Jakarta Sans"/>
                <a:sym typeface="Plus Jakarta Sans"/>
              </a:rPr>
              <a:t>true o false (un interruptor).</a:t>
            </a:r>
            <a:endParaRPr/>
          </a:p>
          <a:p>
            <a:pPr indent="-228600" lvl="0" marL="228600" marR="0" rtl="0" algn="l">
              <a:lnSpc>
                <a:spcPct val="110000"/>
              </a:lnSpc>
              <a:spcBef>
                <a:spcPts val="120"/>
              </a:spcBef>
              <a:spcAft>
                <a:spcPts val="0"/>
              </a:spcAft>
              <a:buClr>
                <a:srgbClr val="FF632B"/>
              </a:buClr>
              <a:buSzPts val="1100"/>
              <a:buFont typeface="Plus Jakarta Sans"/>
              <a:buChar char="•"/>
            </a:pPr>
            <a:r>
              <a:rPr b="1" i="0" lang="es" sz="1100" u="none" cap="none" strike="noStrike">
                <a:solidFill>
                  <a:srgbClr val="171717"/>
                </a:solidFill>
                <a:latin typeface="Plus Jakarta Sans"/>
                <a:ea typeface="Plus Jakarta Sans"/>
                <a:cs typeface="Plus Jakarta Sans"/>
                <a:sym typeface="Plus Jakarta Sans"/>
              </a:rPr>
              <a:t>Lista (Array): </a:t>
            </a:r>
            <a:r>
              <a:rPr b="0" i="0" lang="es" sz="1100" u="none" cap="none" strike="noStrike">
                <a:solidFill>
                  <a:srgbClr val="171717"/>
                </a:solidFill>
                <a:latin typeface="Plus Jakarta Sans"/>
                <a:ea typeface="Plus Jakarta Sans"/>
                <a:cs typeface="Plus Jakarta Sans"/>
                <a:sym typeface="Plus Jakarta Sans"/>
              </a:rPr>
              <a:t>entre corchetes. ["Ventas", "Diseño"].</a:t>
            </a:r>
            <a:endParaRPr/>
          </a:p>
        </p:txBody>
      </p:sp>
      <p:sp>
        <p:nvSpPr>
          <p:cNvPr id="244" name="Google Shape;244;p2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Pares Clave: Valor</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45" name="Google Shape;245;p2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Y los tipos de dato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5"/>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Una variable es una caja con etiqueta "Nombre del Cliente": hoy dice "Ana", mañana "Carlos". Las burbujas de colores que arrastrás son variables.</a:t>
            </a:r>
            <a:endParaRPr/>
          </a:p>
          <a:p>
            <a:pPr indent="0" lvl="0" marL="0" marR="0" rtl="0" algn="l">
              <a:lnSpc>
                <a:spcPct val="110000"/>
              </a:lnSpc>
              <a:spcBef>
                <a:spcPts val="35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¿Por qué dinámicas? </a:t>
            </a:r>
            <a:r>
              <a:rPr b="0" i="0" lang="es" sz="1300" u="none" cap="none" strike="noStrike">
                <a:solidFill>
                  <a:srgbClr val="171717"/>
                </a:solidFill>
                <a:latin typeface="Plus Jakarta Sans"/>
                <a:ea typeface="Plus Jakarta Sans"/>
                <a:cs typeface="Plus Jakarta Sans"/>
                <a:sym typeface="Plus Jakarta Sans"/>
              </a:rPr>
              <a:t>un solo flujo sirve para miles de casos. En vez de "Hola Juan", usás la variable {{1.Nombre}} y Make la completa sola.</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Regla de oro: </a:t>
            </a:r>
            <a:r>
              <a:rPr b="0" i="0" lang="es" sz="1300" u="none" cap="none" strike="noStrike">
                <a:solidFill>
                  <a:srgbClr val="171717"/>
                </a:solidFill>
                <a:latin typeface="Plus Jakarta Sans"/>
                <a:ea typeface="Plus Jakarta Sans"/>
                <a:cs typeface="Plus Jakarta Sans"/>
                <a:sym typeface="Plus Jakarta Sans"/>
              </a:rPr>
              <a:t>nunca escribas datos fijos si cambian en cada ejecución. Usá variables mapeadas.</a:t>
            </a:r>
            <a:endParaRPr/>
          </a:p>
        </p:txBody>
      </p:sp>
      <p:sp>
        <p:nvSpPr>
          <p:cNvPr id="251" name="Google Shape;251;p2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400"/>
              <a:buFont typeface="Arial"/>
              <a:buNone/>
            </a:pPr>
            <a:r>
              <a:rPr b="0" i="0" lang="es" sz="4400" u="none" cap="none" strike="noStrike">
                <a:solidFill>
                  <a:srgbClr val="FF632B"/>
                </a:solidFill>
                <a:latin typeface="Plus Jakarta Sans ExtraBold"/>
                <a:ea typeface="Plus Jakarta Sans ExtraBold"/>
                <a:cs typeface="Plus Jakarta Sans ExtraBold"/>
                <a:sym typeface="Plus Jakarta Sans ExtraBold"/>
              </a:rPr>
              <a:t>Variables</a:t>
            </a:r>
            <a:endParaRPr b="0" i="0" sz="44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52" name="Google Shape;252;p2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Las cajas etiquetadas de Make</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f1accc46a3_1_0"/>
          <p:cNvSpPr txBox="1"/>
          <p:nvPr/>
        </p:nvSpPr>
        <p:spPr>
          <a:xfrm>
            <a:off x="739075" y="2481425"/>
            <a:ext cx="59115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Objeto { }: </a:t>
            </a:r>
            <a:r>
              <a:rPr b="0" i="0" lang="es" sz="1150" u="none" cap="none" strike="noStrike">
                <a:solidFill>
                  <a:srgbClr val="171717"/>
                </a:solidFill>
                <a:latin typeface="Plus Jakarta Sans"/>
                <a:ea typeface="Plus Jakarta Sans"/>
                <a:cs typeface="Plus Jakarta Sans"/>
                <a:sym typeface="Plus Jakarta Sans"/>
              </a:rPr>
              <a:t>la ficha de una sola cosa (un cliente). Datos en pares Clave: Valor. Ej: "nombre": "Laura".</a:t>
            </a:r>
            <a:endParaRPr/>
          </a:p>
          <a:p>
            <a:pPr indent="0" lvl="0" marL="0" marR="0" rtl="0" algn="l">
              <a:lnSpc>
                <a:spcPct val="110000"/>
              </a:lnSpc>
              <a:spcBef>
                <a:spcPts val="4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Array [ ]: </a:t>
            </a:r>
            <a:r>
              <a:rPr b="0" i="0" lang="es" sz="1150" u="none" cap="none" strike="noStrike">
                <a:solidFill>
                  <a:srgbClr val="171717"/>
                </a:solidFill>
                <a:latin typeface="Plus Jakarta Sans"/>
                <a:ea typeface="Plus Jakarta Sans"/>
                <a:cs typeface="Plus Jakarta Sans"/>
                <a:sym typeface="Plus Jakarta Sans"/>
              </a:rPr>
              <a:t>una lista de elementos del mismo tipo. Ej: ["Logo", "SEO", "Ads"].</a:t>
            </a:r>
            <a:endParaRPr/>
          </a:p>
          <a:p>
            <a:pPr indent="0" lvl="0" marL="0" marR="0" rtl="0" algn="l">
              <a:lnSpc>
                <a:spcPct val="110000"/>
              </a:lnSpc>
              <a:spcBef>
                <a:spcPts val="4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La clave y los textos van </a:t>
            </a:r>
            <a:r>
              <a:rPr b="1" i="0" lang="es" sz="1150" u="none" cap="none" strike="noStrike">
                <a:solidFill>
                  <a:srgbClr val="171717"/>
                </a:solidFill>
                <a:latin typeface="Plus Jakarta Sans"/>
                <a:ea typeface="Plus Jakarta Sans"/>
                <a:cs typeface="Plus Jakarta Sans"/>
                <a:sym typeface="Plus Jakarta Sans"/>
              </a:rPr>
              <a:t>siempre entre comillas dobles</a:t>
            </a:r>
            <a:r>
              <a:rPr b="0" i="0" lang="es" sz="1150" u="none" cap="none" strike="noStrike">
                <a:solidFill>
                  <a:srgbClr val="171717"/>
                </a:solidFill>
                <a:latin typeface="Plus Jakarta Sans"/>
                <a:ea typeface="Plus Jakarta Sans"/>
                <a:cs typeface="Plus Jakarta Sans"/>
                <a:sym typeface="Plus Jakarta Sans"/>
              </a:rPr>
              <a:t>.</a:t>
            </a:r>
            <a:endParaRPr/>
          </a:p>
        </p:txBody>
      </p:sp>
      <p:sp>
        <p:nvSpPr>
          <p:cNvPr id="258" name="Google Shape;258;g3f1accc46a3_1_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171717"/>
                </a:solidFill>
                <a:latin typeface="Plus Jakarta Sans ExtraBold"/>
                <a:ea typeface="Plus Jakarta Sans ExtraBold"/>
                <a:cs typeface="Plus Jakarta Sans ExtraBold"/>
                <a:sym typeface="Plus Jakarta Sans ExtraBold"/>
              </a:rPr>
              <a:t>El idioma: JSON</a:t>
            </a:r>
            <a:endParaRPr b="0" i="0" sz="4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59" name="Google Shape;259;g3f1accc46a3_1_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Objetos { } y Arrays [ ]</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f1accc46a3_1_6"/>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Lo más potente: un </a:t>
            </a:r>
            <a:r>
              <a:rPr b="1" i="0" lang="es" sz="1300" u="none" cap="none" strike="noStrike">
                <a:solidFill>
                  <a:srgbClr val="171717"/>
                </a:solidFill>
                <a:latin typeface="Plus Jakarta Sans"/>
                <a:ea typeface="Plus Jakarta Sans"/>
                <a:cs typeface="Plus Jakarta Sans"/>
                <a:sym typeface="Plus Jakarta Sans"/>
              </a:rPr>
              <a:t>Objeto puede contener un Array de otros objetos</a:t>
            </a:r>
            <a:r>
              <a:rPr b="0" i="0" lang="es" sz="1300" u="none" cap="none" strike="noStrike">
                <a:solidFill>
                  <a:srgbClr val="171717"/>
                </a:solidFill>
                <a:latin typeface="Plus Jakarta Sans"/>
                <a:ea typeface="Plus Jakarta Sans"/>
                <a:cs typeface="Plus Jakarta Sans"/>
                <a:sym typeface="Plus Jakarta Sans"/>
              </a:rPr>
              <a:t>.</a:t>
            </a:r>
            <a:endParaRPr/>
          </a:p>
          <a:p>
            <a:pPr indent="0" lvl="0" marL="0" marR="0" rtl="0" algn="l">
              <a:lnSpc>
                <a:spcPct val="110000"/>
              </a:lnSpc>
              <a:spcBef>
                <a:spcPts val="35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Ejemplo — reporte de ventas: </a:t>
            </a:r>
            <a:r>
              <a:rPr b="0" i="0" lang="es" sz="1300" u="none" cap="none" strike="noStrike">
                <a:solidFill>
                  <a:srgbClr val="171717"/>
                </a:solidFill>
                <a:latin typeface="Plus Jakarta Sans"/>
                <a:ea typeface="Plus Jakarta Sans"/>
                <a:cs typeface="Plus Jakarta Sans"/>
                <a:sym typeface="Plus Jakarta Sans"/>
              </a:rPr>
              <a:t>un objeto principal (fecha, vendedor, total) con un array "ventas", donde cada venta es otro objeto (producto, monto).</a:t>
            </a:r>
            <a:endParaRPr/>
          </a:p>
          <a:p>
            <a:pPr indent="0" lvl="0" marL="0" marR="0" rtl="0" algn="l">
              <a:lnSpc>
                <a:spcPct val="110000"/>
              </a:lnSpc>
              <a:spcBef>
                <a:spcPts val="30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Entender este "fichas dentro de carpetas" te deja armar filtros avanzados en Make o Zapier.</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Cuidado: </a:t>
            </a:r>
            <a:r>
              <a:rPr b="0" i="0" lang="es" sz="1300" u="none" cap="none" strike="noStrike">
                <a:solidFill>
                  <a:srgbClr val="171717"/>
                </a:solidFill>
                <a:latin typeface="Plus Jakarta Sans"/>
                <a:ea typeface="Plus Jakarta Sans"/>
                <a:cs typeface="Plus Jakarta Sans"/>
                <a:sym typeface="Plus Jakarta Sans"/>
              </a:rPr>
              <a:t>la última pareja de un objeto no lleva coma al final, o el sistema se rompe.</a:t>
            </a:r>
            <a:endParaRPr/>
          </a:p>
        </p:txBody>
      </p:sp>
      <p:sp>
        <p:nvSpPr>
          <p:cNvPr id="265" name="Google Shape;265;g3f1accc46a3_1_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JSON anidado</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66" name="Google Shape;266;g3f1accc46a3_1_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Fichas dentro de carpetas</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f1accc46a3_1_1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Errores</a:t>
            </a:r>
            <a:r>
              <a:rPr b="0" i="0" lang="es" sz="2400" u="none" cap="none" strike="noStrike">
                <a:solidFill>
                  <a:srgbClr val="260700"/>
                </a:solidFill>
                <a:latin typeface="Plus Jakarta Sans"/>
                <a:ea typeface="Plus Jakarta Sans"/>
                <a:cs typeface="Plus Jakarta Sans"/>
                <a:sym typeface="Plus Jakarta Sans"/>
              </a:rPr>
              <a:t> de costos y de JSON</a:t>
            </a:r>
            <a:endParaRPr b="0" i="0" sz="2400" u="none" cap="none" strike="noStrike">
              <a:solidFill>
                <a:srgbClr val="260700"/>
              </a:solidFill>
              <a:latin typeface="Plus Jakarta Sans"/>
              <a:ea typeface="Plus Jakarta Sans"/>
              <a:cs typeface="Plus Jakarta Sans"/>
              <a:sym typeface="Plus Jakarta Sans"/>
            </a:endParaRPr>
          </a:p>
        </p:txBody>
      </p:sp>
      <p:sp>
        <p:nvSpPr>
          <p:cNvPr id="272" name="Google Shape;272;g3f1accc46a3_1_12"/>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Bucle infinito</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Un flujo que se dispara a sí mismo consume todas tus ops en minutos. ¡Cuidado!</a:t>
            </a:r>
            <a:endParaRPr/>
          </a:p>
        </p:txBody>
      </p:sp>
      <p:sp>
        <p:nvSpPr>
          <p:cNvPr id="273" name="Google Shape;273;g3f1accc46a3_1_12"/>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IA de lujo</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No uses el modelo más caro para tareas simples. Modelos chicos para lo mecánico.</a:t>
            </a:r>
            <a:endParaRPr/>
          </a:p>
        </p:txBody>
      </p:sp>
      <p:sp>
        <p:nvSpPr>
          <p:cNvPr id="274" name="Google Shape;274;g3f1accc46a3_1_12"/>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Comillas y llaves</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En JSON: comillas dobles en claves y textos. { } para una ficha; [ ] para una lista.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6"/>
          <p:cNvSpPr txBox="1"/>
          <p:nvPr/>
        </p:nvSpPr>
        <p:spPr>
          <a:xfrm>
            <a:off x="739075" y="2481425"/>
            <a:ext cx="68535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Mapear = decirle a Make: "tomá el valor de esta etiqueta JSON y ponelo en este campo de la otra app".</a:t>
            </a:r>
            <a:endParaRPr/>
          </a:p>
          <a:p>
            <a:pPr indent="0" lvl="0" marL="0" marR="0" rtl="0" algn="l">
              <a:lnSpc>
                <a:spcPct val="110000"/>
              </a:lnSpc>
              <a:spcBef>
                <a:spcPts val="4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Ejemplo: </a:t>
            </a:r>
            <a:r>
              <a:rPr b="0" i="0" lang="es" sz="1150" u="none" cap="none" strike="noStrike">
                <a:solidFill>
                  <a:srgbClr val="171717"/>
                </a:solidFill>
                <a:latin typeface="Plus Jakarta Sans"/>
                <a:ea typeface="Plus Jakarta Sans"/>
                <a:cs typeface="Plus Jakarta Sans"/>
                <a:sym typeface="Plus Jakarta Sans"/>
              </a:rPr>
              <a:t>llega {"email": "cliente@ventas.com"}. Mapeás la etiqueta email en el campo Email de Airtable.</a:t>
            </a:r>
            <a:endParaRPr/>
          </a:p>
          <a:p>
            <a:pPr indent="0" lvl="0" marL="0" marR="0" rtl="0" algn="l">
              <a:lnSpc>
                <a:spcPct val="110000"/>
              </a:lnSpc>
              <a:spcBef>
                <a:spcPts val="4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Make extrae el valor y lo escribe solo. Sin copiar y pegar.</a:t>
            </a:r>
            <a:endParaRPr/>
          </a:p>
        </p:txBody>
      </p:sp>
      <p:sp>
        <p:nvSpPr>
          <p:cNvPr id="280" name="Google Shape;280;p2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171717"/>
                </a:solidFill>
                <a:latin typeface="Plus Jakarta Sans ExtraBold"/>
                <a:ea typeface="Plus Jakarta Sans ExtraBold"/>
                <a:cs typeface="Plus Jakarta Sans ExtraBold"/>
                <a:sym typeface="Plus Jakarta Sans ExtraBold"/>
              </a:rPr>
              <a:t>Mapeo de datos</a:t>
            </a:r>
            <a:endParaRPr b="0" i="0" sz="36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81" name="Google Shape;281;p2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De formulario a CRM</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7"/>
          <p:cNvSpPr txBox="1"/>
          <p:nvPr/>
        </p:nvSpPr>
        <p:spPr>
          <a:xfrm>
            <a:off x="739075" y="2481425"/>
            <a:ext cx="79593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que tu flujo pase los datos correctos a cada acción.</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En la acción VIP escribí el mensaje con variables: "Nuevo lead VIP: {{upper(nombre)}}".</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En la acción Estándar (Sheets) mapeá cada columna a su variable.</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tus acciones reciben datos dinámicos. Ladrillo 3.</a:t>
            </a:r>
            <a:endParaRPr/>
          </a:p>
        </p:txBody>
      </p:sp>
      <p:sp>
        <p:nvSpPr>
          <p:cNvPr id="287" name="Google Shape;287;p2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3</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88" name="Google Shape;288;p2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Mapeá tus variables</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8"/>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04</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294" name="Google Shape;294;p28"/>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8F2E8"/>
                </a:solidFill>
                <a:latin typeface="Plus Jakarta Sans ExtraBold"/>
                <a:ea typeface="Plus Jakarta Sans ExtraBold"/>
                <a:cs typeface="Plus Jakarta Sans ExtraBold"/>
                <a:sym typeface="Plus Jakarta Sans ExtraBold"/>
              </a:rPr>
              <a:t>Flujos profesionales</a:t>
            </a:r>
            <a:endParaRPr b="0" i="0" sz="36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9"/>
          <p:cNvSpPr txBox="1"/>
          <p:nvPr/>
        </p:nvSpPr>
        <p:spPr>
          <a:xfrm>
            <a:off x="739075" y="2481425"/>
            <a:ext cx="61998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Con el módulo </a:t>
            </a:r>
            <a:r>
              <a:rPr b="1" i="0" lang="es" sz="1150" u="none" cap="none" strike="noStrike">
                <a:solidFill>
                  <a:srgbClr val="171717"/>
                </a:solidFill>
                <a:latin typeface="Plus Jakarta Sans"/>
                <a:ea typeface="Plus Jakarta Sans"/>
                <a:cs typeface="Plus Jakarta Sans"/>
                <a:sym typeface="Plus Jakarta Sans"/>
              </a:rPr>
              <a:t>Create a Chat Completion</a:t>
            </a:r>
            <a:r>
              <a:rPr b="0" i="0" lang="es" sz="1150" u="none" cap="none" strike="noStrike">
                <a:solidFill>
                  <a:srgbClr val="171717"/>
                </a:solidFill>
                <a:latin typeface="Plus Jakarta Sans"/>
                <a:ea typeface="Plus Jakarta Sans"/>
                <a:cs typeface="Plus Jakarta Sans"/>
                <a:sym typeface="Plus Jakarta Sans"/>
              </a:rPr>
              <a:t>, tu flujo deja de ser mecánico y empieza a entender texto.</a:t>
            </a:r>
            <a:endParaRPr/>
          </a:p>
          <a:p>
            <a:pPr indent="-301625" lvl="0" marL="457200" marR="0" rtl="0" algn="l">
              <a:lnSpc>
                <a:spcPct val="110000"/>
              </a:lnSpc>
              <a:spcBef>
                <a:spcPts val="300"/>
              </a:spcBef>
              <a:spcAft>
                <a:spcPts val="0"/>
              </a:spcAft>
              <a:buClr>
                <a:srgbClr val="FF632B"/>
              </a:buClr>
              <a:buSzPts val="1150"/>
              <a:buFont typeface="Plus Jakarta Sans"/>
              <a:buChar char="●"/>
            </a:pPr>
            <a:r>
              <a:rPr b="1" i="0" lang="es" sz="1150" u="none" cap="none" strike="noStrike">
                <a:solidFill>
                  <a:srgbClr val="171717"/>
                </a:solidFill>
                <a:latin typeface="Plus Jakarta Sans"/>
                <a:ea typeface="Plus Jakarta Sans"/>
                <a:cs typeface="Plus Jakarta Sans"/>
                <a:sym typeface="Plus Jakarta Sans"/>
              </a:rPr>
              <a:t>System: </a:t>
            </a:r>
            <a:r>
              <a:rPr b="0" i="0" lang="es" sz="1150" u="none" cap="none" strike="noStrike">
                <a:solidFill>
                  <a:srgbClr val="171717"/>
                </a:solidFill>
                <a:latin typeface="Plus Jakarta Sans"/>
                <a:ea typeface="Plus Jakarta Sans"/>
                <a:cs typeface="Plus Jakarta Sans"/>
                <a:sym typeface="Plus Jakarta Sans"/>
              </a:rPr>
              <a:t>le das la personalidad ("Sos un clasificador de leads, respondé solo Alta o Baja").</a:t>
            </a:r>
            <a:endParaRPr/>
          </a:p>
          <a:p>
            <a:pPr indent="-301625" lvl="0" marL="457200" marR="0" rtl="0" algn="l">
              <a:lnSpc>
                <a:spcPct val="110000"/>
              </a:lnSpc>
              <a:spcBef>
                <a:spcPts val="0"/>
              </a:spcBef>
              <a:spcAft>
                <a:spcPts val="0"/>
              </a:spcAft>
              <a:buClr>
                <a:srgbClr val="FF632B"/>
              </a:buClr>
              <a:buSzPts val="1150"/>
              <a:buFont typeface="Plus Jakarta Sans"/>
              <a:buChar char="●"/>
            </a:pPr>
            <a:r>
              <a:rPr b="1" i="0" lang="es" sz="1150" u="none" cap="none" strike="noStrike">
                <a:solidFill>
                  <a:srgbClr val="171717"/>
                </a:solidFill>
                <a:latin typeface="Plus Jakarta Sans"/>
                <a:ea typeface="Plus Jakarta Sans"/>
                <a:cs typeface="Plus Jakarta Sans"/>
                <a:sym typeface="Plus Jakarta Sans"/>
              </a:rPr>
              <a:t>User: </a:t>
            </a:r>
            <a:r>
              <a:rPr b="0" i="0" lang="es" sz="1150" u="none" cap="none" strike="noStrike">
                <a:solidFill>
                  <a:srgbClr val="171717"/>
                </a:solidFill>
                <a:latin typeface="Plus Jakarta Sans"/>
                <a:ea typeface="Plus Jakarta Sans"/>
                <a:cs typeface="Plus Jakarta Sans"/>
                <a:sym typeface="Plus Jakarta Sans"/>
              </a:rPr>
              <a:t>mezclás texto fijo + variables (el mensaje del cliente).</a:t>
            </a:r>
            <a:endParaRPr/>
          </a:p>
          <a:p>
            <a:pPr indent="-301625" lvl="0" marL="457200" marR="0" rtl="0" algn="l">
              <a:lnSpc>
                <a:spcPct val="110000"/>
              </a:lnSpc>
              <a:spcBef>
                <a:spcPts val="0"/>
              </a:spcBef>
              <a:spcAft>
                <a:spcPts val="0"/>
              </a:spcAft>
              <a:buClr>
                <a:srgbClr val="FF632B"/>
              </a:buClr>
              <a:buSzPts val="1150"/>
              <a:buFont typeface="Plus Jakarta Sans"/>
              <a:buChar char="●"/>
            </a:pPr>
            <a:r>
              <a:rPr b="1" i="0" lang="es" sz="1150" u="none" cap="none" strike="noStrike">
                <a:solidFill>
                  <a:srgbClr val="171717"/>
                </a:solidFill>
                <a:latin typeface="Plus Jakarta Sans"/>
                <a:ea typeface="Plus Jakarta Sans"/>
                <a:cs typeface="Plus Jakarta Sans"/>
                <a:sym typeface="Plus Jakarta Sans"/>
              </a:rPr>
              <a:t>Tip: </a:t>
            </a:r>
            <a:r>
              <a:rPr b="0" i="0" lang="es" sz="1150" u="none" cap="none" strike="noStrike">
                <a:solidFill>
                  <a:srgbClr val="171717"/>
                </a:solidFill>
                <a:latin typeface="Plus Jakarta Sans"/>
                <a:ea typeface="Plus Jakarta Sans"/>
                <a:cs typeface="Plus Jakarta Sans"/>
                <a:sym typeface="Plus Jakarta Sans"/>
              </a:rPr>
              <a:t>limitá Max Tokens (100-200) para tareas cortas y cuidar el bolsillo.</a:t>
            </a:r>
            <a:endParaRPr/>
          </a:p>
        </p:txBody>
      </p:sp>
      <p:sp>
        <p:nvSpPr>
          <p:cNvPr id="300" name="Google Shape;300;p2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171717"/>
                </a:solidFill>
                <a:latin typeface="Plus Jakarta Sans ExtraBold"/>
                <a:ea typeface="Plus Jakarta Sans ExtraBold"/>
                <a:cs typeface="Plus Jakarta Sans ExtraBold"/>
                <a:sym typeface="Plus Jakarta Sans ExtraBold"/>
              </a:rPr>
              <a:t>OpenAI en Make</a:t>
            </a:r>
            <a:endParaRPr b="0" i="0" sz="36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01" name="Google Shape;301;p2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Flujos que entienden</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0"/>
          <p:cNvSpPr/>
          <p:nvPr/>
        </p:nvSpPr>
        <p:spPr>
          <a:xfrm>
            <a:off x="6824125" y="2759980"/>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Rollback</a:t>
            </a:r>
            <a:endParaRPr b="0" i="0" sz="1200" u="none" cap="none" strike="noStrike">
              <a:solidFill>
                <a:srgbClr val="FAFAFA"/>
              </a:solidFill>
              <a:latin typeface="Plus Jakarta Sans"/>
              <a:ea typeface="Plus Jakarta Sans"/>
              <a:cs typeface="Plus Jakarta Sans"/>
              <a:sym typeface="Plus Jakarta Sans"/>
            </a:endParaRPr>
          </a:p>
        </p:txBody>
      </p:sp>
      <p:sp>
        <p:nvSpPr>
          <p:cNvPr id="307" name="Google Shape;307;p30"/>
          <p:cNvSpPr/>
          <p:nvPr/>
        </p:nvSpPr>
        <p:spPr>
          <a:xfrm>
            <a:off x="3403275" y="2073153"/>
            <a:ext cx="2405100" cy="997200"/>
          </a:xfrm>
          <a:prstGeom prst="roundRect">
            <a:avLst>
              <a:gd fmla="val 16667" name="adj"/>
            </a:avLst>
          </a:prstGeom>
          <a:solidFill>
            <a:srgbClr val="FF632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260700"/>
                </a:solidFill>
                <a:latin typeface="Plus Jakarta Sans"/>
                <a:ea typeface="Plus Jakarta Sans"/>
                <a:cs typeface="Plus Jakarta Sans"/>
                <a:sym typeface="Plus Jakarta Sans"/>
              </a:rPr>
              <a:t>Error Handlers</a:t>
            </a:r>
            <a:endParaRPr b="1" i="0" sz="2000" u="none" cap="none" strike="noStrike">
              <a:solidFill>
                <a:srgbClr val="260700"/>
              </a:solidFill>
              <a:latin typeface="Plus Jakarta Sans"/>
              <a:ea typeface="Plus Jakarta Sans"/>
              <a:cs typeface="Plus Jakarta Sans"/>
              <a:sym typeface="Plus Jakarta Sans"/>
            </a:endParaRPr>
          </a:p>
        </p:txBody>
      </p:sp>
      <p:sp>
        <p:nvSpPr>
          <p:cNvPr id="308" name="Google Shape;308;p30"/>
          <p:cNvSpPr/>
          <p:nvPr/>
        </p:nvSpPr>
        <p:spPr>
          <a:xfrm>
            <a:off x="6824125" y="3618097"/>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deshace todo</a:t>
            </a:r>
            <a:endParaRPr b="0" i="0" sz="1200" u="none" cap="none" strike="noStrike">
              <a:solidFill>
                <a:srgbClr val="222224"/>
              </a:solidFill>
              <a:latin typeface="Plus Jakarta Sans"/>
              <a:ea typeface="Plus Jakarta Sans"/>
              <a:cs typeface="Plus Jakarta Sans"/>
              <a:sym typeface="Plus Jakarta Sans"/>
            </a:endParaRPr>
          </a:p>
        </p:txBody>
      </p:sp>
      <p:cxnSp>
        <p:nvCxnSpPr>
          <p:cNvPr id="309" name="Google Shape;309;p30"/>
          <p:cNvCxnSpPr>
            <a:stCxn id="306" idx="2"/>
            <a:endCxn id="308" idx="0"/>
          </p:cNvCxnSpPr>
          <p:nvPr/>
        </p:nvCxnSpPr>
        <p:spPr>
          <a:xfrm>
            <a:off x="7523725" y="3340180"/>
            <a:ext cx="0" cy="277800"/>
          </a:xfrm>
          <a:prstGeom prst="straightConnector1">
            <a:avLst/>
          </a:prstGeom>
          <a:noFill/>
          <a:ln cap="flat" cmpd="sng" w="9525">
            <a:solidFill>
              <a:srgbClr val="CCCCCC"/>
            </a:solidFill>
            <a:prstDash val="solid"/>
            <a:round/>
            <a:headEnd len="sm" w="sm" type="none"/>
            <a:tailEnd len="med" w="med" type="oval"/>
          </a:ln>
        </p:spPr>
      </p:cxnSp>
      <p:sp>
        <p:nvSpPr>
          <p:cNvPr id="310" name="Google Shape;310;p30"/>
          <p:cNvSpPr/>
          <p:nvPr/>
        </p:nvSpPr>
        <p:spPr>
          <a:xfrm>
            <a:off x="920675" y="27599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Ignore</a:t>
            </a:r>
            <a:endParaRPr b="0" i="0" sz="1200" u="none" cap="none" strike="noStrike">
              <a:solidFill>
                <a:srgbClr val="FAFAFA"/>
              </a:solidFill>
              <a:latin typeface="Plus Jakarta Sans"/>
              <a:ea typeface="Plus Jakarta Sans"/>
              <a:cs typeface="Plus Jakarta Sans"/>
              <a:sym typeface="Plus Jakarta Sans"/>
            </a:endParaRPr>
          </a:p>
        </p:txBody>
      </p:sp>
      <p:sp>
        <p:nvSpPr>
          <p:cNvPr id="311" name="Google Shape;311;p30"/>
          <p:cNvSpPr/>
          <p:nvPr/>
        </p:nvSpPr>
        <p:spPr>
          <a:xfrm>
            <a:off x="920675" y="3618035"/>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sigue de largo</a:t>
            </a:r>
            <a:endParaRPr b="0" i="0" sz="1200" u="none" cap="none" strike="noStrike">
              <a:solidFill>
                <a:srgbClr val="222224"/>
              </a:solidFill>
              <a:latin typeface="Plus Jakarta Sans"/>
              <a:ea typeface="Plus Jakarta Sans"/>
              <a:cs typeface="Plus Jakarta Sans"/>
              <a:sym typeface="Plus Jakarta Sans"/>
            </a:endParaRPr>
          </a:p>
        </p:txBody>
      </p:sp>
      <p:cxnSp>
        <p:nvCxnSpPr>
          <p:cNvPr id="312" name="Google Shape;312;p30"/>
          <p:cNvCxnSpPr>
            <a:stCxn id="310" idx="2"/>
            <a:endCxn id="311" idx="0"/>
          </p:cNvCxnSpPr>
          <p:nvPr/>
        </p:nvCxnSpPr>
        <p:spPr>
          <a:xfrm>
            <a:off x="1620275" y="3340118"/>
            <a:ext cx="0" cy="277800"/>
          </a:xfrm>
          <a:prstGeom prst="straightConnector1">
            <a:avLst/>
          </a:prstGeom>
          <a:noFill/>
          <a:ln cap="flat" cmpd="sng" w="9525">
            <a:solidFill>
              <a:srgbClr val="CCCCCC"/>
            </a:solidFill>
            <a:prstDash val="solid"/>
            <a:round/>
            <a:headEnd len="sm" w="sm" type="none"/>
            <a:tailEnd len="med" w="med" type="oval"/>
          </a:ln>
        </p:spPr>
      </p:cxnSp>
      <p:sp>
        <p:nvSpPr>
          <p:cNvPr id="313" name="Google Shape;313;p30"/>
          <p:cNvSpPr/>
          <p:nvPr/>
        </p:nvSpPr>
        <p:spPr>
          <a:xfrm>
            <a:off x="3906225" y="36180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Break</a:t>
            </a:r>
            <a:endParaRPr b="0" i="0" sz="1200" u="none" cap="none" strike="noStrike">
              <a:solidFill>
                <a:srgbClr val="FAFAFA"/>
              </a:solidFill>
              <a:latin typeface="Plus Jakarta Sans"/>
              <a:ea typeface="Plus Jakarta Sans"/>
              <a:cs typeface="Plus Jakarta Sans"/>
              <a:sym typeface="Plus Jakarta Sans"/>
            </a:endParaRPr>
          </a:p>
        </p:txBody>
      </p:sp>
      <p:cxnSp>
        <p:nvCxnSpPr>
          <p:cNvPr id="314" name="Google Shape;314;p30"/>
          <p:cNvCxnSpPr>
            <a:stCxn id="313" idx="0"/>
            <a:endCxn id="307" idx="2"/>
          </p:cNvCxnSpPr>
          <p:nvPr/>
        </p:nvCxnSpPr>
        <p:spPr>
          <a:xfrm rot="10800000">
            <a:off x="4605825" y="3070293"/>
            <a:ext cx="0" cy="547800"/>
          </a:xfrm>
          <a:prstGeom prst="straightConnector1">
            <a:avLst/>
          </a:prstGeom>
          <a:noFill/>
          <a:ln cap="flat" cmpd="sng" w="9525">
            <a:solidFill>
              <a:srgbClr val="CCCCCC"/>
            </a:solidFill>
            <a:prstDash val="solid"/>
            <a:round/>
            <a:headEnd len="med" w="med" type="oval"/>
            <a:tailEnd len="sm" w="sm" type="none"/>
          </a:ln>
        </p:spPr>
      </p:cxnSp>
      <p:sp>
        <p:nvSpPr>
          <p:cNvPr id="315" name="Google Shape;315;p30"/>
          <p:cNvSpPr/>
          <p:nvPr/>
        </p:nvSpPr>
        <p:spPr>
          <a:xfrm>
            <a:off x="920675" y="14114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reintenta</a:t>
            </a:r>
            <a:endParaRPr b="0" i="0" sz="1200" u="none" cap="none" strike="noStrike">
              <a:solidFill>
                <a:srgbClr val="FAFAFA"/>
              </a:solidFill>
              <a:latin typeface="Plus Jakarta Sans"/>
              <a:ea typeface="Plus Jakarta Sans"/>
              <a:cs typeface="Plus Jakarta Sans"/>
              <a:sym typeface="Plus Jakarta Sans"/>
            </a:endParaRPr>
          </a:p>
        </p:txBody>
      </p:sp>
      <p:sp>
        <p:nvSpPr>
          <p:cNvPr id="316" name="Google Shape;316;p30"/>
          <p:cNvSpPr/>
          <p:nvPr/>
        </p:nvSpPr>
        <p:spPr>
          <a:xfrm>
            <a:off x="6824125" y="141146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Resume</a:t>
            </a:r>
            <a:endParaRPr b="0" i="0" sz="1200" u="none" cap="none" strike="noStrike">
              <a:solidFill>
                <a:srgbClr val="FAFAFA"/>
              </a:solidFill>
              <a:latin typeface="Plus Jakarta Sans"/>
              <a:ea typeface="Plus Jakarta Sans"/>
              <a:cs typeface="Plus Jakarta Sans"/>
              <a:sym typeface="Plus Jakarta Sans"/>
            </a:endParaRPr>
          </a:p>
        </p:txBody>
      </p:sp>
      <p:cxnSp>
        <p:nvCxnSpPr>
          <p:cNvPr id="317" name="Google Shape;317;p30"/>
          <p:cNvCxnSpPr>
            <a:stCxn id="315" idx="3"/>
            <a:endCxn id="307" idx="1"/>
          </p:cNvCxnSpPr>
          <p:nvPr/>
        </p:nvCxnSpPr>
        <p:spPr>
          <a:xfrm>
            <a:off x="2319875" y="1701518"/>
            <a:ext cx="1083300" cy="870300"/>
          </a:xfrm>
          <a:prstGeom prst="bentConnector3">
            <a:avLst>
              <a:gd fmla="val 50005" name="adj1"/>
            </a:avLst>
          </a:prstGeom>
          <a:noFill/>
          <a:ln cap="flat" cmpd="sng" w="9525">
            <a:solidFill>
              <a:srgbClr val="CCCCCC"/>
            </a:solidFill>
            <a:prstDash val="solid"/>
            <a:round/>
            <a:headEnd len="med" w="med" type="oval"/>
            <a:tailEnd len="sm" w="sm" type="none"/>
          </a:ln>
        </p:spPr>
      </p:cxnSp>
      <p:cxnSp>
        <p:nvCxnSpPr>
          <p:cNvPr id="318" name="Google Shape;318;p30"/>
          <p:cNvCxnSpPr>
            <a:stCxn id="316" idx="1"/>
            <a:endCxn id="307" idx="3"/>
          </p:cNvCxnSpPr>
          <p:nvPr/>
        </p:nvCxnSpPr>
        <p:spPr>
          <a:xfrm flipH="1">
            <a:off x="5808325" y="1701568"/>
            <a:ext cx="1015800" cy="870300"/>
          </a:xfrm>
          <a:prstGeom prst="bentConnector3">
            <a:avLst>
              <a:gd fmla="val 49998" name="adj1"/>
            </a:avLst>
          </a:prstGeom>
          <a:noFill/>
          <a:ln cap="flat" cmpd="sng" w="9525">
            <a:solidFill>
              <a:srgbClr val="CCCCCC"/>
            </a:solidFill>
            <a:prstDash val="solid"/>
            <a:round/>
            <a:headEnd len="med" w="med" type="oval"/>
            <a:tailEnd len="sm" w="sm" type="none"/>
          </a:ln>
        </p:spPr>
      </p:cxnSp>
      <p:cxnSp>
        <p:nvCxnSpPr>
          <p:cNvPr id="319" name="Google Shape;319;p30"/>
          <p:cNvCxnSpPr>
            <a:stCxn id="310" idx="0"/>
            <a:endCxn id="307" idx="1"/>
          </p:cNvCxnSpPr>
          <p:nvPr/>
        </p:nvCxnSpPr>
        <p:spPr>
          <a:xfrm rot="-5400000">
            <a:off x="2417675" y="1774418"/>
            <a:ext cx="188100" cy="1782900"/>
          </a:xfrm>
          <a:prstGeom prst="bentConnector2">
            <a:avLst/>
          </a:prstGeom>
          <a:noFill/>
          <a:ln cap="flat" cmpd="sng" w="9525">
            <a:solidFill>
              <a:srgbClr val="CCCCCC"/>
            </a:solidFill>
            <a:prstDash val="solid"/>
            <a:round/>
            <a:headEnd len="med" w="med" type="oval"/>
            <a:tailEnd len="sm" w="sm" type="none"/>
          </a:ln>
        </p:spPr>
      </p:cxnSp>
      <p:cxnSp>
        <p:nvCxnSpPr>
          <p:cNvPr id="320" name="Google Shape;320;p30"/>
          <p:cNvCxnSpPr>
            <a:stCxn id="307" idx="3"/>
            <a:endCxn id="306" idx="0"/>
          </p:cNvCxnSpPr>
          <p:nvPr/>
        </p:nvCxnSpPr>
        <p:spPr>
          <a:xfrm>
            <a:off x="5808375" y="2571753"/>
            <a:ext cx="1715400" cy="188100"/>
          </a:xfrm>
          <a:prstGeom prst="bentConnector2">
            <a:avLst/>
          </a:prstGeom>
          <a:noFill/>
          <a:ln cap="flat" cmpd="sng" w="9525">
            <a:solidFill>
              <a:srgbClr val="CCCCCC"/>
            </a:solidFill>
            <a:prstDash val="solid"/>
            <a:round/>
            <a:headEnd len="sm" w="sm" type="none"/>
            <a:tailEnd len="med" w="med" type="oval"/>
          </a:ln>
        </p:spPr>
      </p:cxnSp>
      <p:sp>
        <p:nvSpPr>
          <p:cNvPr id="321" name="Google Shape;321;p30"/>
          <p:cNvSpPr/>
          <p:nvPr/>
        </p:nvSpPr>
        <p:spPr>
          <a:xfrm>
            <a:off x="3906225" y="9451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valor sustituto</a:t>
            </a:r>
            <a:endParaRPr b="0" i="0" sz="1200" u="none" cap="none" strike="noStrike">
              <a:solidFill>
                <a:srgbClr val="FAFAFA"/>
              </a:solidFill>
              <a:latin typeface="Plus Jakarta Sans"/>
              <a:ea typeface="Plus Jakarta Sans"/>
              <a:cs typeface="Plus Jakarta Sans"/>
              <a:sym typeface="Plus Jakarta Sans"/>
            </a:endParaRPr>
          </a:p>
        </p:txBody>
      </p:sp>
      <p:cxnSp>
        <p:nvCxnSpPr>
          <p:cNvPr id="322" name="Google Shape;322;p30"/>
          <p:cNvCxnSpPr>
            <a:stCxn id="307" idx="0"/>
            <a:endCxn id="321" idx="2"/>
          </p:cNvCxnSpPr>
          <p:nvPr/>
        </p:nvCxnSpPr>
        <p:spPr>
          <a:xfrm rot="10800000">
            <a:off x="4605825" y="1525353"/>
            <a:ext cx="0" cy="547800"/>
          </a:xfrm>
          <a:prstGeom prst="straightConnector1">
            <a:avLst/>
          </a:prstGeom>
          <a:noFill/>
          <a:ln cap="flat" cmpd="sng" w="9525">
            <a:solidFill>
              <a:srgbClr val="CCCCCC"/>
            </a:solidFill>
            <a:prstDash val="solid"/>
            <a:round/>
            <a:headEnd len="sm" w="sm" type="none"/>
            <a:tailEnd len="med" w="med" type="oval"/>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1"/>
          <p:cNvSpPr txBox="1"/>
          <p:nvPr/>
        </p:nvSpPr>
        <p:spPr>
          <a:xfrm>
            <a:off x="739075" y="2481425"/>
            <a:ext cx="6507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El Error Handler tipo </a:t>
            </a:r>
            <a:r>
              <a:rPr b="1" i="0" lang="es" sz="1150" u="none" cap="none" strike="noStrike">
                <a:solidFill>
                  <a:srgbClr val="171717"/>
                </a:solidFill>
                <a:latin typeface="Plus Jakarta Sans"/>
                <a:ea typeface="Plus Jakarta Sans"/>
                <a:cs typeface="Plus Jakarta Sans"/>
                <a:sym typeface="Plus Jakarta Sans"/>
              </a:rPr>
              <a:t>Break</a:t>
            </a:r>
            <a:r>
              <a:rPr b="0" i="0" lang="es" sz="1150" u="none" cap="none" strike="noStrike">
                <a:solidFill>
                  <a:srgbClr val="171717"/>
                </a:solidFill>
                <a:latin typeface="Plus Jakarta Sans"/>
                <a:ea typeface="Plus Jakarta Sans"/>
                <a:cs typeface="Plus Jakarta Sans"/>
                <a:sym typeface="Plus Jakarta Sans"/>
              </a:rPr>
              <a:t> reintenta el módulo que falló. Number of attempts: 3 es el número mágico.</a:t>
            </a:r>
            <a:endParaRPr/>
          </a:p>
          <a:p>
            <a:pPr indent="-301625" lvl="0" marL="457200" marR="0" rtl="0" algn="l">
              <a:lnSpc>
                <a:spcPct val="110000"/>
              </a:lnSpc>
              <a:spcBef>
                <a:spcPts val="300"/>
              </a:spcBef>
              <a:spcAft>
                <a:spcPts val="0"/>
              </a:spcAft>
              <a:buClr>
                <a:srgbClr val="FF632B"/>
              </a:buClr>
              <a:buSzPts val="1150"/>
              <a:buFont typeface="Plus Jakarta Sans"/>
              <a:buChar char="●"/>
            </a:pPr>
            <a:r>
              <a:rPr b="1" i="0" lang="es" sz="1150" u="none" cap="none" strike="noStrike">
                <a:solidFill>
                  <a:srgbClr val="171717"/>
                </a:solidFill>
                <a:latin typeface="Plus Jakarta Sans"/>
                <a:ea typeface="Plus Jakarta Sans"/>
                <a:cs typeface="Plus Jakarta Sans"/>
                <a:sym typeface="Plus Jakarta Sans"/>
              </a:rPr>
              <a:t>El repartidor de pizzas: </a:t>
            </a:r>
            <a:r>
              <a:rPr b="0" i="0" lang="es" sz="1150" u="none" cap="none" strike="noStrike">
                <a:solidFill>
                  <a:srgbClr val="171717"/>
                </a:solidFill>
                <a:latin typeface="Plus Jakarta Sans"/>
                <a:ea typeface="Plus Jakarta Sans"/>
                <a:cs typeface="Plus Jakarta Sans"/>
                <a:sym typeface="Plus Jakarta Sans"/>
              </a:rPr>
              <a:t>sin reintentos, tira la pizza si nadie abre. Con Break, toca, espera y vuelve a intentar 3 veces.</a:t>
            </a:r>
            <a:endParaRPr/>
          </a:p>
          <a:p>
            <a:pPr indent="-301625" lvl="0" marL="457200" marR="0" rtl="0" algn="l">
              <a:lnSpc>
                <a:spcPct val="110000"/>
              </a:lnSpc>
              <a:spcBef>
                <a:spcPts val="0"/>
              </a:spcBef>
              <a:spcAft>
                <a:spcPts val="0"/>
              </a:spcAft>
              <a:buClr>
                <a:srgbClr val="FF632B"/>
              </a:buClr>
              <a:buSzPts val="1150"/>
              <a:buFont typeface="Plus Jakarta Sans"/>
              <a:buChar char="●"/>
            </a:pPr>
            <a:r>
              <a:rPr b="1" i="0" lang="es" sz="1150" u="none" cap="none" strike="noStrike">
                <a:solidFill>
                  <a:srgbClr val="171717"/>
                </a:solidFill>
                <a:latin typeface="Plus Jakarta Sans"/>
                <a:ea typeface="Plus Jakarta Sans"/>
                <a:cs typeface="Plus Jakarta Sans"/>
                <a:sym typeface="Plus Jakarta Sans"/>
              </a:rPr>
              <a:t>Backoff exponencial: </a:t>
            </a:r>
            <a:r>
              <a:rPr b="0" i="0" lang="es" sz="1150" u="none" cap="none" strike="noStrike">
                <a:solidFill>
                  <a:srgbClr val="171717"/>
                </a:solidFill>
                <a:latin typeface="Plus Jakarta Sans"/>
                <a:ea typeface="Plus Jakarta Sans"/>
                <a:cs typeface="Plus Jakarta Sans"/>
                <a:sym typeface="Plus Jakarta Sans"/>
              </a:rPr>
              <a:t>no 20 intentos en 20 segundos. Esperá 1 min, luego 5, luego 15. Dale tiempo al mundo a arreglarse.</a:t>
            </a:r>
            <a:endParaRPr/>
          </a:p>
        </p:txBody>
      </p:sp>
      <p:sp>
        <p:nvSpPr>
          <p:cNvPr id="328" name="Google Shape;328;p3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 sz="3400" u="none" cap="none" strike="noStrike">
                <a:solidFill>
                  <a:srgbClr val="171717"/>
                </a:solidFill>
                <a:latin typeface="Plus Jakarta Sans ExtraBold"/>
                <a:ea typeface="Plus Jakarta Sans ExtraBold"/>
                <a:cs typeface="Plus Jakarta Sans ExtraBold"/>
                <a:sym typeface="Plus Jakarta Sans ExtraBold"/>
              </a:rPr>
              <a:t>Reintentos y Backoff</a:t>
            </a:r>
            <a:endParaRPr b="0" i="0" sz="34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29" name="Google Shape;329;p3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El repartidor de pizzas</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2"/>
          <p:cNvSpPr txBox="1"/>
          <p:nvPr/>
        </p:nvSpPr>
        <p:spPr>
          <a:xfrm>
            <a:off x="739075" y="2481425"/>
            <a:ext cx="74304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que tu flujo califique solo y aguante caídas.</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Sumá OpenAI para clasificar el lead (Alta / Baja) y filtrá cada ruta por esa palabra.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Clic derecho en OpenAI → "Add error handler" → Break con 3 reintentos.</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escenario inteligente y resiliente. ¡Pre-Entrega 3 lista!</a:t>
            </a:r>
            <a:endParaRPr/>
          </a:p>
        </p:txBody>
      </p:sp>
      <p:sp>
        <p:nvSpPr>
          <p:cNvPr id="335" name="Google Shape;335;p3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4</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36" name="Google Shape;336;p3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IA + a prueba de fallos</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3"/>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PE</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342" name="Google Shape;342;p33"/>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400"/>
              <a:buFont typeface="Arial"/>
              <a:buNone/>
            </a:pPr>
            <a:r>
              <a:rPr b="0" i="0" lang="es" sz="4400" u="none" cap="none" strike="noStrike">
                <a:solidFill>
                  <a:srgbClr val="F8F2E8"/>
                </a:solidFill>
                <a:latin typeface="Plus Jakarta Sans ExtraBold"/>
                <a:ea typeface="Plus Jakarta Sans ExtraBold"/>
                <a:cs typeface="Plus Jakarta Sans ExtraBold"/>
                <a:sym typeface="Plus Jakarta Sans ExtraBold"/>
              </a:rPr>
              <a:t>Pre-Entrega 3</a:t>
            </a:r>
            <a:endParaRPr b="0" i="0" sz="44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Los 4 pasos arman un escenario operativo en Make que captura un lead, lo califica con IA y bifurca el camino a prueba de fallos.</a:t>
            </a:r>
            <a:endParaRPr/>
          </a:p>
          <a:p>
            <a:pPr indent="-228600" lvl="0" marL="228600" marR="0" rtl="0" algn="l">
              <a:lnSpc>
                <a:spcPct val="110000"/>
              </a:lnSpc>
              <a:spcBef>
                <a:spcPts val="3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Pasos 1-2 → </a:t>
            </a:r>
            <a:r>
              <a:rPr b="0" i="0" lang="es" sz="1300" u="none" cap="none" strike="noStrike">
                <a:solidFill>
                  <a:srgbClr val="171717"/>
                </a:solidFill>
                <a:latin typeface="Plus Jakarta Sans"/>
                <a:ea typeface="Plus Jakarta Sans"/>
                <a:cs typeface="Plus Jakarta Sans"/>
                <a:sym typeface="Plus Jakarta Sans"/>
              </a:rPr>
              <a:t>Trigger + Router con filtros (VIP/Estándar).</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 3 → </a:t>
            </a:r>
            <a:r>
              <a:rPr b="0" i="0" lang="es" sz="1300" u="none" cap="none" strike="noStrike">
                <a:solidFill>
                  <a:srgbClr val="171717"/>
                </a:solidFill>
                <a:latin typeface="Plus Jakarta Sans"/>
                <a:ea typeface="Plus Jakarta Sans"/>
                <a:cs typeface="Plus Jakarta Sans"/>
                <a:sym typeface="Plus Jakarta Sans"/>
              </a:rPr>
              <a:t>variables mapeadas en las acciones.</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 4 → </a:t>
            </a:r>
            <a:r>
              <a:rPr b="0" i="0" lang="es" sz="1300" u="none" cap="none" strike="noStrike">
                <a:solidFill>
                  <a:srgbClr val="171717"/>
                </a:solidFill>
                <a:latin typeface="Plus Jakarta Sans"/>
                <a:ea typeface="Plus Jakarta Sans"/>
                <a:cs typeface="Plus Jakarta Sans"/>
                <a:sym typeface="Plus Jakarta Sans"/>
              </a:rPr>
              <a:t>OpenAI calificando + Error Handler Break.</a:t>
            </a:r>
            <a:endParaRPr/>
          </a:p>
          <a:p>
            <a:pPr indent="0" lvl="0" marL="0" marR="0" rtl="0" algn="l">
              <a:lnSpc>
                <a:spcPct val="110000"/>
              </a:lnSpc>
              <a:spcBef>
                <a:spcPts val="35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Objetivo de aprendizaje: </a:t>
            </a:r>
            <a:r>
              <a:rPr b="0" i="0" lang="es" sz="1300" u="none" cap="none" strike="noStrike">
                <a:solidFill>
                  <a:srgbClr val="171717"/>
                </a:solidFill>
                <a:latin typeface="Plus Jakarta Sans"/>
                <a:ea typeface="Plus Jakarta Sans"/>
                <a:cs typeface="Plus Jakarta Sans"/>
                <a:sym typeface="Plus Jakarta Sans"/>
              </a:rPr>
              <a:t>pasar de "juguetes lineales" a un SOP resiliente que decide y tolera fallos.</a:t>
            </a:r>
            <a:endParaRPr/>
          </a:p>
        </p:txBody>
      </p:sp>
      <p:sp>
        <p:nvSpPr>
          <p:cNvPr id="348" name="Google Shape;348;p3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¿De qué se trata?</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49" name="Google Shape;349;p3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171717"/>
                </a:solidFill>
                <a:latin typeface="Plus Jakarta Sans"/>
                <a:ea typeface="Plus Jakarta Sans"/>
                <a:cs typeface="Plus Jakarta Sans"/>
                <a:sym typeface="Plus Jakarta Sans"/>
              </a:rPr>
              <a:t>Pre-Entrega 3</a:t>
            </a:r>
            <a:endParaRPr b="0" i="0" sz="25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5"/>
          <p:cNvSpPr txBox="1"/>
          <p:nvPr/>
        </p:nvSpPr>
        <p:spPr>
          <a:xfrm>
            <a:off x="1267850" y="2272675"/>
            <a:ext cx="62769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250"/>
              <a:buFont typeface="Arial"/>
              <a:buNone/>
            </a:pPr>
            <a:r>
              <a:rPr b="1" i="0" lang="es" sz="1250" u="none" cap="none" strike="noStrike">
                <a:solidFill>
                  <a:srgbClr val="FF632B"/>
                </a:solidFill>
                <a:latin typeface="Plus Jakarta Sans"/>
                <a:ea typeface="Plus Jakarta Sans"/>
                <a:cs typeface="Plus Jakarta Sans"/>
                <a:sym typeface="Plus Jakarta Sans"/>
              </a:rPr>
              <a:t>⏱️ Duración estimada: ~3 horas</a:t>
            </a:r>
            <a:endParaRPr/>
          </a:p>
          <a:p>
            <a:pPr indent="0" lvl="0" marL="0" marR="0" rtl="0" algn="l">
              <a:lnSpc>
                <a:spcPct val="110000"/>
              </a:lnSpc>
              <a:spcBef>
                <a:spcPts val="150"/>
              </a:spcBef>
              <a:spcAft>
                <a:spcPts val="0"/>
              </a:spcAft>
              <a:buClr>
                <a:srgbClr val="000000"/>
              </a:buClr>
              <a:buSzPts val="1250"/>
              <a:buFont typeface="Arial"/>
              <a:buNone/>
            </a:pPr>
            <a:r>
              <a:rPr b="1" i="0" lang="es" sz="1250" u="none" cap="none" strike="noStrike">
                <a:solidFill>
                  <a:srgbClr val="FF632B"/>
                </a:solidFill>
                <a:latin typeface="Plus Jakarta Sans"/>
                <a:ea typeface="Plus Jakarta Sans"/>
                <a:cs typeface="Plus Jakarta Sans"/>
                <a:sym typeface="Plus Jakarta Sans"/>
              </a:rPr>
              <a:t>📄 Entrega: link público al JSON (blueprint) + captura del History</a:t>
            </a:r>
            <a:endParaRPr/>
          </a:p>
          <a:p>
            <a:pPr indent="0" lvl="0" marL="0" marR="0" rtl="0" algn="l">
              <a:lnSpc>
                <a:spcPct val="110000"/>
              </a:lnSpc>
              <a:spcBef>
                <a:spcPts val="45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Construí y activá un escenario en Make que capture un lead, use OpenAI para calificarlo y bifurque el camino de forma automática y a prueba de fallos.</a:t>
            </a:r>
            <a:endParaRPr/>
          </a:p>
        </p:txBody>
      </p:sp>
      <p:sp>
        <p:nvSpPr>
          <p:cNvPr id="355" name="Google Shape;355;p3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171717"/>
                </a:solidFill>
                <a:latin typeface="Plus Jakarta Sans ExtraBold"/>
                <a:ea typeface="Plus Jakarta Sans ExtraBold"/>
                <a:cs typeface="Plus Jakarta Sans ExtraBold"/>
                <a:sym typeface="Plus Jakarta Sans ExtraBold"/>
              </a:rPr>
              <a:t>Tu misión</a:t>
            </a:r>
            <a:endParaRPr b="0" i="0" sz="4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56" name="Google Shape;356;p3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El entregable</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6"/>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Pasos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62" name="Google Shape;362;p36"/>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Creá un escenario en Make con un Trigger real (Google Sheets, Forms o Gmail).</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Conectá el módulo de OpenAI (Create a Chat Completion) con un prompt mapeado con variables.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Sumá un Router que divida el flujo en "Prioridad Alta" y "Prioridad Baja".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En cada rama, configurá un Filtro que valide la palabra exacta que devuelve la IA.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Obligatorio: clic derecho en el módulo OpenAI → "Add error handler" tipo Break con 3 reintentos.</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Desglose del tiempo:</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Armado del Trigger + Router + Filtros — 1 h 20 min.</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Integración de OpenAI (prompt + variables) — 1 h.</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Error Handler + pruebas con Run once — 40 min.</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FF632B"/>
                </a:solidFill>
                <a:latin typeface="Plus Jakarta Sans"/>
                <a:ea typeface="Plus Jakarta Sans"/>
                <a:cs typeface="Plus Jakarta Sans"/>
                <a:sym typeface="Plus Jakarta Sans"/>
              </a:rPr>
              <a:t>Total ≈ 3 horas.</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Formato: </a:t>
            </a:r>
            <a:r>
              <a:rPr b="0" i="0" lang="es" sz="1300" u="none" cap="none" strike="noStrike">
                <a:solidFill>
                  <a:srgbClr val="171717"/>
                </a:solidFill>
                <a:latin typeface="Plus Jakarta Sans"/>
                <a:ea typeface="Plus Jakarta Sans"/>
                <a:cs typeface="Plus Jakarta Sans"/>
                <a:sym typeface="Plus Jakarta Sans"/>
              </a:rPr>
              <a:t>link público al JSON del blueprint exportado (Drive o Notion) + captura del historial exitoso.</a:t>
            </a:r>
            <a:endParaRPr/>
          </a:p>
        </p:txBody>
      </p:sp>
      <p:sp>
        <p:nvSpPr>
          <p:cNvPr id="368" name="Google Shape;368;p3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Tiempo y formato</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69" name="Google Shape;369;p3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Planificá tu entrega</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Cómo se evalúa</a:t>
            </a:r>
            <a:r>
              <a:rPr b="0" i="0" lang="es" sz="2400" u="none" cap="none" strike="noStrike">
                <a:solidFill>
                  <a:srgbClr val="260700"/>
                </a:solidFill>
                <a:latin typeface="Plus Jakarta Sans"/>
                <a:ea typeface="Plus Jakarta Sans"/>
                <a:cs typeface="Plus Jakarta Sans"/>
                <a:sym typeface="Plus Jakarta Sans"/>
              </a:rPr>
              <a:t> · 60 pts</a:t>
            </a:r>
            <a:endParaRPr b="0" i="0" sz="2400" u="none" cap="none" strike="noStrike">
              <a:solidFill>
                <a:srgbClr val="260700"/>
              </a:solidFill>
              <a:latin typeface="Plus Jakarta Sans"/>
              <a:ea typeface="Plus Jakarta Sans"/>
              <a:cs typeface="Plus Jakarta Sans"/>
              <a:sym typeface="Plus Jakarta Sans"/>
            </a:endParaRPr>
          </a:p>
        </p:txBody>
      </p:sp>
      <p:sp>
        <p:nvSpPr>
          <p:cNvPr id="375" name="Google Shape;375;p38"/>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Orquestación y Filtros · 40%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Trigger externo + Router con 2 caminos condicionados por Filtros (Alta vs. Baja).</a:t>
            </a:r>
            <a:endParaRPr/>
          </a:p>
        </p:txBody>
      </p:sp>
      <p:sp>
        <p:nvSpPr>
          <p:cNvPr id="376" name="Google Shape;376;p38"/>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Resiliencia · 40%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Rama de error handler visible, en modo Break con reintentos automáticos.</a:t>
            </a:r>
            <a:endParaRPr/>
          </a:p>
        </p:txBody>
      </p:sp>
      <p:sp>
        <p:nvSpPr>
          <p:cNvPr id="377" name="Google Shape;377;p38"/>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Procesamiento IA · 20%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Módulo de OpenAI con variables dinámicas para calificar al prospecto.</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Ya orquestás flujos resilientes en Make. En el Módulo 4 vas a dar el salto a n8n y a los agentes de IA.</a:t>
            </a:r>
            <a:endParaRPr/>
          </a:p>
          <a:p>
            <a:pPr indent="-228600" lvl="0" marL="228600" marR="0" rtl="0" algn="l">
              <a:lnSpc>
                <a:spcPct val="110000"/>
              </a:lnSpc>
              <a:spcBef>
                <a:spcPts val="3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Módulo 4: </a:t>
            </a:r>
            <a:r>
              <a:rPr b="0" i="0" lang="es" sz="1300" u="none" cap="none" strike="noStrike">
                <a:solidFill>
                  <a:srgbClr val="171717"/>
                </a:solidFill>
                <a:latin typeface="Plus Jakarta Sans"/>
                <a:ea typeface="Plus Jakarta Sans"/>
                <a:cs typeface="Plus Jakarta Sans"/>
                <a:sym typeface="Plus Jakarta Sans"/>
              </a:rPr>
              <a:t>automatización avanzada con n8n.io: el canvas, los nodos y los agentes que razonan.</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Tu escenario de hoy </a:t>
            </a:r>
            <a:r>
              <a:rPr b="0" i="0" lang="es" sz="1300" u="none" cap="none" strike="noStrike">
                <a:solidFill>
                  <a:srgbClr val="171717"/>
                </a:solidFill>
                <a:latin typeface="Plus Jakarta Sans"/>
                <a:ea typeface="Plus Jakarta Sans"/>
                <a:cs typeface="Plus Jakarta Sans"/>
                <a:sym typeface="Plus Jakarta Sans"/>
              </a:rPr>
              <a:t>es la base: la misma lógica de triggers, filtros y resiliencia se potencia con agentes.</a:t>
            </a:r>
            <a:endParaRPr/>
          </a:p>
          <a:p>
            <a:pPr indent="0" lvl="0" marL="0" marR="0" rtl="0" algn="l">
              <a:lnSpc>
                <a:spcPct val="110000"/>
              </a:lnSpc>
              <a:spcBef>
                <a:spcPts val="400"/>
              </a:spcBef>
              <a:spcAft>
                <a:spcPts val="0"/>
              </a:spcAft>
              <a:buClr>
                <a:srgbClr val="000000"/>
              </a:buClr>
              <a:buSzPts val="1300"/>
              <a:buFont typeface="Arial"/>
              <a:buNone/>
            </a:pPr>
            <a:r>
              <a:rPr b="0" i="1" lang="es" sz="1300" u="none" cap="none" strike="noStrike">
                <a:solidFill>
                  <a:srgbClr val="171717"/>
                </a:solidFill>
                <a:latin typeface="Plus Jakarta Sans"/>
                <a:ea typeface="Plus Jakarta Sans"/>
                <a:cs typeface="Plus Jakarta Sans"/>
                <a:sym typeface="Plus Jakarta Sans"/>
              </a:rPr>
              <a:t>Un arquitecto no construye juguetes: construye sistemas que se curan a sí mismos.</a:t>
            </a:r>
            <a:endParaRPr/>
          </a:p>
        </p:txBody>
      </p:sp>
      <p:sp>
        <p:nvSpPr>
          <p:cNvPr id="383" name="Google Shape;383;p3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F632B"/>
                </a:solidFill>
                <a:latin typeface="Plus Jakarta Sans ExtraBold"/>
                <a:ea typeface="Plus Jakarta Sans ExtraBold"/>
                <a:cs typeface="Plus Jakarta Sans ExtraBold"/>
                <a:sym typeface="Plus Jakarta Sans ExtraBold"/>
              </a:rPr>
              <a:t>¿Cómo continúa el proyecto?</a:t>
            </a:r>
            <a:endParaRPr b="0" i="0" sz="2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84" name="Google Shape;384;p3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Puente al Módulo 4</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0"/>
          <p:cNvSpPr txBox="1"/>
          <p:nvPr/>
        </p:nvSpPr>
        <p:spPr>
          <a:xfrm>
            <a:off x="739075" y="351022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Los flujos fallan; los buenos arquitectos lo prevén. Soltá todas tus dudas del módulo.</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390" name="Google Shape;390;p40"/>
          <p:cNvSpPr txBox="1"/>
          <p:nvPr/>
        </p:nvSpPr>
        <p:spPr>
          <a:xfrm>
            <a:off x="1415425" y="2371426"/>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¿Preguntas?</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1"/>
          <p:cNvSpPr txBox="1"/>
          <p:nvPr/>
        </p:nvSpPr>
        <p:spPr>
          <a:xfrm>
            <a:off x="571500" y="2175175"/>
            <a:ext cx="6462900" cy="15000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¡Cerramos el Módulo 3,</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70000"/>
              </a:lnSpc>
              <a:spcBef>
                <a:spcPts val="0"/>
              </a:spcBef>
              <a:spcAft>
                <a:spcPts val="0"/>
              </a:spcAft>
              <a:buClr>
                <a:srgbClr val="000000"/>
              </a:buClr>
              <a:buSzPts val="4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arquitectos!</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396" name="Google Shape;396;p41"/>
          <p:cNvSpPr txBox="1"/>
          <p:nvPr/>
        </p:nvSpPr>
        <p:spPr>
          <a:xfrm>
            <a:off x="571500" y="3792150"/>
            <a:ext cx="8001000" cy="906300"/>
          </a:xfrm>
          <a:prstGeom prst="rect">
            <a:avLst/>
          </a:prstGeom>
          <a:noFill/>
          <a:ln>
            <a:noFill/>
          </a:ln>
        </p:spPr>
        <p:txBody>
          <a:bodyPr anchorCtr="0" anchor="b" bIns="0" lIns="0" spcFirstLastPara="1" rIns="0" wrap="square" tIns="0">
            <a:noAutofit/>
          </a:bodyPr>
          <a:lstStyle/>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b="0" i="0" sz="600" u="none" cap="none" strike="noStrike">
              <a:solidFill>
                <a:srgbClr val="260700"/>
              </a:solidFill>
              <a:latin typeface="Plus Jakarta Sans"/>
              <a:ea typeface="Plus Jakarta Sans"/>
              <a:cs typeface="Plus Jakarta Sans"/>
              <a:sym typeface="Plus Jakarta Sans"/>
            </a:endParaRPr>
          </a:p>
        </p:txBody>
      </p:sp>
      <p:pic>
        <p:nvPicPr>
          <p:cNvPr id="397" name="Google Shape;397;p41" title="Group 1321320857.png"/>
          <p:cNvPicPr preferRelativeResize="0"/>
          <p:nvPr/>
        </p:nvPicPr>
        <p:blipFill rotWithShape="1">
          <a:blip r:embed="rId3">
            <a:alphaModFix/>
          </a:blip>
          <a:srcRect b="0" l="0" r="0" t="0"/>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