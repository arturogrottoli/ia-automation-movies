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lus Jakarta Sans ExtraBold"/>
      <p:bold r:id="rId46"/>
      <p:boldItalic r:id="rId47"/>
    </p:embeddedFont>
    <p:embeddedFont>
      <p:font typeface="Plus Jakarta Sans"/>
      <p:regular r:id="rId48"/>
      <p:bold r:id="rId49"/>
      <p:italic r:id="rId50"/>
      <p:boldItalic r:id="rId51"/>
    </p:embeddedFont>
    <p:embeddedFont>
      <p:font typeface="Plus Jakarta Sans Light"/>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hU3shO+Qw2d/qG17kM1wHHKj0T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usJakartaSansExtraBold-bold.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regular.fntdata"/><Relationship Id="rId47" Type="http://schemas.openxmlformats.org/officeDocument/2006/relationships/font" Target="fonts/PlusJakartaSansExtraBold-boldItalic.fntdata"/><Relationship Id="rId49" Type="http://schemas.openxmlformats.org/officeDocument/2006/relationships/font" Target="fonts/PlusJakarta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boldItalic.fntdata"/><Relationship Id="rId50" Type="http://schemas.openxmlformats.org/officeDocument/2006/relationships/font" Target="fonts/PlusJakartaSans-italic.fntdata"/><Relationship Id="rId53" Type="http://schemas.openxmlformats.org/officeDocument/2006/relationships/font" Target="fonts/PlusJakartaSansLight-bold.fntdata"/><Relationship Id="rId52" Type="http://schemas.openxmlformats.org/officeDocument/2006/relationships/font" Target="fonts/PlusJakartaSansLight-regular.fntdata"/><Relationship Id="rId11" Type="http://schemas.openxmlformats.org/officeDocument/2006/relationships/slide" Target="slides/slide6.xml"/><Relationship Id="rId55" Type="http://schemas.openxmlformats.org/officeDocument/2006/relationships/font" Target="fonts/PlusJakartaSansLight-boldItalic.fntdata"/><Relationship Id="rId10" Type="http://schemas.openxmlformats.org/officeDocument/2006/relationships/slide" Target="slides/slide5.xml"/><Relationship Id="rId54" Type="http://schemas.openxmlformats.org/officeDocument/2006/relationships/font" Target="fonts/PlusJakartaSansLight-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1cecf0b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f1cecf0b1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3"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9"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0"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1"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2"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4:</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Automatización Avanzada de Agentes con n8n.io</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Instalar y elegir tu entorno n8n: Cloud vs. Self-Hosted.</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Construir agentes de IA con LangChain: Modelo, Memoria y Tools.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Conectar cualquier app con el nodo HTTP Request y APIs.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Procesar miles de registros con Loops y Sub-Workflows.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la arquitectura de un agente autónomo de punta a punta.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Instalación de n8n: Cloud vs. Self-Hosted.</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Nodos de IA: LangChain y agentes autónomos.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HTTP Request: conectar apps sin integración nativa.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Loops y Sub-Workflows: datos masivos.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4: tu arquitectura de agente.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1cecf0b14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f1cecf0b14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8F2E8"/>
                </a:solidFill>
                <a:latin typeface="Plus Jakarta Sans ExtraBold"/>
                <a:ea typeface="Plus Jakarta Sans ExtraBold"/>
                <a:cs typeface="Plus Jakarta Sans ExtraBold"/>
                <a:sym typeface="Plus Jakarta Sans ExtraBold"/>
              </a:rPr>
              <a:t>Instalación de n8n</a:t>
            </a:r>
            <a:endParaRPr b="0" i="0" sz="3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6238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n8n (de "nodemation") automatiza por nodos, como Make, pero con filosofía </a:t>
            </a:r>
            <a:r>
              <a:rPr b="1" i="0" lang="es" sz="1150" u="none" cap="none" strike="noStrike">
                <a:solidFill>
                  <a:srgbClr val="171717"/>
                </a:solidFill>
                <a:latin typeface="Plus Jakarta Sans"/>
                <a:ea typeface="Plus Jakarta Sans"/>
                <a:cs typeface="Plus Jakarta Sans"/>
                <a:sym typeface="Plus Jakarta Sans"/>
              </a:rPr>
              <a:t>Fair-Code</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3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Podés ver su código, modificarlo e </a:t>
            </a:r>
            <a:r>
              <a:rPr b="1" i="0" lang="es" sz="1150" u="none" cap="none" strike="noStrike">
                <a:solidFill>
                  <a:srgbClr val="171717"/>
                </a:solidFill>
                <a:latin typeface="Plus Jakarta Sans"/>
                <a:ea typeface="Plus Jakarta Sans"/>
                <a:cs typeface="Plus Jakarta Sans"/>
                <a:sym typeface="Plus Jakarta Sans"/>
              </a:rPr>
              <a:t>instalarlo en tu propio servidor</a:t>
            </a:r>
            <a:r>
              <a:rPr b="0" i="0" lang="es" sz="1150" u="none" cap="none" strike="noStrike">
                <a:solidFill>
                  <a:srgbClr val="171717"/>
                </a:solidFill>
                <a:latin typeface="Plus Jakarta Sans"/>
                <a:ea typeface="Plus Jakarta Sans"/>
                <a:cs typeface="Plus Jakarta Sans"/>
                <a:sym typeface="Plus Jakarta Sans"/>
              </a:rPr>
              <a:t>. Sos el dueño del garaje.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Nodo: </a:t>
            </a:r>
            <a:r>
              <a:rPr b="0" i="0" lang="es" sz="1150" u="none" cap="none" strike="noStrike">
                <a:solidFill>
                  <a:srgbClr val="171717"/>
                </a:solidFill>
                <a:latin typeface="Plus Jakarta Sans"/>
                <a:ea typeface="Plus Jakarta Sans"/>
                <a:cs typeface="Plus Jakarta Sans"/>
                <a:sym typeface="Plus Jakarta Sans"/>
              </a:rPr>
              <a:t>cada cuadrito del lienzo. Puede ser un Trigger, una Acción o una Herramienta. Los conectás con flechas.</a:t>
            </a:r>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171717"/>
                </a:solidFill>
                <a:latin typeface="Plus Jakarta Sans ExtraBold"/>
                <a:ea typeface="Plus Jakarta Sans ExtraBold"/>
                <a:cs typeface="Plus Jakarta Sans ExtraBold"/>
                <a:sym typeface="Plus Jakarta Sans ExtraBold"/>
              </a:rPr>
              <a:t>¿Qué es n8n?</a:t>
            </a:r>
            <a:endParaRPr b="0" i="0" sz="38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Potencia e independencia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¿Dónde instalás?</a:t>
            </a:r>
            <a:endParaRPr b="0" i="0" sz="2400" u="none" cap="none" strike="noStrike">
              <a:solidFill>
                <a:srgbClr val="260700"/>
              </a:solidFill>
              <a:latin typeface="Plus Jakarta Sans"/>
              <a:ea typeface="Plus Jakarta Sans"/>
              <a:cs typeface="Plus Jakarta Sans"/>
              <a:sym typeface="Plus Jakarta Sans"/>
            </a:endParaRPr>
          </a:p>
        </p:txBody>
      </p:sp>
      <p:sp>
        <p:nvSpPr>
          <p:cNvPr id="131" name="Google Shape;131;p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n8n Cloud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"depto amueblado": listo en 5 min y ellos actualizan. Pero tiene límites y cuesta más (~24€/mes).</a:t>
            </a:r>
            <a:endParaRPr/>
          </a:p>
        </p:txBody>
      </p:sp>
      <p:sp>
        <p:nvSpPr>
          <p:cNvPr id="132" name="Google Shape;132;p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Self-Hosted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"casa propia": sin límites de ejecución (~5-10€/mes). Vos mantenés y hacés los backups.</a:t>
            </a:r>
            <a:endParaRPr/>
          </a:p>
        </p:txBody>
      </p:sp>
      <p:sp>
        <p:nvSpPr>
          <p:cNvPr id="133" name="Google Shape;133;p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Consejo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Si arrancás, probá Cloud. Cuando tu volumen crezca, migrar a tu propio servidor es natural.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739075" y="2481425"/>
            <a:ext cx="6326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El grifo (Trigger): </a:t>
            </a:r>
            <a:r>
              <a:rPr b="0" i="0" lang="es" sz="1100" u="none" cap="none" strike="noStrike">
                <a:solidFill>
                  <a:srgbClr val="171717"/>
                </a:solidFill>
                <a:latin typeface="Plus Jakarta Sans"/>
                <a:ea typeface="Plus Jakarta Sans"/>
                <a:cs typeface="Plus Jakarta Sans"/>
                <a:sym typeface="Plus Jakarta Sans"/>
              </a:rPr>
              <a:t>inicia el flujo (manual, programado o por evento).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Las juntas (Nodos): </a:t>
            </a:r>
            <a:r>
              <a:rPr b="0" i="0" lang="es" sz="1100" u="none" cap="none" strike="noStrike">
                <a:solidFill>
                  <a:srgbClr val="171717"/>
                </a:solidFill>
                <a:latin typeface="Plus Jakarta Sans"/>
                <a:ea typeface="Plus Jakarta Sans"/>
                <a:cs typeface="Plus Jakarta Sans"/>
                <a:sym typeface="Plus Jakarta Sans"/>
              </a:rPr>
              <a:t>el dato pasa, se limpia, una IA decide, se bifurca.</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El desagüe (Acción final): </a:t>
            </a:r>
            <a:r>
              <a:rPr b="0" i="0" lang="es" sz="1100" u="none" cap="none" strike="noStrike">
                <a:solidFill>
                  <a:srgbClr val="171717"/>
                </a:solidFill>
                <a:latin typeface="Plus Jakarta Sans"/>
                <a:ea typeface="Plus Jakarta Sans"/>
                <a:cs typeface="Plus Jakarta Sans"/>
                <a:sym typeface="Plus Jakarta Sans"/>
              </a:rPr>
              <a:t>el dato termina en Sheets o en Slack.</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JSON, la maleta: </a:t>
            </a:r>
            <a:r>
              <a:rPr b="0" i="0" lang="es" sz="1100" u="none" cap="none" strike="noStrike">
                <a:solidFill>
                  <a:srgbClr val="171717"/>
                </a:solidFill>
                <a:latin typeface="Plus Jakarta Sans"/>
                <a:ea typeface="Plus Jakarta Sans"/>
                <a:cs typeface="Plus Jakarta Sans"/>
                <a:sym typeface="Plus Jakarta Sans"/>
              </a:rPr>
              <a:t>entre nodos los datos viajan como una maleta con etiquetas (Nombre → Juan). Podés abrirla en cualquier punto.</a:t>
            </a:r>
            <a:endParaRPr/>
          </a:p>
        </p:txBody>
      </p:sp>
      <p:sp>
        <p:nvSpPr>
          <p:cNvPr id="139" name="Google Shape;139;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El Canvas de n8n</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40" name="Google Shape;140;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Una tubería de agua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empezar en n8n</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46" name="Google Shape;146;p10"/>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Self-Hosted sin backups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Si tu servidor falla, perdés todos tus flujos. Exportá o automatizá copias.</a:t>
            </a:r>
            <a:endParaRPr sz="1600"/>
          </a:p>
        </p:txBody>
      </p:sp>
      <p:sp>
        <p:nvSpPr>
          <p:cNvPr id="147" name="Google Shape;147;p10"/>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Ejecución ≠ Tarea</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En n8n una ejecución es todo el flujo (aunque tenga 50 nodos). En Make cada op cuenta.</a:t>
            </a:r>
            <a:endParaRPr sz="1600"/>
          </a:p>
        </p:txBody>
      </p:sp>
      <p:sp>
        <p:nvSpPr>
          <p:cNvPr id="148" name="Google Shape;148;p10"/>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No documentar los nodos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Renombrá: "Guardar Lead en Ventas", no "Google Sheets". Tu yo futuro agradece.</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1"/>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55" name="Google Shape;155;p11"/>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56" name="Google Shape;156;p11"/>
          <p:cNvSpPr txBox="1"/>
          <p:nvPr/>
        </p:nvSpPr>
        <p:spPr>
          <a:xfrm>
            <a:off x="6103975" y="3019650"/>
            <a:ext cx="245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Pensá en un proceso de tu trabajo que necesite decidir, no solo mover datos (ej. clasificar correos, priorizar leads). Ese es el candidato perfecto para tu primer agente de IA.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nvSpPr>
        <p:spPr>
          <a:xfrm>
            <a:off x="739075" y="2481425"/>
            <a:ext cx="6420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definir qué agente vas a diseñar.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Elegí un escenario: atención al cliente, selección de talento o monitoreo de redes.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Definí el Trigger (¿qué evento lo inicia?) y si correría en Cloud o Self-Hosted.</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escenario y su disparador. Ladrillo 1 de la Pre-Entrega 4.</a:t>
            </a:r>
            <a:endParaRPr/>
          </a:p>
        </p:txBody>
      </p:sp>
      <p:sp>
        <p:nvSpPr>
          <p:cNvPr id="162" name="Google Shape;162;p1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3" name="Google Shape;163;p1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Elegí tu escenario</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69" name="Google Shape;169;p1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8F2E8"/>
                </a:solidFill>
                <a:latin typeface="Plus Jakarta Sans ExtraBold"/>
                <a:ea typeface="Plus Jakarta Sans ExtraBold"/>
                <a:cs typeface="Plus Jakarta Sans ExtraBold"/>
                <a:sym typeface="Plus Jakarta Sans ExtraBold"/>
              </a:rPr>
              <a:t>Nodos de IA y Agentes</a:t>
            </a:r>
            <a:endParaRPr b="0" i="0" sz="3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nvSpPr>
        <p:spPr>
          <a:xfrm>
            <a:off x="739075" y="2481425"/>
            <a:ext cx="650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Basic LLM Chain: </a:t>
            </a:r>
            <a:r>
              <a:rPr b="0" i="0" lang="es" sz="1150" u="none" cap="none" strike="noStrike">
                <a:solidFill>
                  <a:srgbClr val="171717"/>
                </a:solidFill>
                <a:latin typeface="Plus Jakarta Sans"/>
                <a:ea typeface="Plus Jakarta Sans"/>
                <a:cs typeface="Plus Jakarta Sans"/>
                <a:sym typeface="Plus Jakarta Sans"/>
              </a:rPr>
              <a:t>flujo directo. Mandás texto a la IA y devuelve una respuesta. Ideal para resumir o traducir.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AI Agent: </a:t>
            </a:r>
            <a:r>
              <a:rPr b="0" i="0" lang="es" sz="1150" u="none" cap="none" strike="noStrike">
                <a:solidFill>
                  <a:srgbClr val="171717"/>
                </a:solidFill>
                <a:latin typeface="Plus Jakarta Sans"/>
                <a:ea typeface="Plus Jakarta Sans"/>
                <a:cs typeface="Plus Jakarta Sans"/>
                <a:sym typeface="Plus Jakarta Sans"/>
              </a:rPr>
              <a:t>un sistema que razona. Evalúa tu pedido, decide qué herramienta usar y repite hasta resolver.</a:t>
            </a:r>
            <a:endParaRPr/>
          </a:p>
          <a:p>
            <a:pPr indent="0" lvl="0" marL="0" marR="0" rtl="0" algn="l">
              <a:lnSpc>
                <a:spcPct val="110000"/>
              </a:lnSpc>
              <a:spcBef>
                <a:spcPts val="3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diferencia: la cadena sigue un paso fijo; el agente decide su propio camino.</a:t>
            </a:r>
            <a:endParaRPr/>
          </a:p>
        </p:txBody>
      </p:sp>
      <p:sp>
        <p:nvSpPr>
          <p:cNvPr id="175" name="Google Shape;175;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De cadenas a agentes</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76" name="Google Shape;176;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salto a la IA que razona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Modelo</a:t>
            </a:r>
            <a:endParaRPr b="0" i="0" sz="1200" u="none" cap="none" strike="noStrike">
              <a:solidFill>
                <a:srgbClr val="FAFAFA"/>
              </a:solidFill>
              <a:latin typeface="Plus Jakarta Sans"/>
              <a:ea typeface="Plus Jakarta Sans"/>
              <a:cs typeface="Plus Jakarta Sans"/>
              <a:sym typeface="Plus Jakarta Sans"/>
            </a:endParaRPr>
          </a:p>
        </p:txBody>
      </p:sp>
      <p:sp>
        <p:nvSpPr>
          <p:cNvPr id="182" name="Google Shape;182;p15"/>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AI Agent</a:t>
            </a:r>
            <a:endParaRPr b="1" i="0" sz="2000" u="none" cap="none" strike="noStrike">
              <a:solidFill>
                <a:srgbClr val="260700"/>
              </a:solidFill>
              <a:latin typeface="Plus Jakarta Sans"/>
              <a:ea typeface="Plus Jakarta Sans"/>
              <a:cs typeface="Plus Jakarta Sans"/>
              <a:sym typeface="Plus Jakarta Sans"/>
            </a:endParaRPr>
          </a:p>
        </p:txBody>
      </p:sp>
      <p:sp>
        <p:nvSpPr>
          <p:cNvPr id="183" name="Google Shape;183;p15"/>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GPT / Claude</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84" name="Google Shape;184;p15"/>
          <p:cNvCxnSpPr>
            <a:stCxn id="181" idx="2"/>
            <a:endCxn id="183"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185" name="Google Shape;185;p15"/>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Memoria</a:t>
            </a:r>
            <a:endParaRPr b="0" i="0" sz="1200" u="none" cap="none" strike="noStrike">
              <a:solidFill>
                <a:srgbClr val="FAFAFA"/>
              </a:solidFill>
              <a:latin typeface="Plus Jakarta Sans"/>
              <a:ea typeface="Plus Jakarta Sans"/>
              <a:cs typeface="Plus Jakarta Sans"/>
              <a:sym typeface="Plus Jakarta Sans"/>
            </a:endParaRPr>
          </a:p>
        </p:txBody>
      </p:sp>
      <p:sp>
        <p:nvSpPr>
          <p:cNvPr id="186" name="Google Shape;186;p15"/>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recuerda el contexto</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87" name="Google Shape;187;p15"/>
          <p:cNvCxnSpPr>
            <a:stCxn id="185" idx="2"/>
            <a:endCxn id="186"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188" name="Google Shape;188;p15"/>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Tools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89" name="Google Shape;189;p15"/>
          <p:cNvCxnSpPr>
            <a:stCxn id="188" idx="0"/>
            <a:endCxn id="182"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190" name="Google Shape;190;p15"/>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las manos</a:t>
            </a:r>
            <a:endParaRPr b="0" i="0" sz="1200" u="none" cap="none" strike="noStrike">
              <a:solidFill>
                <a:srgbClr val="FAFAFA"/>
              </a:solidFill>
              <a:latin typeface="Plus Jakarta Sans"/>
              <a:ea typeface="Plus Jakarta Sans"/>
              <a:cs typeface="Plus Jakarta Sans"/>
              <a:sym typeface="Plus Jakarta Sans"/>
            </a:endParaRPr>
          </a:p>
        </p:txBody>
      </p:sp>
      <p:sp>
        <p:nvSpPr>
          <p:cNvPr id="191" name="Google Shape;191;p15"/>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ReAct</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92" name="Google Shape;192;p15"/>
          <p:cNvCxnSpPr>
            <a:stCxn id="190" idx="3"/>
            <a:endCxn id="182"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193" name="Google Shape;193;p15"/>
          <p:cNvCxnSpPr>
            <a:stCxn id="191" idx="1"/>
            <a:endCxn id="182"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194" name="Google Shape;194;p15"/>
          <p:cNvCxnSpPr>
            <a:stCxn id="185" idx="0"/>
            <a:endCxn id="182"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195" name="Google Shape;195;p15"/>
          <p:cNvCxnSpPr>
            <a:stCxn id="182" idx="3"/>
            <a:endCxn id="181"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196" name="Google Shape;196;p15"/>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razona y actúa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97" name="Google Shape;197;p15"/>
          <p:cNvCxnSpPr>
            <a:stCxn id="182" idx="0"/>
            <a:endCxn id="196"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El agente no responde de una: razona y actúa en ciclo hasta resolver. Por eso tarda unos segundos.</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Pensamiento: </a:t>
            </a:r>
            <a:r>
              <a:rPr b="0" i="0" lang="es" sz="1300" u="none" cap="none" strike="noStrike">
                <a:solidFill>
                  <a:srgbClr val="171717"/>
                </a:solidFill>
                <a:latin typeface="Plus Jakarta Sans"/>
                <a:ea typeface="Plus Jakarta Sans"/>
                <a:cs typeface="Plus Jakarta Sans"/>
                <a:sym typeface="Plus Jakarta Sans"/>
              </a:rPr>
              <a:t>"necesito ver los pedidos; usaré Google Sheets".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Acción: </a:t>
            </a:r>
            <a:r>
              <a:rPr b="0" i="0" lang="es" sz="1300" u="none" cap="none" strike="noStrike">
                <a:solidFill>
                  <a:srgbClr val="171717"/>
                </a:solidFill>
                <a:latin typeface="Plus Jakarta Sans"/>
                <a:ea typeface="Plus Jakarta Sans"/>
                <a:cs typeface="Plus Jakarta Sans"/>
                <a:sym typeface="Plus Jakarta Sans"/>
              </a:rPr>
              <a:t>consulta la hoja. </a:t>
            </a:r>
            <a:r>
              <a:rPr b="1" i="0" lang="es" sz="1300" u="none" cap="none" strike="noStrike">
                <a:solidFill>
                  <a:srgbClr val="171717"/>
                </a:solidFill>
                <a:latin typeface="Plus Jakarta Sans"/>
                <a:ea typeface="Plus Jakarta Sans"/>
                <a:cs typeface="Plus Jakarta Sans"/>
                <a:sym typeface="Plus Jakarta Sans"/>
              </a:rPr>
              <a:t>Observación: </a:t>
            </a:r>
            <a:r>
              <a:rPr b="0" i="0" lang="es" sz="1300" u="none" cap="none" strike="noStrike">
                <a:solidFill>
                  <a:srgbClr val="171717"/>
                </a:solidFill>
                <a:latin typeface="Plus Jakarta Sans"/>
                <a:ea typeface="Plus Jakarta Sans"/>
                <a:cs typeface="Plus Jakarta Sans"/>
                <a:sym typeface="Plus Jakarta Sans"/>
              </a:rPr>
              <a:t>lee los datos.</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Clave: </a:t>
            </a:r>
            <a:r>
              <a:rPr b="0" i="0" lang="es" sz="1300" u="none" cap="none" strike="noStrike">
                <a:solidFill>
                  <a:srgbClr val="171717"/>
                </a:solidFill>
                <a:latin typeface="Plus Jakarta Sans"/>
                <a:ea typeface="Plus Jakarta Sans"/>
                <a:cs typeface="Plus Jakarta Sans"/>
                <a:sym typeface="Plus Jakarta Sans"/>
              </a:rPr>
              <a:t>sin la herramienta conectada (el nodo), el agente inventa o dice que no puede. Las Tools son sus manos.</a:t>
            </a:r>
            <a:endParaRPr/>
          </a:p>
        </p:txBody>
      </p:sp>
      <p:sp>
        <p:nvSpPr>
          <p:cNvPr id="203" name="Google Shape;203;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F632B"/>
                </a:solidFill>
                <a:latin typeface="Plus Jakarta Sans ExtraBold"/>
                <a:ea typeface="Plus Jakarta Sans ExtraBold"/>
                <a:cs typeface="Plus Jakarta Sans ExtraBold"/>
                <a:sym typeface="Plus Jakarta Sans ExtraBold"/>
              </a:rPr>
              <a:t>El ciclo ReAct</a:t>
            </a:r>
            <a:endParaRPr b="0" i="0" sz="3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4" name="Google Shape;204;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Reason + Act (razonar y actuar)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7"/>
          <p:cNvSpPr txBox="1"/>
          <p:nvPr/>
        </p:nvSpPr>
        <p:spPr>
          <a:xfrm>
            <a:off x="739075" y="2481425"/>
            <a:ext cx="5892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Trigger: </a:t>
            </a:r>
            <a:r>
              <a:rPr b="0" i="0" lang="es" sz="1100" u="none" cap="none" strike="noStrike">
                <a:solidFill>
                  <a:srgbClr val="171717"/>
                </a:solidFill>
                <a:latin typeface="Plus Jakarta Sans"/>
                <a:ea typeface="Plus Jakarta Sans"/>
                <a:cs typeface="Plus Jakarta Sans"/>
                <a:sym typeface="Plus Jakarta Sans"/>
              </a:rPr>
              <a:t>llega un correo a la bandeja de soporte (Gmail Trigger).</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Nodo de IA: </a:t>
            </a:r>
            <a:r>
              <a:rPr b="0" i="0" lang="es" sz="1100" u="none" cap="none" strike="noStrike">
                <a:solidFill>
                  <a:srgbClr val="171717"/>
                </a:solidFill>
                <a:latin typeface="Plus Jakarta Sans"/>
                <a:ea typeface="Plus Jakarta Sans"/>
                <a:cs typeface="Plus Jakarta Sans"/>
                <a:sym typeface="Plus Jakarta Sans"/>
              </a:rPr>
              <a:t>el Text Classifier lo etiqueta: Facturación, Error Técnico o Ventas.</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Switch (3 caminos): </a:t>
            </a:r>
            <a:r>
              <a:rPr b="0" i="0" lang="es" sz="1100" u="none" cap="none" strike="noStrike">
                <a:solidFill>
                  <a:srgbClr val="171717"/>
                </a:solidFill>
                <a:latin typeface="Plus Jakarta Sans"/>
                <a:ea typeface="Plus Jakarta Sans"/>
                <a:cs typeface="Plus Jakarta Sans"/>
                <a:sym typeface="Plus Jakarta Sans"/>
              </a:rPr>
              <a:t>Error → ticket en Jira (API); Ventas → aviso a Slack; Facturación → Sub-Workflow de cobros.</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Rama de error: </a:t>
            </a:r>
            <a:r>
              <a:rPr b="0" i="0" lang="es" sz="1100" u="none" cap="none" strike="noStrike">
                <a:solidFill>
                  <a:srgbClr val="171717"/>
                </a:solidFill>
                <a:latin typeface="Plus Jakarta Sans"/>
                <a:ea typeface="Plus Jakarta Sans"/>
                <a:cs typeface="Plus Jakarta Sans"/>
                <a:sym typeface="Plus Jakarta Sans"/>
              </a:rPr>
              <a:t>si Jira falla, registra en Sheets y avisa para revisión manual.</a:t>
            </a:r>
            <a:endParaRPr/>
          </a:p>
        </p:txBody>
      </p:sp>
      <p:sp>
        <p:nvSpPr>
          <p:cNvPr id="210" name="Google Shape;210;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171717"/>
                </a:solidFill>
                <a:latin typeface="Plus Jakarta Sans ExtraBold"/>
                <a:ea typeface="Plus Jakarta Sans ExtraBold"/>
                <a:cs typeface="Plus Jakarta Sans ExtraBold"/>
                <a:sym typeface="Plus Jakarta Sans ExtraBold"/>
              </a:rPr>
              <a:t>Caso: triaje de soporte</a:t>
            </a:r>
            <a:endParaRPr b="0" i="0" sz="28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1" name="Google Shape;211;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arquitectura de un agente</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8"/>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18" name="Google Shape;218;p18"/>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19" name="Google Shape;219;p18"/>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El System Prompt hace al agente: no le digas "sé un buen asistente". Decile: "Sos un experto en logística; tu única función es consultar el inventario en Airtable y responder el stock". Y limitá las iteraciones (5-10) para evitar bucles.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9"/>
          <p:cNvSpPr txBox="1"/>
          <p:nvPr/>
        </p:nvSpPr>
        <p:spPr>
          <a:xfrm>
            <a:off x="739075" y="2481425"/>
            <a:ext cx="6055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definir el AI Agent de tu escenario.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Elegí el Modelo (GPT-4o / Claude), si necesita Memoria y qué Tools usará.</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Marcá en tu diagrama el punto donde la IA decide (clasifica o razona).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el cerebro de tu agente definido. Ladrillo 2.</a:t>
            </a:r>
            <a:endParaRPr/>
          </a:p>
        </p:txBody>
      </p:sp>
      <p:sp>
        <p:nvSpPr>
          <p:cNvPr id="225" name="Google Shape;225;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26" name="Google Shape;226;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Diseñá el cerebro</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32" name="Google Shape;232;p20"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1"/>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8" name="Google Shape;238;p21"/>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HTTP Request</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nvSpPr>
        <p:spPr>
          <a:xfrm>
            <a:off x="739075" y="2481425"/>
            <a:ext cx="6199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Si una app no tiene nodo nativo en n8n, igual la conectás: con HTTP Request hablás con casi cualquier software.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camarero: </a:t>
            </a:r>
            <a:r>
              <a:rPr b="0" i="0" lang="es" sz="1150" u="none" cap="none" strike="noStrike">
                <a:solidFill>
                  <a:srgbClr val="171717"/>
                </a:solidFill>
                <a:latin typeface="Plus Jakarta Sans"/>
                <a:ea typeface="Plus Jakarta Sans"/>
                <a:cs typeface="Plus Jakarta Sans"/>
                <a:sym typeface="Plus Jakarta Sans"/>
              </a:rPr>
              <a:t>vos sos el cliente (n8n) y querés algo de la cocina (la app externa). La API es el camarero que lleva tu pedido y trae el resultado.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Bonus: </a:t>
            </a:r>
            <a:r>
              <a:rPr b="0" i="0" lang="es" sz="1150" u="none" cap="none" strike="noStrike">
                <a:solidFill>
                  <a:srgbClr val="171717"/>
                </a:solidFill>
                <a:latin typeface="Plus Jakarta Sans"/>
                <a:ea typeface="Plus Jakarta Sans"/>
                <a:cs typeface="Plus Jakarta Sans"/>
                <a:sym typeface="Plus Jakarta Sans"/>
              </a:rPr>
              <a:t>con HTTP Request accedés a todas las funciones de una app, no solo a las del nodo nativo.</a:t>
            </a:r>
            <a:endParaRPr/>
          </a:p>
        </p:txBody>
      </p:sp>
      <p:sp>
        <p:nvSpPr>
          <p:cNvPr id="244" name="Google Shape;244;p2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171717"/>
                </a:solidFill>
                <a:latin typeface="Plus Jakarta Sans ExtraBold"/>
                <a:ea typeface="Plus Jakarta Sans ExtraBold"/>
                <a:cs typeface="Plus Jakarta Sans ExtraBold"/>
                <a:sym typeface="Plus Jakarta Sans ExtraBold"/>
              </a:rPr>
              <a:t>El nodo HTTP Request</a:t>
            </a:r>
            <a:endParaRPr b="0" i="0" sz="28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45" name="Google Shape;245;p2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analogía del camarero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URL (Endpoint): </a:t>
            </a:r>
            <a:r>
              <a:rPr b="0" i="0" lang="es" sz="1300" u="none" cap="none" strike="noStrike">
                <a:solidFill>
                  <a:srgbClr val="171717"/>
                </a:solidFill>
                <a:latin typeface="Plus Jakarta Sans"/>
                <a:ea typeface="Plus Jakarta Sans"/>
                <a:cs typeface="Plus Jakarta Sans"/>
                <a:sym typeface="Plus Jakarta Sans"/>
              </a:rPr>
              <a:t>la dirección de destino.</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Método: </a:t>
            </a:r>
            <a:r>
              <a:rPr b="0" i="0" lang="es" sz="1300" u="none" cap="none" strike="noStrike">
                <a:solidFill>
                  <a:srgbClr val="171717"/>
                </a:solidFill>
                <a:latin typeface="Plus Jakarta Sans"/>
                <a:ea typeface="Plus Jakarta Sans"/>
                <a:cs typeface="Plus Jakarta Sans"/>
                <a:sym typeface="Plus Jakarta Sans"/>
              </a:rPr>
              <a:t>GET para pedir datos, POST para enviarlos.</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Headers: </a:t>
            </a:r>
            <a:r>
              <a:rPr b="0" i="0" lang="es" sz="1300" u="none" cap="none" strike="noStrike">
                <a:solidFill>
                  <a:srgbClr val="171717"/>
                </a:solidFill>
                <a:latin typeface="Plus Jakarta Sans"/>
                <a:ea typeface="Plus Jakarta Sans"/>
                <a:cs typeface="Plus Jakarta Sans"/>
                <a:sym typeface="Plus Jakarta Sans"/>
              </a:rPr>
              <a:t>instrucciones extra (ej. Content-Type: application/json).</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Autenticación: </a:t>
            </a:r>
            <a:r>
              <a:rPr b="0" i="0" lang="es" sz="1300" u="none" cap="none" strike="noStrike">
                <a:solidFill>
                  <a:srgbClr val="171717"/>
                </a:solidFill>
                <a:latin typeface="Plus Jakarta Sans"/>
                <a:ea typeface="Plus Jakarta Sans"/>
                <a:cs typeface="Plus Jakarta Sans"/>
                <a:sym typeface="Plus Jakarta Sans"/>
              </a:rPr>
              <a:t>tu llave (API Key) que te identifica.</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Body: </a:t>
            </a:r>
            <a:r>
              <a:rPr b="0" i="0" lang="es" sz="1300" u="none" cap="none" strike="noStrike">
                <a:solidFill>
                  <a:srgbClr val="171717"/>
                </a:solidFill>
                <a:latin typeface="Plus Jakarta Sans"/>
                <a:ea typeface="Plus Jakarta Sans"/>
                <a:cs typeface="Plus Jakarta Sans"/>
                <a:sym typeface="Plus Jakarta Sans"/>
              </a:rPr>
              <a:t>el contenido que enviás (solo en POST), en JSON.</a:t>
            </a:r>
            <a:endParaRPr/>
          </a:p>
        </p:txBody>
      </p:sp>
      <p:sp>
        <p:nvSpPr>
          <p:cNvPr id="251" name="Google Shape;251;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F632B"/>
                </a:solidFill>
                <a:latin typeface="Plus Jakarta Sans ExtraBold"/>
                <a:ea typeface="Plus Jakarta Sans ExtraBold"/>
                <a:cs typeface="Plus Jakarta Sans ExtraBold"/>
                <a:sym typeface="Plus Jakarta Sans ExtraBold"/>
              </a:rPr>
              <a:t>Los 5 ingredientes</a:t>
            </a:r>
            <a:endParaRPr b="0" i="0" sz="34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52" name="Google Shape;252;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De una petición HTTP</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nvSpPr>
        <p:spPr>
          <a:xfrm>
            <a:off x="739075" y="2481425"/>
            <a:ext cx="6767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Agregá el nodo "HTTP Request" y elegí el método (GET para recibir).</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Pegá la URL del endpoint y configurá la autenticación (Header Auth + API Key, o None para pruebas).</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Apretá "Execute Node": vas a ver los datos organizados en el panel derecho.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Consejo PRO: </a:t>
            </a:r>
            <a:r>
              <a:rPr b="0" i="0" lang="es" sz="1150" u="none" cap="none" strike="noStrike">
                <a:solidFill>
                  <a:srgbClr val="171717"/>
                </a:solidFill>
                <a:latin typeface="Plus Jakarta Sans"/>
                <a:ea typeface="Plus Jakarta Sans"/>
                <a:cs typeface="Plus Jakarta Sans"/>
                <a:sym typeface="Plus Jakarta Sans"/>
              </a:rPr>
              <a:t>si falla, probá la URL en el navegador. Si ahí anda, el problema está en el nodo.</a:t>
            </a:r>
            <a:endParaRPr/>
          </a:p>
        </p:txBody>
      </p:sp>
      <p:sp>
        <p:nvSpPr>
          <p:cNvPr id="258" name="Google Shape;258;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Tu primer HTTP Request</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59" name="Google Shape;259;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Paso a paso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Errores HTTP</a:t>
            </a:r>
            <a:endParaRPr b="0" i="0" sz="2400" u="none" cap="none" strike="noStrike">
              <a:solidFill>
                <a:srgbClr val="260700"/>
              </a:solidFill>
              <a:latin typeface="Plus Jakarta Sans"/>
              <a:ea typeface="Plus Jakarta Sans"/>
              <a:cs typeface="Plus Jakarta Sans"/>
              <a:sym typeface="Plus Jakarta Sans"/>
            </a:endParaRPr>
          </a:p>
        </p:txBody>
      </p:sp>
      <p:sp>
        <p:nvSpPr>
          <p:cNvPr id="265" name="Google Shape;265;p25"/>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401 Unauthorized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Tu API Key está mal escrita, expiró o va en el lugar equivocado (Header vs. URL).</a:t>
            </a:r>
            <a:endParaRPr/>
          </a:p>
        </p:txBody>
      </p:sp>
      <p:sp>
        <p:nvSpPr>
          <p:cNvPr id="266" name="Google Shape;266;p25"/>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404 Not Found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Escribiste mal la URL. Revisá que no sobren barras / al final.</a:t>
            </a:r>
            <a:endParaRPr/>
          </a:p>
        </p:txBody>
      </p:sp>
      <p:sp>
        <p:nvSpPr>
          <p:cNvPr id="267" name="Google Shape;267;p25"/>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400 Bad Request</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Le enviaste algo que no entiende: casi siempre tu JSON tiene una comilla o coma de más.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nvSpPr>
        <p:spPr>
          <a:xfrm>
            <a:off x="739075" y="2481425"/>
            <a:ext cx="6892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conectar tu agente con el mundo exterior.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Marcá qué APIs externas necesita (Jira, OpenAI, Slack, un CRM…).</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Definí el Switch/IF con al menos 2 caminos según lo que decide la IA.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agente con conexiones y rutas. Ladrillo 3.</a:t>
            </a:r>
            <a:endParaRPr/>
          </a:p>
        </p:txBody>
      </p:sp>
      <p:sp>
        <p:nvSpPr>
          <p:cNvPr id="273" name="Google Shape;273;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74" name="Google Shape;274;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Sumá las conexiones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80" name="Google Shape;280;p27"/>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8F2E8"/>
                </a:solidFill>
                <a:latin typeface="Plus Jakarta Sans ExtraBold"/>
                <a:ea typeface="Plus Jakarta Sans ExtraBold"/>
                <a:cs typeface="Plus Jakarta Sans ExtraBold"/>
                <a:sym typeface="Plus Jakarta Sans ExtraBold"/>
              </a:rPr>
              <a:t>Loops y Sub-Workflows</a:t>
            </a:r>
            <a:endParaRPr b="0" i="0" sz="3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8"/>
          <p:cNvSpPr txBox="1"/>
          <p:nvPr/>
        </p:nvSpPr>
        <p:spPr>
          <a:xfrm>
            <a:off x="739075" y="2481425"/>
            <a:ext cx="6565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¿5.000 leads de golpe? El servidor se congela o la API te bloquea. La solución es procesar por cargas.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lavadora: </a:t>
            </a:r>
            <a:r>
              <a:rPr b="0" i="0" lang="es" sz="1150" u="none" cap="none" strike="noStrike">
                <a:solidFill>
                  <a:srgbClr val="171717"/>
                </a:solidFill>
                <a:latin typeface="Plus Jakarta Sans"/>
                <a:ea typeface="Plus Jakarta Sans"/>
                <a:cs typeface="Plus Jakarta Sans"/>
                <a:sym typeface="Plus Jakarta Sans"/>
              </a:rPr>
              <a:t>no metés toda la ropa junta; la dividís en cargas (batches) y repetís el ciclo.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SplitInBatches: </a:t>
            </a:r>
            <a:r>
              <a:rPr b="0" i="0" lang="es" sz="1150" u="none" cap="none" strike="noStrike">
                <a:solidFill>
                  <a:srgbClr val="171717"/>
                </a:solidFill>
                <a:latin typeface="Plus Jakarta Sans"/>
                <a:ea typeface="Plus Jakarta Sans"/>
                <a:cs typeface="Plus Jakarta Sans"/>
                <a:sym typeface="Plus Jakarta Sans"/>
              </a:rPr>
              <a:t>el nodo que arma las cargas. Procesás de a 50 y n8n solo mantiene esos 50 en memoria.</a:t>
            </a:r>
            <a:endParaRPr/>
          </a:p>
        </p:txBody>
      </p:sp>
      <p:sp>
        <p:nvSpPr>
          <p:cNvPr id="286" name="Google Shape;286;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El Loop: la lavadora</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7" name="Google Shape;287;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Procesar datos masivos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Un Sub-Workflow es un flujo independiente que otro flujo "llama" con el nodo Execute Workflow.</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¿Por qué? </a:t>
            </a:r>
            <a:r>
              <a:rPr b="0" i="0" lang="es" sz="1300" u="none" cap="none" strike="noStrike">
                <a:solidFill>
                  <a:srgbClr val="171717"/>
                </a:solidFill>
                <a:latin typeface="Plus Jakarta Sans"/>
                <a:ea typeface="Plus Jakarta Sans"/>
                <a:cs typeface="Plus Jakarta Sans"/>
                <a:sym typeface="Plus Jakarta Sans"/>
              </a:rPr>
              <a:t>si 3 flujos limpian teléfonos, no copies los nodos 3 veces. Armá un sub-flujo "Limpiador" y cambialo en un solo lugar.</a:t>
            </a:r>
            <a:endParaRPr/>
          </a:p>
          <a:p>
            <a:pPr indent="-228600" lvl="0" marL="228600" marR="0" rtl="0" algn="l">
              <a:lnSpc>
                <a:spcPct val="110000"/>
              </a:lnSpc>
              <a:spcBef>
                <a:spcPts val="2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Orden visual: </a:t>
            </a:r>
            <a:r>
              <a:rPr b="0" i="0" lang="es" sz="1300" u="none" cap="none" strike="noStrike">
                <a:solidFill>
                  <a:srgbClr val="171717"/>
                </a:solidFill>
                <a:latin typeface="Plus Jakarta Sans"/>
                <a:ea typeface="Plus Jakarta Sans"/>
                <a:cs typeface="Plus Jakarta Sans"/>
                <a:sym typeface="Plus Jakarta Sans"/>
              </a:rPr>
              <a:t>el flujo principal queda limpio.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Reutilización: </a:t>
            </a:r>
            <a:r>
              <a:rPr b="0" i="0" lang="es" sz="1300" u="none" cap="none" strike="noStrike">
                <a:solidFill>
                  <a:srgbClr val="171717"/>
                </a:solidFill>
                <a:latin typeface="Plus Jakarta Sans"/>
                <a:ea typeface="Plus Jakarta Sans"/>
                <a:cs typeface="Plus Jakarta Sans"/>
                <a:sym typeface="Plus Jakarta Sans"/>
              </a:rPr>
              <a:t>un mismo motor de IA sirve para reseñas, correos y comentarios.</a:t>
            </a:r>
            <a:endParaRPr/>
          </a:p>
        </p:txBody>
      </p:sp>
      <p:sp>
        <p:nvSpPr>
          <p:cNvPr id="293" name="Google Shape;293;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Sub-Workflows</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4" name="Google Shape;294;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No te repitas (DRY)</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nvSpPr>
        <p:spPr>
          <a:xfrm>
            <a:off x="739075" y="2481425"/>
            <a:ext cx="62190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Flujo principal: </a:t>
            </a:r>
            <a:r>
              <a:rPr b="0" i="0" lang="es" sz="1100" u="none" cap="none" strike="noStrike">
                <a:solidFill>
                  <a:srgbClr val="171717"/>
                </a:solidFill>
                <a:latin typeface="Plus Jakarta Sans"/>
                <a:ea typeface="Plus Jakarta Sans"/>
                <a:cs typeface="Plus Jakarta Sans"/>
                <a:sym typeface="Plus Jakarta Sans"/>
              </a:rPr>
              <a:t>se conecta a la fuente (Airtable/Sheets) y gestiona el loop con SplitInBatches.</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Execute Workflow: </a:t>
            </a:r>
            <a:r>
              <a:rPr b="0" i="0" lang="es" sz="1100" u="none" cap="none" strike="noStrike">
                <a:solidFill>
                  <a:srgbClr val="171717"/>
                </a:solidFill>
                <a:latin typeface="Plus Jakarta Sans"/>
                <a:ea typeface="Plus Jakarta Sans"/>
                <a:cs typeface="Plus Jakarta Sans"/>
                <a:sym typeface="Plus Jakarta Sans"/>
              </a:rPr>
              <a:t>dentro del loop, llama al sub-flujo de a un registro.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Sub-Workflow: </a:t>
            </a:r>
            <a:r>
              <a:rPr b="0" i="0" lang="es" sz="1100" u="none" cap="none" strike="noStrike">
                <a:solidFill>
                  <a:srgbClr val="171717"/>
                </a:solidFill>
                <a:latin typeface="Plus Jakarta Sans"/>
                <a:ea typeface="Plus Jakarta Sans"/>
                <a:cs typeface="Plus Jakarta Sans"/>
                <a:sym typeface="Plus Jakarta Sans"/>
              </a:rPr>
              <a:t>recibe un registro, lo procesa (IA, otra API, formato) y devuelve el resultado.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Ejemplo: </a:t>
            </a:r>
            <a:r>
              <a:rPr b="0" i="0" lang="es" sz="1100" u="none" cap="none" strike="noStrike">
                <a:solidFill>
                  <a:srgbClr val="171717"/>
                </a:solidFill>
                <a:latin typeface="Plus Jakarta Sans"/>
                <a:ea typeface="Plus Jakarta Sans"/>
                <a:cs typeface="Plus Jakarta Sans"/>
                <a:sym typeface="Plus Jakarta Sans"/>
              </a:rPr>
              <a:t>2.000 reseñas → de a 10 → Claude detecta quejas → guarda en soporte.</a:t>
            </a:r>
            <a:endParaRPr/>
          </a:p>
        </p:txBody>
      </p:sp>
      <p:sp>
        <p:nvSpPr>
          <p:cNvPr id="300" name="Google Shape;300;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s" sz="2900" u="none" cap="none" strike="noStrike">
                <a:solidFill>
                  <a:srgbClr val="171717"/>
                </a:solidFill>
                <a:latin typeface="Plus Jakarta Sans ExtraBold"/>
                <a:ea typeface="Plus Jakarta Sans ExtraBold"/>
                <a:cs typeface="Plus Jakarta Sans ExtraBold"/>
                <a:sym typeface="Plus Jakarta Sans ExtraBold"/>
              </a:rPr>
              <a:t>La arquitectura maestra</a:t>
            </a:r>
            <a:endParaRPr b="0" i="0" sz="29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01" name="Google Shape;301;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Loop + Sub-Workflow</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Errores de Loops</a:t>
            </a:r>
            <a:endParaRPr b="0" i="0" sz="2400" u="none" cap="none" strike="noStrike">
              <a:solidFill>
                <a:srgbClr val="260700"/>
              </a:solidFill>
              <a:latin typeface="Plus Jakarta Sans"/>
              <a:ea typeface="Plus Jakarta Sans"/>
              <a:cs typeface="Plus Jakarta Sans"/>
              <a:sym typeface="Plus Jakarta Sans"/>
            </a:endParaRPr>
          </a:p>
        </p:txBody>
      </p:sp>
      <p:sp>
        <p:nvSpPr>
          <p:cNvPr id="307" name="Google Shape;307;p31"/>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Loop infinito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Olvidaste cerrar el círculo de vuelta al SplitInBatches. Consume CPU para siempre.</a:t>
            </a:r>
            <a:endParaRPr/>
          </a:p>
        </p:txBody>
      </p:sp>
      <p:sp>
        <p:nvSpPr>
          <p:cNvPr id="308" name="Google Shape;308;p31"/>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Batch muy grande</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Batches de 500 → error 429 Too Many Requests. Empezá con 5-10 y subí de a poco.</a:t>
            </a:r>
            <a:endParaRPr/>
          </a:p>
        </p:txBody>
      </p:sp>
      <p:sp>
        <p:nvSpPr>
          <p:cNvPr id="309" name="Google Shape;309;p31"/>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No pasar los datos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Llamás al Sub-Workflow pero no le mandás los datos. Activá "Send all incoming items".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nvSpPr>
        <p:spPr>
          <a:xfrm>
            <a:off x="739075" y="2481425"/>
            <a:ext cx="7776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dejar tu arquitectura ordenada y a prueba de fallos.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Indicá qué parte delegás a un Sub-Workflow para mantener el orden.</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una rama de manejo de errores: qué pasa si una conexión falla.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arquitectura de agente completa. ¡Pre-Entrega 4 lista!</a:t>
            </a:r>
            <a:endParaRPr/>
          </a:p>
        </p:txBody>
      </p:sp>
      <p:sp>
        <p:nvSpPr>
          <p:cNvPr id="315" name="Google Shape;315;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4</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16" name="Google Shape;316;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Orden y resiliencia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22" name="Google Shape;322;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4</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Los 4 pasos arman el diagrama de arquitectura de un agente de IA que resuelve un proceso real (sin construirlo aún).</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Pasos 1-2 → </a:t>
            </a:r>
            <a:r>
              <a:rPr b="0" i="0" lang="es" sz="1300" u="none" cap="none" strike="noStrike">
                <a:solidFill>
                  <a:srgbClr val="171717"/>
                </a:solidFill>
                <a:latin typeface="Plus Jakarta Sans"/>
                <a:ea typeface="Plus Jakarta Sans"/>
                <a:cs typeface="Plus Jakarta Sans"/>
                <a:sym typeface="Plus Jakarta Sans"/>
              </a:rPr>
              <a:t>escenario, Trigger y el cerebro (AI Agent).</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3 → </a:t>
            </a:r>
            <a:r>
              <a:rPr b="0" i="0" lang="es" sz="1300" u="none" cap="none" strike="noStrike">
                <a:solidFill>
                  <a:srgbClr val="171717"/>
                </a:solidFill>
                <a:latin typeface="Plus Jakarta Sans"/>
                <a:ea typeface="Plus Jakarta Sans"/>
                <a:cs typeface="Plus Jakarta Sans"/>
                <a:sym typeface="Plus Jakarta Sans"/>
              </a:rPr>
              <a:t>conexiones externas (API) y Switch con 2+ caminos.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4 → </a:t>
            </a:r>
            <a:r>
              <a:rPr b="0" i="0" lang="es" sz="1300" u="none" cap="none" strike="noStrike">
                <a:solidFill>
                  <a:srgbClr val="171717"/>
                </a:solidFill>
                <a:latin typeface="Plus Jakarta Sans"/>
                <a:ea typeface="Plus Jakarta Sans"/>
                <a:cs typeface="Plus Jakarta Sans"/>
                <a:sym typeface="Plus Jakarta Sans"/>
              </a:rPr>
              <a:t>Sub-Workflow + rama de manejo de errores.</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demostrar pensamiento arquitectónico: un agente que razona, actúa y tolera fallos.</a:t>
            </a:r>
            <a:endParaRPr/>
          </a:p>
        </p:txBody>
      </p:sp>
      <p:sp>
        <p:nvSpPr>
          <p:cNvPr id="328" name="Google Shape;328;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9" name="Google Shape;329;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4</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nvSpPr>
        <p:spPr>
          <a:xfrm>
            <a:off x="1508175" y="2272675"/>
            <a:ext cx="5815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~2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diagrama (Excalidraw, Lucidchart o papel) en PDF</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Diseñá la arquitectura de un agente autónomo con Trigger, conexiones (API), lógica (IF/Switch con 2+ caminos), un nodo de IA que decide y un resultado final.</a:t>
            </a:r>
            <a:endParaRPr/>
          </a:p>
        </p:txBody>
      </p:sp>
      <p:sp>
        <p:nvSpPr>
          <p:cNvPr id="335" name="Google Shape;33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36" name="Google Shape;33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2" name="Google Shape;342;p36"/>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Elegí un escenario: atención al cliente, selección de talento o monitoreo de redes.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Definí el Trigger (¿qué evento inicia el flujo?) y las conexiones externas (APIs).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Dibujá la lógica: un nodo IF/Switch con al menos dos caminos y el punto donde la IA decide.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Indicá qué parte delegás a un Sub-Workflow para mantener el orden.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Sumá una rama de manejo de errores: qué pasa si una conexión falla.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Elegir el escenario y el Trigger — 20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Diseñar el agente: IA, Switch y conexiones — 1 h.</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Sub-Workflow + rama de errores + prolijar — 40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2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diagrama de flujo conceptual (Excalidraw, Lucidchart o papel) entregado como PDF.</a:t>
            </a:r>
            <a:endParaRPr/>
          </a:p>
        </p:txBody>
      </p:sp>
      <p:sp>
        <p:nvSpPr>
          <p:cNvPr id="348" name="Google Shape;348;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9" name="Google Shape;349;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8"/>
          <p:cNvSpPr txBox="1"/>
          <p:nvPr/>
        </p:nvSpPr>
        <p:spPr>
          <a:xfrm>
            <a:off x="602400" y="659600"/>
            <a:ext cx="69135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lang="es" sz="4800">
                <a:solidFill>
                  <a:srgbClr val="FF632B"/>
                </a:solidFill>
                <a:latin typeface="Plus Jakarta Sans ExtraBold"/>
                <a:ea typeface="Plus Jakarta Sans ExtraBold"/>
                <a:cs typeface="Plus Jakarta Sans ExtraBold"/>
                <a:sym typeface="Plus Jakarta Sans ExtraBold"/>
              </a:rPr>
              <a:t>¿</a:t>
            </a: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55" name="Google Shape;355;p3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Manipulación de variables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Nodo que transforma una variable de texto a número real (tipo parseNumber).</a:t>
            </a:r>
            <a:endParaRPr/>
          </a:p>
        </p:txBody>
      </p:sp>
      <p:sp>
        <p:nvSpPr>
          <p:cNvPr id="356" name="Google Shape;356;p3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Lógica sin código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Rutas independientes basadas en el valor transformado, sin escribir código.</a:t>
            </a:r>
            <a:endParaRPr/>
          </a:p>
        </p:txBody>
      </p:sp>
      <p:sp>
        <p:nvSpPr>
          <p:cNvPr id="357" name="Google Shape;357;p3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Arquitectura de API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flujo recibe e interpreta datos complejos desde una API externa en JSON.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diseñás agentes que razonan y se conectan con todo. En el Módulo 5 los ponés a comunicar: Gmail, Slack y WhatsApp API.</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5: </a:t>
            </a:r>
            <a:r>
              <a:rPr b="0" i="0" lang="es" sz="1300" u="none" cap="none" strike="noStrike">
                <a:solidFill>
                  <a:srgbClr val="171717"/>
                </a:solidFill>
                <a:latin typeface="Plus Jakarta Sans"/>
                <a:ea typeface="Plus Jakarta Sans"/>
                <a:cs typeface="Plus Jakarta Sans"/>
                <a:sym typeface="Plus Jakarta Sans"/>
              </a:rPr>
              <a:t>ecosistema de comunicación multicanal con IA.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agente de hoy </a:t>
            </a:r>
            <a:r>
              <a:rPr b="0" i="0" lang="es" sz="1300" u="none" cap="none" strike="noStrike">
                <a:solidFill>
                  <a:srgbClr val="171717"/>
                </a:solidFill>
                <a:latin typeface="Plus Jakarta Sans"/>
                <a:ea typeface="Plus Jakarta Sans"/>
                <a:cs typeface="Plus Jakarta Sans"/>
                <a:sym typeface="Plus Jakarta Sans"/>
              </a:rPr>
              <a:t>es la base: la misma arquitectura ahora habla con tus clientes por sus canales.</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Dejás de "copiar y pegar" texto de la IA para ser arquitecto de sistemas que actúan.</a:t>
            </a:r>
            <a:endParaRPr/>
          </a:p>
        </p:txBody>
      </p:sp>
      <p:sp>
        <p:nvSpPr>
          <p:cNvPr id="363" name="Google Shape;363;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4" name="Google Shape;364;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5</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Un agente es tan bueno como las herramientas que le das. Soltá todas tus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70" name="Google Shape;370;p4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4,</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76" name="Google Shape;376;p41"/>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77" name="Google Shape;377;p41"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