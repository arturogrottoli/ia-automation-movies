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Plus Jakarta Sans ExtraBold"/>
      <p:bold r:id="rId45"/>
      <p:boldItalic r:id="rId46"/>
    </p:embeddedFont>
    <p:embeddedFont>
      <p:font typeface="Plus Jakarta Sans"/>
      <p:regular r:id="rId47"/>
      <p:bold r:id="rId48"/>
      <p:italic r:id="rId49"/>
      <p:boldItalic r:id="rId50"/>
    </p:embeddedFont>
    <p:embeddedFont>
      <p:font typeface="Plus Jakarta Sans Light"/>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5" roundtripDataSignature="AMtx7mi/6liBSdXGGvTfV6XkgPFKnSX/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PlusJakartaSansExtraBold-boldItalic.fntdata"/><Relationship Id="rId45" Type="http://schemas.openxmlformats.org/officeDocument/2006/relationships/font" Target="fonts/PlusJakartaSansExtraBold-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PlusJakartaSans-bold.fntdata"/><Relationship Id="rId47" Type="http://schemas.openxmlformats.org/officeDocument/2006/relationships/font" Target="fonts/PlusJakartaSans-regular.fntdata"/><Relationship Id="rId49" Type="http://schemas.openxmlformats.org/officeDocument/2006/relationships/font" Target="fonts/PlusJakartaSa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Light-regular.fntdata"/><Relationship Id="rId50" Type="http://schemas.openxmlformats.org/officeDocument/2006/relationships/font" Target="fonts/PlusJakartaSans-boldItalic.fntdata"/><Relationship Id="rId53" Type="http://schemas.openxmlformats.org/officeDocument/2006/relationships/font" Target="fonts/PlusJakartaSansLight-italic.fntdata"/><Relationship Id="rId52" Type="http://schemas.openxmlformats.org/officeDocument/2006/relationships/font" Target="fonts/PlusJakartaSansLight-bold.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PlusJakartaSansLight-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1ced953d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f1ced953db_0_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3"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4"/>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4"/>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4"/>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4"/>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3" name="Shape 23"/>
        <p:cNvGrpSpPr/>
        <p:nvPr/>
      </p:nvGrpSpPr>
      <p:grpSpPr>
        <a:xfrm>
          <a:off x="0" y="0"/>
          <a:ext cx="0" cy="0"/>
          <a:chOff x="0" y="0"/>
          <a:chExt cx="0" cy="0"/>
        </a:xfrm>
      </p:grpSpPr>
      <p:sp>
        <p:nvSpPr>
          <p:cNvPr id="24" name="Google Shape;2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5" name="Shape 25"/>
        <p:cNvGrpSpPr/>
        <p:nvPr/>
      </p:nvGrpSpPr>
      <p:grpSpPr>
        <a:xfrm>
          <a:off x="0" y="0"/>
          <a:ext cx="0" cy="0"/>
          <a:chOff x="0" y="0"/>
          <a:chExt cx="0" cy="0"/>
        </a:xfrm>
      </p:grpSpPr>
      <p:pic>
        <p:nvPicPr>
          <p:cNvPr id="26" name="Google Shape;26;p49"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7" name="Google Shape;27;p4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9" name="Google Shape;29;p4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0" name="Google Shape;30;p4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0"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61"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61"/>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61"/>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61"/>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61"/>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2"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1" name="Shape 91"/>
        <p:cNvGrpSpPr/>
        <p:nvPr/>
      </p:nvGrpSpPr>
      <p:grpSpPr>
        <a:xfrm>
          <a:off x="0" y="0"/>
          <a:ext cx="0" cy="0"/>
          <a:chOff x="0" y="0"/>
          <a:chExt cx="0" cy="0"/>
        </a:xfrm>
      </p:grpSpPr>
      <p:pic>
        <p:nvPicPr>
          <p:cNvPr id="92" name="Google Shape;92;g3f1ced953db_0_96"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93" name="Shape 93"/>
        <p:cNvGrpSpPr/>
        <p:nvPr/>
      </p:nvGrpSpPr>
      <p:grpSpPr>
        <a:xfrm>
          <a:off x="0" y="0"/>
          <a:ext cx="0" cy="0"/>
          <a:chOff x="0" y="0"/>
          <a:chExt cx="0" cy="0"/>
        </a:xfrm>
      </p:grpSpPr>
      <p:sp>
        <p:nvSpPr>
          <p:cNvPr id="94" name="Google Shape;94;g3f1ced953db_0_9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95" name="Google Shape;95;g3f1ced953db_0_98"/>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96" name="Google Shape;96;g3f1ced953db_0_98"/>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97" name="Google Shape;97;g3f1ced953db_0_98"/>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98" name="Google Shape;98;g3f1ced953db_0_98"/>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99" name="Shape 99"/>
        <p:cNvGrpSpPr/>
        <p:nvPr/>
      </p:nvGrpSpPr>
      <p:grpSpPr>
        <a:xfrm>
          <a:off x="0" y="0"/>
          <a:ext cx="0" cy="0"/>
          <a:chOff x="0" y="0"/>
          <a:chExt cx="0" cy="0"/>
        </a:xfrm>
      </p:grpSpPr>
      <p:sp>
        <p:nvSpPr>
          <p:cNvPr id="100" name="Google Shape;100;g3f1ced953db_0_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01" name="Shape 101"/>
        <p:cNvGrpSpPr/>
        <p:nvPr/>
      </p:nvGrpSpPr>
      <p:grpSpPr>
        <a:xfrm>
          <a:off x="0" y="0"/>
          <a:ext cx="0" cy="0"/>
          <a:chOff x="0" y="0"/>
          <a:chExt cx="0" cy="0"/>
        </a:xfrm>
      </p:grpSpPr>
      <p:sp>
        <p:nvSpPr>
          <p:cNvPr id="102" name="Google Shape;102;g3f1ced953db_0_10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103" name="Shape 103"/>
        <p:cNvGrpSpPr/>
        <p:nvPr/>
      </p:nvGrpSpPr>
      <p:grpSpPr>
        <a:xfrm>
          <a:off x="0" y="0"/>
          <a:ext cx="0" cy="0"/>
          <a:chOff x="0" y="0"/>
          <a:chExt cx="0" cy="0"/>
        </a:xfrm>
      </p:grpSpPr>
      <p:sp>
        <p:nvSpPr>
          <p:cNvPr id="104" name="Google Shape;104;g3f1ced953db_0_10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105" name="Shape 105"/>
        <p:cNvGrpSpPr/>
        <p:nvPr/>
      </p:nvGrpSpPr>
      <p:grpSpPr>
        <a:xfrm>
          <a:off x="0" y="0"/>
          <a:ext cx="0" cy="0"/>
          <a:chOff x="0" y="0"/>
          <a:chExt cx="0" cy="0"/>
        </a:xfrm>
      </p:grpSpPr>
      <p:pic>
        <p:nvPicPr>
          <p:cNvPr id="106" name="Google Shape;106;g3f1ced953db_0_110" title="4d917f2d-7c08-49ef-b177-326a60a5c815.png"/>
          <p:cNvPicPr preferRelativeResize="0"/>
          <p:nvPr/>
        </p:nvPicPr>
        <p:blipFill rotWithShape="1">
          <a:blip r:embed="rId2">
            <a:alphaModFix/>
          </a:blip>
          <a:srcRect b="23539" l="0" r="0" t="34389"/>
          <a:stretch/>
        </p:blipFill>
        <p:spPr>
          <a:xfrm>
            <a:off x="-45875" y="-37100"/>
            <a:ext cx="9235753" cy="5180600"/>
          </a:xfrm>
          <a:prstGeom prst="rect">
            <a:avLst/>
          </a:prstGeom>
          <a:noFill/>
          <a:ln>
            <a:noFill/>
          </a:ln>
        </p:spPr>
      </p:pic>
      <p:sp>
        <p:nvSpPr>
          <p:cNvPr id="107" name="Google Shape;107;g3f1ced953db_0_11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108" name="Google Shape;108;g3f1ced953db_0_11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109" name="Google Shape;109;g3f1ced953db_0_11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110" name="Google Shape;110;g3f1ced953db_0_11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111" name="Shape 111"/>
        <p:cNvGrpSpPr/>
        <p:nvPr/>
      </p:nvGrpSpPr>
      <p:grpSpPr>
        <a:xfrm>
          <a:off x="0" y="0"/>
          <a:ext cx="0" cy="0"/>
          <a:chOff x="0" y="0"/>
          <a:chExt cx="0" cy="0"/>
        </a:xfrm>
      </p:grpSpPr>
      <p:sp>
        <p:nvSpPr>
          <p:cNvPr id="112" name="Google Shape;112;g3f1ced953db_0_1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113" name="Shape 113"/>
        <p:cNvGrpSpPr/>
        <p:nvPr/>
      </p:nvGrpSpPr>
      <p:grpSpPr>
        <a:xfrm>
          <a:off x="0" y="0"/>
          <a:ext cx="0" cy="0"/>
          <a:chOff x="0" y="0"/>
          <a:chExt cx="0" cy="0"/>
        </a:xfrm>
      </p:grpSpPr>
      <p:pic>
        <p:nvPicPr>
          <p:cNvPr id="114" name="Google Shape;114;g3f1ced953db_0_118" title="pexels-dystopiasavagestudios-33048706 1.png"/>
          <p:cNvPicPr preferRelativeResize="0"/>
          <p:nvPr/>
        </p:nvPicPr>
        <p:blipFill rotWithShape="1">
          <a:blip r:embed="rId2">
            <a:alphaModFix/>
          </a:blip>
          <a:srcRect b="41729" l="0" r="0" t="13874"/>
          <a:stretch/>
        </p:blipFill>
        <p:spPr>
          <a:xfrm>
            <a:off x="-45875" y="-37100"/>
            <a:ext cx="9235753" cy="5180600"/>
          </a:xfrm>
          <a:prstGeom prst="rect">
            <a:avLst/>
          </a:prstGeom>
          <a:noFill/>
          <a:ln>
            <a:noFill/>
          </a:ln>
        </p:spPr>
      </p:pic>
      <p:sp>
        <p:nvSpPr>
          <p:cNvPr id="115" name="Google Shape;115;g3f1ced953db_0_118"/>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116" name="Google Shape;116;g3f1ced953db_0_118"/>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117" name="Google Shape;117;g3f1ced953db_0_118"/>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118" name="Google Shape;118;g3f1ced953db_0_118"/>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9" name="Shape 119"/>
        <p:cNvGrpSpPr/>
        <p:nvPr/>
      </p:nvGrpSpPr>
      <p:grpSpPr>
        <a:xfrm>
          <a:off x="0" y="0"/>
          <a:ext cx="0" cy="0"/>
          <a:chOff x="0" y="0"/>
          <a:chExt cx="0" cy="0"/>
        </a:xfrm>
      </p:grpSpPr>
      <p:sp>
        <p:nvSpPr>
          <p:cNvPr id="120" name="Google Shape;120;g3f1ced953db_0_1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1" name="Google Shape;121;g3f1ced953db_0_1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2" name="Google Shape;122;g3f1ced953db_0_1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3" name="Shape 123"/>
        <p:cNvGrpSpPr/>
        <p:nvPr/>
      </p:nvGrpSpPr>
      <p:grpSpPr>
        <a:xfrm>
          <a:off x="0" y="0"/>
          <a:ext cx="0" cy="0"/>
          <a:chOff x="0" y="0"/>
          <a:chExt cx="0" cy="0"/>
        </a:xfrm>
      </p:grpSpPr>
      <p:sp>
        <p:nvSpPr>
          <p:cNvPr id="124" name="Google Shape;124;g3f1ced953db_0_1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5" name="Google Shape;125;g3f1ced953db_0_1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6" name="Shape 126"/>
        <p:cNvGrpSpPr/>
        <p:nvPr/>
      </p:nvGrpSpPr>
      <p:grpSpPr>
        <a:xfrm>
          <a:off x="0" y="0"/>
          <a:ext cx="0" cy="0"/>
          <a:chOff x="0" y="0"/>
          <a:chExt cx="0" cy="0"/>
        </a:xfrm>
      </p:grpSpPr>
      <p:sp>
        <p:nvSpPr>
          <p:cNvPr id="127" name="Google Shape;127;g3f1ced953db_0_1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8" name="Google Shape;128;g3f1ced953db_0_1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9" name="Google Shape;129;g3f1ced953db_0_1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0" name="Shape 130"/>
        <p:cNvGrpSpPr/>
        <p:nvPr/>
      </p:nvGrpSpPr>
      <p:grpSpPr>
        <a:xfrm>
          <a:off x="0" y="0"/>
          <a:ext cx="0" cy="0"/>
          <a:chOff x="0" y="0"/>
          <a:chExt cx="0" cy="0"/>
        </a:xfrm>
      </p:grpSpPr>
      <p:sp>
        <p:nvSpPr>
          <p:cNvPr id="131" name="Google Shape;131;g3f1ced953db_0_1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2" name="Google Shape;132;g3f1ced953db_0_13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3" name="Google Shape;133;g3f1ced953db_0_13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4" name="Google Shape;134;g3f1ced953db_0_1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5" name="Shape 135"/>
        <p:cNvGrpSpPr/>
        <p:nvPr/>
      </p:nvGrpSpPr>
      <p:grpSpPr>
        <a:xfrm>
          <a:off x="0" y="0"/>
          <a:ext cx="0" cy="0"/>
          <a:chOff x="0" y="0"/>
          <a:chExt cx="0" cy="0"/>
        </a:xfrm>
      </p:grpSpPr>
      <p:sp>
        <p:nvSpPr>
          <p:cNvPr id="136" name="Google Shape;136;g3f1ced953db_0_1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7" name="Google Shape;137;g3f1ced953db_0_1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8" name="Shape 138"/>
        <p:cNvGrpSpPr/>
        <p:nvPr/>
      </p:nvGrpSpPr>
      <p:grpSpPr>
        <a:xfrm>
          <a:off x="0" y="0"/>
          <a:ext cx="0" cy="0"/>
          <a:chOff x="0" y="0"/>
          <a:chExt cx="0" cy="0"/>
        </a:xfrm>
      </p:grpSpPr>
      <p:sp>
        <p:nvSpPr>
          <p:cNvPr id="139" name="Google Shape;139;g3f1ced953db_0_1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40" name="Google Shape;140;g3f1ced953db_0_1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1" name="Google Shape;141;g3f1ced953db_0_1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2" name="Shape 142"/>
        <p:cNvGrpSpPr/>
        <p:nvPr/>
      </p:nvGrpSpPr>
      <p:grpSpPr>
        <a:xfrm>
          <a:off x="0" y="0"/>
          <a:ext cx="0" cy="0"/>
          <a:chOff x="0" y="0"/>
          <a:chExt cx="0" cy="0"/>
        </a:xfrm>
      </p:grpSpPr>
      <p:sp>
        <p:nvSpPr>
          <p:cNvPr id="143" name="Google Shape;143;g3f1ced953db_0_14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44" name="Google Shape;144;g3f1ced953db_0_1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5" name="Shape 145"/>
        <p:cNvGrpSpPr/>
        <p:nvPr/>
      </p:nvGrpSpPr>
      <p:grpSpPr>
        <a:xfrm>
          <a:off x="0" y="0"/>
          <a:ext cx="0" cy="0"/>
          <a:chOff x="0" y="0"/>
          <a:chExt cx="0" cy="0"/>
        </a:xfrm>
      </p:grpSpPr>
      <p:sp>
        <p:nvSpPr>
          <p:cNvPr id="146" name="Google Shape;146;g3f1ced953db_0_15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3f1ced953db_0_15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48" name="Google Shape;148;g3f1ced953db_0_15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9" name="Google Shape;149;g3f1ced953db_0_15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50" name="Google Shape;150;g3f1ced953db_0_1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1" name="Shape 151"/>
        <p:cNvGrpSpPr/>
        <p:nvPr/>
      </p:nvGrpSpPr>
      <p:grpSpPr>
        <a:xfrm>
          <a:off x="0" y="0"/>
          <a:ext cx="0" cy="0"/>
          <a:chOff x="0" y="0"/>
          <a:chExt cx="0" cy="0"/>
        </a:xfrm>
      </p:grpSpPr>
      <p:sp>
        <p:nvSpPr>
          <p:cNvPr id="152" name="Google Shape;152;g3f1ced953db_0_15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53" name="Google Shape;153;g3f1ced953db_0_1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4" name="Shape 154"/>
        <p:cNvGrpSpPr/>
        <p:nvPr/>
      </p:nvGrpSpPr>
      <p:grpSpPr>
        <a:xfrm>
          <a:off x="0" y="0"/>
          <a:ext cx="0" cy="0"/>
          <a:chOff x="0" y="0"/>
          <a:chExt cx="0" cy="0"/>
        </a:xfrm>
      </p:grpSpPr>
      <p:sp>
        <p:nvSpPr>
          <p:cNvPr id="155" name="Google Shape;155;g3f1ced953db_0_159"/>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56" name="Google Shape;156;g3f1ced953db_0_159"/>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57" name="Google Shape;157;g3f1ced953db_0_1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158" name="Shape 158"/>
        <p:cNvGrpSpPr/>
        <p:nvPr/>
      </p:nvGrpSpPr>
      <p:grpSpPr>
        <a:xfrm>
          <a:off x="0" y="0"/>
          <a:ext cx="0" cy="0"/>
          <a:chOff x="0" y="0"/>
          <a:chExt cx="0" cy="0"/>
        </a:xfrm>
      </p:grpSpPr>
      <p:sp>
        <p:nvSpPr>
          <p:cNvPr id="159" name="Google Shape;159;g3f1ced953db_0_1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60" name="Google Shape;160;g3f1ced953db_0_163"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161" name="Shape 161"/>
        <p:cNvGrpSpPr/>
        <p:nvPr/>
      </p:nvGrpSpPr>
      <p:grpSpPr>
        <a:xfrm>
          <a:off x="0" y="0"/>
          <a:ext cx="0" cy="0"/>
          <a:chOff x="0" y="0"/>
          <a:chExt cx="0" cy="0"/>
        </a:xfrm>
      </p:grpSpPr>
      <p:pic>
        <p:nvPicPr>
          <p:cNvPr id="162" name="Google Shape;162;g3f1ced953db_0_166" title="27800720-6c2b-4e33-a6ed-849e08f57757.png"/>
          <p:cNvPicPr preferRelativeResize="0"/>
          <p:nvPr/>
        </p:nvPicPr>
        <p:blipFill rotWithShape="1">
          <a:blip r:embed="rId2">
            <a:alphaModFix/>
          </a:blip>
          <a:srcRect b="53398" l="0" r="0" t="15048"/>
          <a:stretch/>
        </p:blipFill>
        <p:spPr>
          <a:xfrm>
            <a:off x="-45875" y="-37100"/>
            <a:ext cx="9235751" cy="5180600"/>
          </a:xfrm>
          <a:prstGeom prst="rect">
            <a:avLst/>
          </a:prstGeom>
          <a:noFill/>
          <a:ln>
            <a:noFill/>
          </a:ln>
        </p:spPr>
      </p:pic>
      <p:sp>
        <p:nvSpPr>
          <p:cNvPr id="163" name="Google Shape;163;g3f1ced953db_0_166"/>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164" name="Google Shape;164;g3f1ced953db_0_166"/>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165" name="Google Shape;165;g3f1ced953db_0_166"/>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166" name="Google Shape;166;g3f1ced953db_0_166"/>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167" name="Shape 167"/>
        <p:cNvGrpSpPr/>
        <p:nvPr/>
      </p:nvGrpSpPr>
      <p:grpSpPr>
        <a:xfrm>
          <a:off x="0" y="0"/>
          <a:ext cx="0" cy="0"/>
          <a:chOff x="0" y="0"/>
          <a:chExt cx="0" cy="0"/>
        </a:xfrm>
      </p:grpSpPr>
      <p:sp>
        <p:nvSpPr>
          <p:cNvPr id="168" name="Google Shape;168;g3f1ced953db_0_1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3.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1.xml"/><Relationship Id="rId11" Type="http://schemas.openxmlformats.org/officeDocument/2006/relationships/slideLayout" Target="../slideLayouts/slideLayout32.xml"/><Relationship Id="rId22" Type="http://schemas.openxmlformats.org/officeDocument/2006/relationships/theme" Target="../theme/theme2.xml"/><Relationship Id="rId10" Type="http://schemas.openxmlformats.org/officeDocument/2006/relationships/slideLayout" Target="../slideLayouts/slideLayout31.xml"/><Relationship Id="rId21" Type="http://schemas.openxmlformats.org/officeDocument/2006/relationships/slideLayout" Target="../slideLayouts/slideLayout42.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5" Type="http://schemas.openxmlformats.org/officeDocument/2006/relationships/slideLayout" Target="../slideLayouts/slideLayout36.xml"/><Relationship Id="rId14" Type="http://schemas.openxmlformats.org/officeDocument/2006/relationships/slideLayout" Target="../slideLayouts/slideLayout35.xml"/><Relationship Id="rId17" Type="http://schemas.openxmlformats.org/officeDocument/2006/relationships/slideLayout" Target="../slideLayouts/slideLayout38.xml"/><Relationship Id="rId16" Type="http://schemas.openxmlformats.org/officeDocument/2006/relationships/slideLayout" Target="../slideLayouts/slideLayout37.xml"/><Relationship Id="rId5" Type="http://schemas.openxmlformats.org/officeDocument/2006/relationships/slideLayout" Target="../slideLayouts/slideLayout26.xml"/><Relationship Id="rId19" Type="http://schemas.openxmlformats.org/officeDocument/2006/relationships/slideLayout" Target="../slideLayouts/slideLayout40.xml"/><Relationship Id="rId6" Type="http://schemas.openxmlformats.org/officeDocument/2006/relationships/slideLayout" Target="../slideLayouts/slideLayout27.xml"/><Relationship Id="rId18" Type="http://schemas.openxmlformats.org/officeDocument/2006/relationships/slideLayout" Target="../slideLayouts/slideLayout39.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7" name="Shape 87"/>
        <p:cNvGrpSpPr/>
        <p:nvPr/>
      </p:nvGrpSpPr>
      <p:grpSpPr>
        <a:xfrm>
          <a:off x="0" y="0"/>
          <a:ext cx="0" cy="0"/>
          <a:chOff x="0" y="0"/>
          <a:chExt cx="0" cy="0"/>
        </a:xfrm>
      </p:grpSpPr>
      <p:sp>
        <p:nvSpPr>
          <p:cNvPr id="88" name="Google Shape;88;g3f1ced953db_0_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89" name="Google Shape;89;g3f1ced953db_0_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0" name="Google Shape;90;g3f1ced953db_0_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 id="2147483689" r:id="rId19"/>
    <p:sldLayoutId id="2147483690" r:id="rId20"/>
    <p:sldLayoutId id="2147483691"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6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74" name="Google Shape;174;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175" name="Google Shape;175;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176" name="Google Shape;176;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2:</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Ecosistema No-Code y Low-Code</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
          <p:cNvSpPr txBox="1"/>
          <p:nvPr/>
        </p:nvSpPr>
        <p:spPr>
          <a:xfrm>
            <a:off x="1340550" y="656475"/>
            <a:ext cx="6462900" cy="840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s" sz="2800" u="none" cap="none" strike="noStrike">
                <a:solidFill>
                  <a:srgbClr val="260700"/>
                </a:solidFill>
                <a:latin typeface="Plus Jakarta Sans ExtraBold"/>
                <a:ea typeface="Plus Jakarta Sans ExtraBold"/>
                <a:cs typeface="Plus Jakarta Sans ExtraBold"/>
                <a:sym typeface="Plus Jakarta Sans ExtraBold"/>
              </a:rPr>
              <a:t>Presentación</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ctr">
              <a:lnSpc>
                <a:spcPct val="100000"/>
              </a:lnSpc>
              <a:spcBef>
                <a:spcPts val="0"/>
              </a:spcBef>
              <a:spcAft>
                <a:spcPts val="0"/>
              </a:spcAft>
              <a:buClr>
                <a:srgbClr val="000000"/>
              </a:buClr>
              <a:buSzPts val="2800"/>
              <a:buFont typeface="Arial"/>
              <a:buNone/>
            </a:pPr>
            <a:r>
              <a:rPr b="0" i="0" lang="es" sz="2800" u="none" cap="none" strike="noStrike">
                <a:solidFill>
                  <a:srgbClr val="260700"/>
                </a:solidFill>
                <a:latin typeface="Plus Jakarta Sans ExtraBold"/>
                <a:ea typeface="Plus Jakarta Sans ExtraBold"/>
                <a:cs typeface="Plus Jakarta Sans ExtraBold"/>
                <a:sym typeface="Plus Jakarta Sans ExtraBold"/>
              </a:rPr>
              <a:t>del </a:t>
            </a:r>
            <a:r>
              <a:rPr b="0" i="0" lang="es" sz="2800" u="none" cap="none" strike="noStrike">
                <a:solidFill>
                  <a:srgbClr val="260700"/>
                </a:solidFill>
                <a:highlight>
                  <a:srgbClr val="FDAB2E"/>
                </a:highlight>
                <a:latin typeface="Plus Jakarta Sans ExtraBold"/>
                <a:ea typeface="Plus Jakarta Sans ExtraBold"/>
                <a:cs typeface="Plus Jakarta Sans ExtraBold"/>
                <a:sym typeface="Plus Jakarta Sans ExtraBold"/>
              </a:rPr>
              <a:t>equipo</a:t>
            </a:r>
            <a:r>
              <a:rPr b="0" i="0" lang="es" sz="2800" u="none" cap="none" strike="noStrike">
                <a:solidFill>
                  <a:srgbClr val="260700"/>
                </a:solidFill>
                <a:latin typeface="Plus Jakarta Sans ExtraBold"/>
                <a:ea typeface="Plus Jakarta Sans ExtraBold"/>
                <a:cs typeface="Plus Jakarta Sans ExtraBold"/>
                <a:sym typeface="Plus Jakarta Sans ExtraBold"/>
              </a:rPr>
              <a:t>:</a:t>
            </a:r>
            <a:endParaRPr b="0" i="0" sz="2800" u="none" cap="none" strike="noStrike">
              <a:solidFill>
                <a:srgbClr val="260700"/>
              </a:solidFill>
              <a:latin typeface="Plus Jakarta Sans"/>
              <a:ea typeface="Plus Jakarta Sans"/>
              <a:cs typeface="Plus Jakarta Sans"/>
              <a:sym typeface="Plus Jakarta Sans"/>
            </a:endParaRPr>
          </a:p>
        </p:txBody>
      </p:sp>
      <p:grpSp>
        <p:nvGrpSpPr>
          <p:cNvPr id="182" name="Google Shape;182;p2"/>
          <p:cNvGrpSpPr/>
          <p:nvPr/>
        </p:nvGrpSpPr>
        <p:grpSpPr>
          <a:xfrm>
            <a:off x="1228250" y="2131275"/>
            <a:ext cx="2108575" cy="2116875"/>
            <a:chOff x="1157575" y="2131275"/>
            <a:chExt cx="2108575" cy="2116875"/>
          </a:xfrm>
        </p:grpSpPr>
        <p:pic>
          <p:nvPicPr>
            <p:cNvPr id="183" name="Google Shape;183;p2" title="bd164216-1890-4e45-86ba-f529a22ec08f.png"/>
            <p:cNvPicPr preferRelativeResize="0"/>
            <p:nvPr/>
          </p:nvPicPr>
          <p:blipFill rotWithShape="1">
            <a:blip r:embed="rId3">
              <a:alphaModFix/>
            </a:blip>
            <a:srcRect b="19652" l="0" r="0" t="0"/>
            <a:stretch/>
          </p:blipFill>
          <p:spPr>
            <a:xfrm>
              <a:off x="1161650" y="2131275"/>
              <a:ext cx="2104500" cy="2116800"/>
            </a:xfrm>
            <a:prstGeom prst="roundRect">
              <a:avLst>
                <a:gd fmla="val 11966" name="adj"/>
              </a:avLst>
            </a:prstGeom>
            <a:noFill/>
            <a:ln>
              <a:noFill/>
            </a:ln>
          </p:spPr>
        </p:pic>
        <p:sp>
          <p:nvSpPr>
            <p:cNvPr id="184" name="Google Shape;184;p2"/>
            <p:cNvSpPr/>
            <p:nvPr/>
          </p:nvSpPr>
          <p:spPr>
            <a:xfrm>
              <a:off x="1157575"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5" marR="0" rtl="0" algn="l">
                <a:lnSpc>
                  <a:spcPct val="100000"/>
                </a:lnSpc>
                <a:spcBef>
                  <a:spcPts val="0"/>
                </a:spcBef>
                <a:spcAft>
                  <a:spcPts val="0"/>
                </a:spcAft>
                <a:buClr>
                  <a:srgbClr val="000000"/>
                </a:buClr>
                <a:buSzPts val="1300"/>
                <a:buFont typeface="Arial"/>
                <a:buNone/>
              </a:pPr>
              <a:r>
                <a:rPr b="1" i="0" lang="es" sz="1300" u="none" cap="none" strike="noStrike">
                  <a:solidFill>
                    <a:srgbClr val="F8F2E8"/>
                  </a:solidFill>
                  <a:latin typeface="Plus Jakarta Sans"/>
                  <a:ea typeface="Plus Jakarta Sans"/>
                  <a:cs typeface="Plus Jakarta Sans"/>
                  <a:sym typeface="Plus Jakarta Sans"/>
                </a:rPr>
                <a:t>Profesor:</a:t>
              </a:r>
              <a:endParaRPr b="1" i="0" sz="1300" u="none" cap="none" strike="noStrike">
                <a:solidFill>
                  <a:srgbClr val="F8F2E8"/>
                </a:solidFill>
                <a:latin typeface="Plus Jakarta Sans"/>
                <a:ea typeface="Plus Jakarta Sans"/>
                <a:cs typeface="Plus Jakarta Sans"/>
                <a:sym typeface="Plus Jakarta Sans"/>
              </a:endParaRPr>
            </a:p>
            <a:p>
              <a:pPr indent="0" lvl="0" marL="165215" marR="0" rtl="0" algn="l">
                <a:lnSpc>
                  <a:spcPct val="100000"/>
                </a:lnSpc>
                <a:spcBef>
                  <a:spcPts val="0"/>
                </a:spcBef>
                <a:spcAft>
                  <a:spcPts val="0"/>
                </a:spcAft>
                <a:buClr>
                  <a:srgbClr val="000000"/>
                </a:buClr>
                <a:buSzPts val="800"/>
                <a:buFont typeface="Arial"/>
                <a:buNone/>
              </a:pPr>
              <a:r>
                <a:rPr b="0" i="0" lang="es" sz="800" u="none" cap="none" strike="noStrike">
                  <a:solidFill>
                    <a:srgbClr val="F8F2E8"/>
                  </a:solidFill>
                  <a:latin typeface="Plus Jakarta Sans"/>
                  <a:ea typeface="Plus Jakarta Sans"/>
                  <a:cs typeface="Plus Jakarta Sans"/>
                  <a:sym typeface="Plus Jakarta Sans"/>
                </a:rPr>
                <a:t>[Nombre del profesor/a]</a:t>
              </a:r>
              <a:endParaRPr b="0" i="0" sz="1400" u="none" cap="none" strike="noStrike">
                <a:solidFill>
                  <a:schemeClr val="lt1"/>
                </a:solidFill>
                <a:latin typeface="Arial"/>
                <a:ea typeface="Arial"/>
                <a:cs typeface="Arial"/>
                <a:sym typeface="Arial"/>
              </a:endParaRPr>
            </a:p>
          </p:txBody>
        </p:sp>
      </p:grpSp>
      <p:grpSp>
        <p:nvGrpSpPr>
          <p:cNvPr id="185" name="Google Shape;185;p2"/>
          <p:cNvGrpSpPr/>
          <p:nvPr/>
        </p:nvGrpSpPr>
        <p:grpSpPr>
          <a:xfrm>
            <a:off x="3517713" y="2131275"/>
            <a:ext cx="2108575" cy="2116875"/>
            <a:chOff x="1157575" y="2131275"/>
            <a:chExt cx="2108575" cy="2116875"/>
          </a:xfrm>
        </p:grpSpPr>
        <p:pic>
          <p:nvPicPr>
            <p:cNvPr id="186" name="Google Shape;186;p2" title="bd164216-1890-4e45-86ba-f529a22ec08f.png"/>
            <p:cNvPicPr preferRelativeResize="0"/>
            <p:nvPr/>
          </p:nvPicPr>
          <p:blipFill rotWithShape="1">
            <a:blip r:embed="rId3">
              <a:alphaModFix/>
            </a:blip>
            <a:srcRect b="19652" l="0" r="0" t="0"/>
            <a:stretch/>
          </p:blipFill>
          <p:spPr>
            <a:xfrm>
              <a:off x="1161650" y="2131275"/>
              <a:ext cx="2104500" cy="2116800"/>
            </a:xfrm>
            <a:prstGeom prst="roundRect">
              <a:avLst>
                <a:gd fmla="val 11966" name="adj"/>
              </a:avLst>
            </a:prstGeom>
            <a:noFill/>
            <a:ln>
              <a:noFill/>
            </a:ln>
          </p:spPr>
        </p:pic>
        <p:sp>
          <p:nvSpPr>
            <p:cNvPr id="187" name="Google Shape;187;p2"/>
            <p:cNvSpPr/>
            <p:nvPr/>
          </p:nvSpPr>
          <p:spPr>
            <a:xfrm>
              <a:off x="1157575"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5" marR="0" rtl="0" algn="l">
                <a:lnSpc>
                  <a:spcPct val="100000"/>
                </a:lnSpc>
                <a:spcBef>
                  <a:spcPts val="0"/>
                </a:spcBef>
                <a:spcAft>
                  <a:spcPts val="0"/>
                </a:spcAft>
                <a:buClr>
                  <a:schemeClr val="dk1"/>
                </a:buClr>
                <a:buSzPts val="1100"/>
                <a:buFont typeface="Arial"/>
                <a:buNone/>
              </a:pPr>
              <a:r>
                <a:rPr b="1" i="0" lang="es" sz="1300" u="none" cap="none" strike="noStrike">
                  <a:solidFill>
                    <a:srgbClr val="F8F2E8"/>
                  </a:solidFill>
                  <a:latin typeface="Plus Jakarta Sans"/>
                  <a:ea typeface="Plus Jakarta Sans"/>
                  <a:cs typeface="Plus Jakarta Sans"/>
                  <a:sym typeface="Plus Jakarta Sans"/>
                </a:rPr>
                <a:t>Coordinador:</a:t>
              </a:r>
              <a:endParaRPr b="1" i="0" sz="1300" u="none" cap="none" strike="noStrike">
                <a:solidFill>
                  <a:srgbClr val="F8F2E8"/>
                </a:solidFill>
                <a:latin typeface="Plus Jakarta Sans"/>
                <a:ea typeface="Plus Jakarta Sans"/>
                <a:cs typeface="Plus Jakarta Sans"/>
                <a:sym typeface="Plus Jakarta Sans"/>
              </a:endParaRPr>
            </a:p>
            <a:p>
              <a:pPr indent="0" lvl="0" marL="165215" marR="0" rtl="0" algn="l">
                <a:lnSpc>
                  <a:spcPct val="100000"/>
                </a:lnSpc>
                <a:spcBef>
                  <a:spcPts val="0"/>
                </a:spcBef>
                <a:spcAft>
                  <a:spcPts val="0"/>
                </a:spcAft>
                <a:buClr>
                  <a:schemeClr val="dk1"/>
                </a:buClr>
                <a:buSzPts val="1100"/>
                <a:buFont typeface="Arial"/>
                <a:buNone/>
              </a:pPr>
              <a:r>
                <a:rPr b="0" i="0" lang="es" sz="800" u="none" cap="none" strike="noStrike">
                  <a:solidFill>
                    <a:srgbClr val="F8F2E8"/>
                  </a:solidFill>
                  <a:latin typeface="Plus Jakarta Sans"/>
                  <a:ea typeface="Plus Jakarta Sans"/>
                  <a:cs typeface="Plus Jakarta Sans"/>
                  <a:sym typeface="Plus Jakarta Sans"/>
                </a:rPr>
                <a:t>[Nombre del coordinador/a]</a:t>
              </a:r>
              <a:endParaRPr b="1" i="0" sz="1300" u="none" cap="none" strike="noStrike">
                <a:solidFill>
                  <a:srgbClr val="F8F2E8"/>
                </a:solidFill>
                <a:latin typeface="Plus Jakarta Sans"/>
                <a:ea typeface="Plus Jakarta Sans"/>
                <a:cs typeface="Plus Jakarta Sans"/>
                <a:sym typeface="Plus Jakarta Sans"/>
              </a:endParaRPr>
            </a:p>
          </p:txBody>
        </p:sp>
      </p:grpSp>
      <p:grpSp>
        <p:nvGrpSpPr>
          <p:cNvPr id="188" name="Google Shape;188;p2"/>
          <p:cNvGrpSpPr/>
          <p:nvPr/>
        </p:nvGrpSpPr>
        <p:grpSpPr>
          <a:xfrm>
            <a:off x="5807200" y="2131275"/>
            <a:ext cx="2108575" cy="2116875"/>
            <a:chOff x="1157575" y="2131275"/>
            <a:chExt cx="2108575" cy="2116875"/>
          </a:xfrm>
        </p:grpSpPr>
        <p:pic>
          <p:nvPicPr>
            <p:cNvPr id="189" name="Google Shape;189;p2" title="bd164216-1890-4e45-86ba-f529a22ec08f.png"/>
            <p:cNvPicPr preferRelativeResize="0"/>
            <p:nvPr/>
          </p:nvPicPr>
          <p:blipFill rotWithShape="1">
            <a:blip r:embed="rId3">
              <a:alphaModFix/>
            </a:blip>
            <a:srcRect b="19652" l="0" r="0" t="0"/>
            <a:stretch/>
          </p:blipFill>
          <p:spPr>
            <a:xfrm>
              <a:off x="1161650" y="2131275"/>
              <a:ext cx="2104500" cy="2116800"/>
            </a:xfrm>
            <a:prstGeom prst="roundRect">
              <a:avLst>
                <a:gd fmla="val 11966" name="adj"/>
              </a:avLst>
            </a:prstGeom>
            <a:noFill/>
            <a:ln>
              <a:noFill/>
            </a:ln>
          </p:spPr>
        </p:pic>
        <p:sp>
          <p:nvSpPr>
            <p:cNvPr id="190" name="Google Shape;190;p2"/>
            <p:cNvSpPr/>
            <p:nvPr/>
          </p:nvSpPr>
          <p:spPr>
            <a:xfrm>
              <a:off x="1157575" y="3510150"/>
              <a:ext cx="2104500" cy="738000"/>
            </a:xfrm>
            <a:prstGeom prst="round2SameRect">
              <a:avLst>
                <a:gd fmla="val 0" name="adj1"/>
                <a:gd fmla="val 34038" name="adj2"/>
              </a:avLst>
            </a:prstGeom>
            <a:solidFill>
              <a:srgbClr val="FF632B"/>
            </a:solidFill>
            <a:ln>
              <a:noFill/>
            </a:ln>
          </p:spPr>
          <p:txBody>
            <a:bodyPr anchorCtr="0" anchor="ctr" bIns="91425" lIns="91425" spcFirstLastPara="1" rIns="91425" wrap="square" tIns="91425">
              <a:noAutofit/>
            </a:bodyPr>
            <a:lstStyle/>
            <a:p>
              <a:pPr indent="0" lvl="0" marL="165215" marR="0" rtl="0" algn="l">
                <a:lnSpc>
                  <a:spcPct val="100000"/>
                </a:lnSpc>
                <a:spcBef>
                  <a:spcPts val="0"/>
                </a:spcBef>
                <a:spcAft>
                  <a:spcPts val="0"/>
                </a:spcAft>
                <a:buClr>
                  <a:schemeClr val="dk1"/>
                </a:buClr>
                <a:buSzPts val="1100"/>
                <a:buFont typeface="Arial"/>
                <a:buNone/>
              </a:pPr>
              <a:r>
                <a:rPr b="1" i="0" lang="es" sz="1300" u="none" cap="none" strike="noStrike">
                  <a:solidFill>
                    <a:srgbClr val="F8F2E8"/>
                  </a:solidFill>
                  <a:latin typeface="Plus Jakarta Sans"/>
                  <a:ea typeface="Plus Jakarta Sans"/>
                  <a:cs typeface="Plus Jakarta Sans"/>
                  <a:sym typeface="Plus Jakarta Sans"/>
                </a:rPr>
                <a:t>Tutor:</a:t>
              </a:r>
              <a:endParaRPr b="1" i="0" sz="1300" u="none" cap="none" strike="noStrike">
                <a:solidFill>
                  <a:srgbClr val="F8F2E8"/>
                </a:solidFill>
                <a:latin typeface="Plus Jakarta Sans"/>
                <a:ea typeface="Plus Jakarta Sans"/>
                <a:cs typeface="Plus Jakarta Sans"/>
                <a:sym typeface="Plus Jakarta Sans"/>
              </a:endParaRPr>
            </a:p>
            <a:p>
              <a:pPr indent="0" lvl="0" marL="165215" marR="0" rtl="0" algn="l">
                <a:lnSpc>
                  <a:spcPct val="100000"/>
                </a:lnSpc>
                <a:spcBef>
                  <a:spcPts val="0"/>
                </a:spcBef>
                <a:spcAft>
                  <a:spcPts val="0"/>
                </a:spcAft>
                <a:buClr>
                  <a:schemeClr val="dk1"/>
                </a:buClr>
                <a:buSzPts val="1100"/>
                <a:buFont typeface="Arial"/>
                <a:buNone/>
              </a:pPr>
              <a:r>
                <a:rPr b="0" i="0" lang="es" sz="800" u="none" cap="none" strike="noStrike">
                  <a:solidFill>
                    <a:srgbClr val="F8F2E8"/>
                  </a:solidFill>
                  <a:latin typeface="Plus Jakarta Sans"/>
                  <a:ea typeface="Plus Jakarta Sans"/>
                  <a:cs typeface="Plus Jakarta Sans"/>
                  <a:sym typeface="Plus Jakarta Sans"/>
                </a:rPr>
                <a:t>[Nombre del tutor/a]</a:t>
              </a:r>
              <a:endParaRPr b="1" i="0" sz="1300" u="none" cap="none" strike="noStrike">
                <a:solidFill>
                  <a:srgbClr val="F8F2E8"/>
                </a:solidFill>
                <a:latin typeface="Plus Jakarta Sans"/>
                <a:ea typeface="Plus Jakarta Sans"/>
                <a:cs typeface="Plus Jakarta Sans"/>
                <a:sym typeface="Plus Jakarta Sans"/>
              </a:endParaRPr>
            </a:p>
          </p:txBody>
        </p:sp>
      </p:grpSp>
      <p:sp>
        <p:nvSpPr>
          <p:cNvPr id="191" name="Google Shape;191;p2"/>
          <p:cNvSpPr/>
          <p:nvPr/>
        </p:nvSpPr>
        <p:spPr>
          <a:xfrm>
            <a:off x="6624550" y="1200525"/>
            <a:ext cx="1117200" cy="424200"/>
          </a:xfrm>
          <a:prstGeom prst="wedgeRectCallout">
            <a:avLst>
              <a:gd fmla="val -33452" name="adj1"/>
              <a:gd fmla="val 98680" name="adj2"/>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0" i="0" lang="es" sz="700" u="none" cap="none" strike="noStrike">
                <a:solidFill>
                  <a:srgbClr val="F8F2E8"/>
                </a:solidFill>
                <a:latin typeface="Plus Jakarta Sans"/>
                <a:ea typeface="Plus Jakarta Sans"/>
                <a:cs typeface="Plus Jakarta Sans"/>
                <a:sym typeface="Plus Jakarta Sans"/>
              </a:rPr>
              <a:t>COMISIÓN N° XXXX · IA Automation</a:t>
            </a:r>
            <a:endParaRPr b="0" i="0" sz="7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97" name="Google Shape;197;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Distinguir No-Code de Low-Code y elegir el enfoque correcto según tu proyecto.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Leer la "letra chica" de los costos: Tasks, Operations y Tokens.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Estructurar datos en JSON con Objetos { } y Arrays [ ].</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Conectar Google Sheets con Airtable y generar bases con Omni AI.</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Armar tu propio ecosistema: Cerebro, Sistema Nervioso, Cara e Inteligencia.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3" name="Google Shape;203;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No-Code vs. Low-Code: cuál elegir.</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Costos y estructura de datos (JSON).</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Conexiones y Omni AI.</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Tu ecosistema completo.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2: JSON y Matriz Estratégica.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f1ced953db_0_87"/>
          <p:cNvSpPr txBox="1"/>
          <p:nvPr/>
        </p:nvSpPr>
        <p:spPr>
          <a:xfrm>
            <a:off x="652525" y="1605717"/>
            <a:ext cx="79113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09" name="Google Shape;209;g3f1ced953db_0_87"/>
          <p:cNvSpPr/>
          <p:nvPr/>
        </p:nvSpPr>
        <p:spPr>
          <a:xfrm>
            <a:off x="4457845" y="3514842"/>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15" name="Google Shape;215;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No-Code vs. Low-Code</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7"/>
          <p:cNvSpPr txBox="1"/>
          <p:nvPr/>
        </p:nvSpPr>
        <p:spPr>
          <a:xfrm>
            <a:off x="739075" y="2481425"/>
            <a:ext cx="7142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No-Code = crear apps, webs o automatizaciones </a:t>
            </a:r>
            <a:r>
              <a:rPr b="1" i="0" lang="es" sz="1150" u="none" cap="none" strike="noStrike">
                <a:solidFill>
                  <a:srgbClr val="171717"/>
                </a:solidFill>
                <a:latin typeface="Plus Jakarta Sans"/>
                <a:ea typeface="Plus Jakarta Sans"/>
                <a:cs typeface="Plus Jakarta Sans"/>
                <a:sym typeface="Plus Jakarta Sans"/>
              </a:rPr>
              <a:t>sin escribir una sola línea de código</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En vez de comandos en una pantalla negra, usás una interfaz visual de </a:t>
            </a:r>
            <a:r>
              <a:rPr b="1" i="0" lang="es" sz="1150" u="none" cap="none" strike="noStrike">
                <a:solidFill>
                  <a:srgbClr val="171717"/>
                </a:solidFill>
                <a:latin typeface="Plus Jakarta Sans"/>
                <a:ea typeface="Plus Jakarta Sans"/>
                <a:cs typeface="Plus Jakarta Sans"/>
                <a:sym typeface="Plus Jakarta Sans"/>
              </a:rPr>
              <a:t>arrastrar y soltar</a:t>
            </a:r>
            <a:r>
              <a:rPr b="0" i="0" lang="es" sz="1150" u="none" cap="none" strike="noStrike">
                <a:solidFill>
                  <a:srgbClr val="171717"/>
                </a:solidFill>
                <a:latin typeface="Plus Jakarta Sans"/>
                <a:ea typeface="Plus Jakarta Sans"/>
                <a:cs typeface="Plus Jakarta Sans"/>
                <a:sym typeface="Plus Jakarta Sans"/>
              </a:rPr>
              <a:t>. Si sabés usar Canva, podés.</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La idea clave: quien </a:t>
            </a:r>
            <a:r>
              <a:rPr b="1" i="0" lang="es" sz="1150" u="none" cap="none" strike="noStrike">
                <a:solidFill>
                  <a:srgbClr val="171717"/>
                </a:solidFill>
                <a:latin typeface="Plus Jakarta Sans"/>
                <a:ea typeface="Plus Jakarta Sans"/>
                <a:cs typeface="Plus Jakarta Sans"/>
                <a:sym typeface="Plus Jakarta Sans"/>
              </a:rPr>
              <a:t>conoce el problema</a:t>
            </a:r>
            <a:r>
              <a:rPr b="0" i="0" lang="es" sz="1150" u="none" cap="none" strike="noStrike">
                <a:solidFill>
                  <a:srgbClr val="171717"/>
                </a:solidFill>
                <a:latin typeface="Plus Jakarta Sans"/>
                <a:ea typeface="Plus Jakarta Sans"/>
                <a:cs typeface="Plus Jakarta Sans"/>
                <a:sym typeface="Plus Jakarta Sans"/>
              </a:rPr>
              <a:t> (vos) es quien </a:t>
            </a:r>
            <a:r>
              <a:rPr b="1" i="0" lang="es" sz="1150" u="none" cap="none" strike="noStrike">
                <a:solidFill>
                  <a:srgbClr val="171717"/>
                </a:solidFill>
                <a:latin typeface="Plus Jakarta Sans"/>
                <a:ea typeface="Plus Jakarta Sans"/>
                <a:cs typeface="Plus Jakarta Sans"/>
                <a:sym typeface="Plus Jakarta Sans"/>
              </a:rPr>
              <a:t>construye la solución</a:t>
            </a:r>
            <a:r>
              <a:rPr b="0" i="0" lang="es" sz="1150" u="none" cap="none" strike="noStrike">
                <a:solidFill>
                  <a:srgbClr val="171717"/>
                </a:solidFill>
                <a:latin typeface="Plus Jakarta Sans"/>
                <a:ea typeface="Plus Jakarta Sans"/>
                <a:cs typeface="Plus Jakarta Sans"/>
                <a:sym typeface="Plus Jakarta Sans"/>
              </a:rPr>
              <a:t>.</a:t>
            </a:r>
            <a:endParaRPr/>
          </a:p>
        </p:txBody>
      </p:sp>
      <p:sp>
        <p:nvSpPr>
          <p:cNvPr id="221" name="Google Shape;221;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¿Qué es No-Code?</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22" name="Google Shape;222;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Democratizar la creación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8"/>
          <p:cNvSpPr txBox="1"/>
          <p:nvPr/>
        </p:nvSpPr>
        <p:spPr>
          <a:xfrm>
            <a:off x="739075" y="2481425"/>
            <a:ext cx="6517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Low-Code = un término medio: base visual con bloques, pero </a:t>
            </a:r>
            <a:r>
              <a:rPr b="1" i="0" lang="es" sz="1150" u="none" cap="none" strike="noStrike">
                <a:solidFill>
                  <a:srgbClr val="171717"/>
                </a:solidFill>
                <a:latin typeface="Plus Jakarta Sans"/>
                <a:ea typeface="Plus Jakarta Sans"/>
                <a:cs typeface="Plus Jakarta Sans"/>
                <a:sym typeface="Plus Jakarta Sans"/>
              </a:rPr>
              <a:t>permite insertar pequeños fragmentos de código</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Aparece </a:t>
            </a:r>
            <a:r>
              <a:rPr b="1" i="0" lang="es" sz="1150" u="none" cap="none" strike="noStrike">
                <a:solidFill>
                  <a:srgbClr val="171717"/>
                </a:solidFill>
                <a:latin typeface="Plus Jakarta Sans"/>
                <a:ea typeface="Plus Jakarta Sans"/>
                <a:cs typeface="Plus Jakarta Sans"/>
                <a:sym typeface="Plus Jakarta Sans"/>
              </a:rPr>
              <a:t>cuando los bloques del No-Code se quedan cortos</a:t>
            </a:r>
            <a:r>
              <a:rPr b="0" i="0" lang="es" sz="1150" u="none" cap="none" strike="noStrike">
                <a:solidFill>
                  <a:srgbClr val="171717"/>
                </a:solidFill>
                <a:latin typeface="Plus Jakarta Sans"/>
                <a:ea typeface="Plus Jakarta Sans"/>
                <a:cs typeface="Plus Jakarta Sans"/>
                <a:sym typeface="Plus Jakarta Sans"/>
              </a:rPr>
              <a:t> (un cálculo complejo, una fuente sin conector listo).</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Pide entender cómo fluye la info: la cajita A le pasa una </a:t>
            </a:r>
            <a:r>
              <a:rPr b="1" i="0" lang="es" sz="1150" u="none" cap="none" strike="noStrike">
                <a:solidFill>
                  <a:srgbClr val="171717"/>
                </a:solidFill>
                <a:latin typeface="Plus Jakarta Sans"/>
                <a:ea typeface="Plus Jakarta Sans"/>
                <a:cs typeface="Plus Jakarta Sans"/>
                <a:sym typeface="Plus Jakarta Sans"/>
              </a:rPr>
              <a:t>"clave"</a:t>
            </a:r>
            <a:r>
              <a:rPr b="0" i="0" lang="es" sz="1150" u="none" cap="none" strike="noStrike">
                <a:solidFill>
                  <a:srgbClr val="171717"/>
                </a:solidFill>
                <a:latin typeface="Plus Jakarta Sans"/>
                <a:ea typeface="Plus Jakarta Sans"/>
                <a:cs typeface="Plus Jakarta Sans"/>
                <a:sym typeface="Plus Jakarta Sans"/>
              </a:rPr>
              <a:t> a la cajita B.</a:t>
            </a:r>
            <a:endParaRPr/>
          </a:p>
        </p:txBody>
      </p:sp>
      <p:sp>
        <p:nvSpPr>
          <p:cNvPr id="228" name="Google Shape;228;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¿Qué es Low-Code?</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29" name="Google Shape;229;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Potencia con personalización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Freelancer / dueño de negocio → </a:t>
            </a:r>
            <a:r>
              <a:rPr b="0" i="0" lang="es" sz="1300" u="none" cap="none" strike="noStrike">
                <a:solidFill>
                  <a:srgbClr val="171717"/>
                </a:solidFill>
                <a:latin typeface="Plus Jakarta Sans"/>
                <a:ea typeface="Plus Jakarta Sans"/>
                <a:cs typeface="Plus Jakarta Sans"/>
                <a:sym typeface="Plus Jakarta Sans"/>
              </a:rPr>
              <a:t>No-Code. Conectás Stripe, contabilidad y mail en una tarde con conectores estándar. Volumen bajo y estable.</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Marketer en startup que escala → </a:t>
            </a:r>
            <a:r>
              <a:rPr b="0" i="0" lang="es" sz="1300" u="none" cap="none" strike="noStrike">
                <a:solidFill>
                  <a:srgbClr val="171717"/>
                </a:solidFill>
                <a:latin typeface="Plus Jakarta Sans"/>
                <a:ea typeface="Plus Jakarta Sans"/>
                <a:cs typeface="Plus Jakarta Sans"/>
                <a:sym typeface="Plus Jakarta Sans"/>
              </a:rPr>
              <a:t>Low-Code. Datos de un sistema viejo sin "botón" de conexión: escribís la integración (n8n, Retool).</a:t>
            </a:r>
            <a:endParaRPr/>
          </a:p>
          <a:p>
            <a:pPr indent="0" lvl="0" marL="0" marR="0" rtl="0" algn="l">
              <a:lnSpc>
                <a:spcPct val="110000"/>
              </a:lnSpc>
              <a:spcBef>
                <a:spcPts val="4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Regla: preguntate </a:t>
            </a:r>
            <a:r>
              <a:rPr b="1" i="0" lang="es" sz="1300" u="none" cap="none" strike="noStrike">
                <a:solidFill>
                  <a:srgbClr val="171717"/>
                </a:solidFill>
                <a:latin typeface="Plus Jakarta Sans"/>
                <a:ea typeface="Plus Jakarta Sans"/>
                <a:cs typeface="Plus Jakarta Sans"/>
                <a:sym typeface="Plus Jakarta Sans"/>
              </a:rPr>
              <a:t>"¿qué es lo más complejo que mi proceso hará en 6 meses?"</a:t>
            </a:r>
            <a:r>
              <a:rPr b="0" i="0" lang="es" sz="1300" u="none" cap="none" strike="noStrike">
                <a:solidFill>
                  <a:srgbClr val="171717"/>
                </a:solidFill>
                <a:latin typeface="Plus Jakarta Sans"/>
                <a:ea typeface="Plus Jakarta Sans"/>
                <a:cs typeface="Plus Jakarta Sans"/>
                <a:sym typeface="Plus Jakarta Sans"/>
              </a:rPr>
              <a:t>.</a:t>
            </a:r>
            <a:endParaRPr/>
          </a:p>
        </p:txBody>
      </p:sp>
      <p:sp>
        <p:nvSpPr>
          <p:cNvPr id="235" name="Google Shape;235;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¿Cuál elegir?</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6" name="Google Shape;236;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Según tu rol y tu proceso</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Comparativa</a:t>
            </a:r>
            <a:r>
              <a:rPr b="0" i="0" lang="es" sz="2400" u="none" cap="none" strike="noStrike">
                <a:solidFill>
                  <a:srgbClr val="260700"/>
                </a:solidFill>
                <a:latin typeface="Plus Jakarta Sans"/>
                <a:ea typeface="Plus Jakarta Sans"/>
                <a:cs typeface="Plus Jakarta Sans"/>
                <a:sym typeface="Plus Jakarta Sans"/>
              </a:rPr>
              <a:t> rápida</a:t>
            </a:r>
            <a:endParaRPr b="0" i="0" sz="2400" u="none" cap="none" strike="noStrike">
              <a:solidFill>
                <a:srgbClr val="260700"/>
              </a:solidFill>
              <a:latin typeface="Plus Jakarta Sans"/>
              <a:ea typeface="Plus Jakarta Sans"/>
              <a:cs typeface="Plus Jakarta Sans"/>
              <a:sym typeface="Plus Jakarta Sans"/>
            </a:endParaRPr>
          </a:p>
        </p:txBody>
      </p:sp>
      <p:sp>
        <p:nvSpPr>
          <p:cNvPr id="242" name="Google Shape;242;p10"/>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No-Code = agilidad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Resolvé hoy el problema que te quita tiempo hoy, sin complicaciones técnicas.</a:t>
            </a:r>
            <a:endParaRPr/>
          </a:p>
        </p:txBody>
      </p:sp>
      <p:sp>
        <p:nvSpPr>
          <p:cNvPr id="243" name="Google Shape;243;p10"/>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Low-Code = escalabilidad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Sistemas robustos que crecen con tu empresa y permiten personalización total.</a:t>
            </a:r>
            <a:endParaRPr/>
          </a:p>
        </p:txBody>
      </p:sp>
      <p:sp>
        <p:nvSpPr>
          <p:cNvPr id="244" name="Google Shape;244;p10"/>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La IA es el puente</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Si estás en No-Code y necesitás un paso de código, pedíselo a la IA: ella lo traduce.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1"/>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Errores comunes con No-Code y Low-Code</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250" name="Google Shape;250;p11"/>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No-Code ≠ cero límites</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Cuando el negocio crece, la plataforma puede "no dejarte". Preguntate qué vas a necesitar en 6 meses.</a:t>
            </a:r>
            <a:endParaRPr sz="1600"/>
          </a:p>
        </p:txBody>
      </p:sp>
      <p:sp>
        <p:nvSpPr>
          <p:cNvPr id="251" name="Google Shape;251;p11"/>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Low-Code no es tan fácil</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Vas a cruzarte con API, JSON y webhooks. Pide entender cómo fluye la información.</a:t>
            </a:r>
            <a:endParaRPr sz="1600"/>
          </a:p>
        </p:txBody>
      </p:sp>
      <p:sp>
        <p:nvSpPr>
          <p:cNvPr id="252" name="Google Shape;252;p11"/>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El código oculto</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El código siempre está ahí, escondido. Si la plataforma se cae, dependés del proveedor (vendor lock-in).</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2"/>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2"/>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59" name="Google Shape;259;p12"/>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60" name="Google Shape;260;p12"/>
          <p:cNvSpPr txBox="1"/>
          <p:nvPr/>
        </p:nvSpPr>
        <p:spPr>
          <a:xfrm>
            <a:off x="6132850" y="2856225"/>
            <a:ext cx="2767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Mirá el proceso que elegiste en el Módulo 1. ¿Lo resolvés con bloques estándar (No-Code) o necesita algo a medida (Low-Code)?</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t/>
            </a:r>
            <a:endParaRPr sz="1200">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 Esa decisión es el corazón de tu Pre-Entrega 2.</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3"/>
          <p:cNvSpPr txBox="1"/>
          <p:nvPr/>
        </p:nvSpPr>
        <p:spPr>
          <a:xfrm>
            <a:off x="806375" y="2087250"/>
            <a:ext cx="5478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decidir si tu proceso del Módulo 1 va en No-Code o Low-Code.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¿Hay conectores estándar para tus apps? ¿El volumen es bajo y estable?</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Si sí → No-Code (Make/Zapier). Si necesitás cálculos o sistemas viejos → Low-Code (n8n).</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enfoque elegido. Ladrillo 1 de la Pre-Entrega 2.</a:t>
            </a:r>
            <a:endParaRPr/>
          </a:p>
        </p:txBody>
      </p:sp>
      <p:sp>
        <p:nvSpPr>
          <p:cNvPr id="266" name="Google Shape;266;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1</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67" name="Google Shape;267;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Elegí tu stack</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4"/>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73" name="Google Shape;273;p14"/>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8F2E8"/>
                </a:solidFill>
                <a:latin typeface="Plus Jakarta Sans ExtraBold"/>
                <a:ea typeface="Plus Jakarta Sans ExtraBold"/>
                <a:cs typeface="Plus Jakarta Sans ExtraBold"/>
                <a:sym typeface="Plus Jakarta Sans ExtraBold"/>
              </a:rPr>
              <a:t>Costos y estructura de datos</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En automatización el modelo reina es el </a:t>
            </a:r>
            <a:r>
              <a:rPr b="1" i="0" lang="es" sz="1300" u="none" cap="none" strike="noStrike">
                <a:solidFill>
                  <a:srgbClr val="171717"/>
                </a:solidFill>
                <a:latin typeface="Plus Jakarta Sans"/>
                <a:ea typeface="Plus Jakarta Sans"/>
                <a:cs typeface="Plus Jakarta Sans"/>
                <a:sym typeface="Plus Jakarta Sans"/>
              </a:rPr>
              <a:t>pago por uso</a:t>
            </a:r>
            <a:r>
              <a:rPr b="0" i="0" lang="es" sz="1300" u="none" cap="none" strike="noStrike">
                <a:solidFill>
                  <a:srgbClr val="171717"/>
                </a:solidFill>
                <a:latin typeface="Plus Jakarta Sans"/>
                <a:ea typeface="Plus Jakarta Sans"/>
                <a:cs typeface="Plus Jakarta Sans"/>
                <a:sym typeface="Plus Jakarta Sans"/>
              </a:rPr>
              <a:t>. Tres métricas a entender:</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Zapier (Tasks): </a:t>
            </a:r>
            <a:r>
              <a:rPr b="0" i="0" lang="es" sz="1300" u="none" cap="none" strike="noStrike">
                <a:solidFill>
                  <a:srgbClr val="171717"/>
                </a:solidFill>
                <a:latin typeface="Plus Jakarta Sans"/>
                <a:ea typeface="Plus Jakarta Sans"/>
                <a:cs typeface="Plus Jakarta Sans"/>
                <a:sym typeface="Plus Jakarta Sans"/>
              </a:rPr>
              <a:t>1 task por cada acción exitosa. El trigger no suele sumar.</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Make (Operations): </a:t>
            </a:r>
            <a:r>
              <a:rPr b="0" i="0" lang="es" sz="1300" u="none" cap="none" strike="noStrike">
                <a:solidFill>
                  <a:srgbClr val="171717"/>
                </a:solidFill>
                <a:latin typeface="Plus Jakarta Sans"/>
                <a:ea typeface="Plus Jakarta Sans"/>
                <a:cs typeface="Plus Jakarta Sans"/>
                <a:sym typeface="Plus Jakarta Sans"/>
              </a:rPr>
              <a:t>cada paso cuenta. Recibir + guardar = 2 ops.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OpenAI (Tokens): </a:t>
            </a:r>
            <a:r>
              <a:rPr b="0" i="0" lang="es" sz="1300" u="none" cap="none" strike="noStrike">
                <a:solidFill>
                  <a:srgbClr val="171717"/>
                </a:solidFill>
                <a:latin typeface="Plus Jakarta Sans"/>
                <a:ea typeface="Plus Jakarta Sans"/>
                <a:cs typeface="Plus Jakarta Sans"/>
                <a:sym typeface="Plus Jakarta Sans"/>
              </a:rPr>
              <a:t>pagás por "pedazos de palabras". 1.000 tokens ≈ 750 palabras (input y output).</a:t>
            </a:r>
            <a:endParaRPr/>
          </a:p>
        </p:txBody>
      </p:sp>
      <p:sp>
        <p:nvSpPr>
          <p:cNvPr id="279" name="Google Shape;279;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FF632B"/>
                </a:solidFill>
                <a:latin typeface="Plus Jakarta Sans ExtraBold"/>
                <a:ea typeface="Plus Jakarta Sans ExtraBold"/>
                <a:cs typeface="Plus Jakarta Sans ExtraBold"/>
                <a:sym typeface="Plus Jakarta Sans ExtraBold"/>
              </a:rPr>
              <a:t>Tasks, Ops y Tokens</a:t>
            </a:r>
            <a:endParaRPr b="0" i="0" sz="34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80" name="Google Shape;280;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Pagás por uso, no fijo</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6"/>
          <p:cNvSpPr txBox="1"/>
          <p:nvPr/>
        </p:nvSpPr>
        <p:spPr>
          <a:xfrm>
            <a:off x="739075" y="2481425"/>
            <a:ext cx="5882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Pensá los costos como un Uber:</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Suscripción = tener la app (cargo base "Pro").</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Ejecución (Run) = el viaje que pedís.</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Tokens / Tasks = los kilómetros: un resumen corto cuesta poco; un PDF de 50 págs, mucho.</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Rate limits: </a:t>
            </a:r>
            <a:r>
              <a:rPr b="0" i="0" lang="es" sz="1150" u="none" cap="none" strike="noStrike">
                <a:solidFill>
                  <a:srgbClr val="171717"/>
                </a:solidFill>
                <a:latin typeface="Plus Jakarta Sans"/>
                <a:ea typeface="Plus Jakarta Sans"/>
                <a:cs typeface="Plus Jakarta Sans"/>
                <a:sym typeface="Plus Jakarta Sans"/>
              </a:rPr>
              <a:t>los semáforos. Un plan gratis da 3 pedidos/minuto: si mandás 100 de golpe, te frena.</a:t>
            </a:r>
            <a:endParaRPr/>
          </a:p>
        </p:txBody>
      </p:sp>
      <p:sp>
        <p:nvSpPr>
          <p:cNvPr id="286" name="Google Shape;286;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La analogía del Uber</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87" name="Google Shape;287;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highlight>
                  <a:srgbClr val="FDAB2E"/>
                </a:highlight>
                <a:latin typeface="Plus Jakarta Sans"/>
                <a:ea typeface="Plus Jakarta Sans"/>
                <a:cs typeface="Plus Jakarta Sans"/>
                <a:sym typeface="Plus Jakarta Sans"/>
              </a:rPr>
              <a:t>Y los semáforos del sistema</a:t>
            </a:r>
            <a:endParaRPr b="0" i="0" sz="19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0"/>
          <p:cNvSpPr txBox="1"/>
          <p:nvPr/>
        </p:nvSpPr>
        <p:spPr>
          <a:xfrm>
            <a:off x="739075" y="2481425"/>
            <a:ext cx="7094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calcular el costo de tu flujo y empezar a estructurar sus datos.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Contá los pasos del proceso: ¿cuántas ops/tasks consume cada corrida?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Listá las variables clave (nombre, email, monto, estado…).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un estimado de costo + la lista de variables. Ladrillo 2.</a:t>
            </a:r>
            <a:endParaRPr/>
          </a:p>
        </p:txBody>
      </p:sp>
      <p:sp>
        <p:nvSpPr>
          <p:cNvPr id="293" name="Google Shape;293;p2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2</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94" name="Google Shape;294;p2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Estimá costos y estructurá</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1"/>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300" name="Google Shape;300;p21"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2"/>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06" name="Google Shape;306;p22"/>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Conexiones y Omni AI</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3"/>
          <p:cNvSpPr txBox="1"/>
          <p:nvPr/>
        </p:nvSpPr>
        <p:spPr>
          <a:xfrm>
            <a:off x="739075" y="2481425"/>
            <a:ext cx="6382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Sheets es ideal para recolectar datos rápidos; Airtable es el </a:t>
            </a:r>
            <a:r>
              <a:rPr b="1" i="0" lang="es" sz="1150" u="none" cap="none" strike="noStrike">
                <a:solidFill>
                  <a:srgbClr val="171717"/>
                </a:solidFill>
                <a:latin typeface="Plus Jakarta Sans"/>
                <a:ea typeface="Plus Jakarta Sans"/>
                <a:cs typeface="Plus Jakarta Sans"/>
                <a:sym typeface="Plus Jakarta Sans"/>
              </a:rPr>
              <a:t>"cerebro"</a:t>
            </a:r>
            <a:r>
              <a:rPr b="0" i="0" lang="es" sz="1150" u="none" cap="none" strike="noStrike">
                <a:solidFill>
                  <a:srgbClr val="171717"/>
                </a:solidFill>
                <a:latin typeface="Plus Jakarta Sans"/>
                <a:ea typeface="Plus Jakarta Sans"/>
                <a:cs typeface="Plus Jakarta Sans"/>
                <a:sym typeface="Plus Jakarta Sans"/>
              </a:rPr>
              <a:t> con relaciones y vistas.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Ojo: </a:t>
            </a:r>
            <a:r>
              <a:rPr b="0" i="0" lang="es" sz="1150" u="none" cap="none" strike="noStrike">
                <a:solidFill>
                  <a:srgbClr val="171717"/>
                </a:solidFill>
                <a:latin typeface="Plus Jakarta Sans"/>
                <a:ea typeface="Plus Jakarta Sans"/>
                <a:cs typeface="Plus Jakarta Sans"/>
                <a:sym typeface="Plus Jakarta Sans"/>
              </a:rPr>
              <a:t>no existe sincronización nativa bidireccional gratis y perfecta.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La puerta unidireccional: </a:t>
            </a:r>
            <a:r>
              <a:rPr b="0" i="0" lang="es" sz="1150" u="none" cap="none" strike="noStrike">
                <a:solidFill>
                  <a:srgbClr val="171717"/>
                </a:solidFill>
                <a:latin typeface="Plus Jakarta Sans"/>
                <a:ea typeface="Plus Jakarta Sans"/>
                <a:cs typeface="Plus Jakarta Sans"/>
                <a:sym typeface="Plus Jakarta Sans"/>
              </a:rPr>
              <a:t>Airtable saca datos hacia Sheets fácil; para traer datos desde Sheets necesitás un "cartero" (herramienta externa).</a:t>
            </a:r>
            <a:endParaRPr/>
          </a:p>
        </p:txBody>
      </p:sp>
      <p:sp>
        <p:nvSpPr>
          <p:cNvPr id="312" name="Google Shape;312;p2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Sheets ↔ Airtable</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13" name="Google Shape;313;p2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Aliados, no enemigos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Herramientas</a:t>
            </a:r>
            <a:r>
              <a:rPr b="0" i="0" lang="es" sz="2400" u="none" cap="none" strike="noStrike">
                <a:solidFill>
                  <a:srgbClr val="260700"/>
                </a:solidFill>
                <a:latin typeface="Plus Jakarta Sans"/>
                <a:ea typeface="Plus Jakarta Sans"/>
                <a:cs typeface="Plus Jakarta Sans"/>
                <a:sym typeface="Plus Jakarta Sans"/>
              </a:rPr>
              <a:t> puente</a:t>
            </a:r>
            <a:endParaRPr b="0" i="0" sz="2400" u="none" cap="none" strike="noStrike">
              <a:solidFill>
                <a:srgbClr val="260700"/>
              </a:solidFill>
              <a:latin typeface="Plus Jakarta Sans"/>
              <a:ea typeface="Plus Jakarta Sans"/>
              <a:cs typeface="Plus Jakarta Sans"/>
              <a:sym typeface="Plus Jakarta Sans"/>
            </a:endParaRPr>
          </a:p>
        </p:txBody>
      </p:sp>
      <p:sp>
        <p:nvSpPr>
          <p:cNvPr id="319" name="Google Shape;319;p24"/>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Whalesync</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 favorita para sincronización bidireccional: cambiás algo de un lado y cambia del otro.</a:t>
            </a:r>
            <a:endParaRPr/>
          </a:p>
        </p:txBody>
      </p:sp>
      <p:sp>
        <p:nvSpPr>
          <p:cNvPr id="320" name="Google Shape;320;p24"/>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Byteline</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Ideal para freelancers que conectan tablas de clientes sin complicaciones.</a:t>
            </a:r>
            <a:endParaRPr/>
          </a:p>
        </p:txBody>
      </p:sp>
      <p:sp>
        <p:nvSpPr>
          <p:cNvPr id="321" name="Google Shape;321;p24"/>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Data Fetcher</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Extensión de Airtable que trae datos de Sheets bajo demanda.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nvSpPr>
        <p:spPr>
          <a:xfrm>
            <a:off x="739075" y="2481425"/>
            <a:ext cx="6462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No es un chatbot: es un </a:t>
            </a:r>
            <a:r>
              <a:rPr b="1" i="0" lang="es" sz="1150" u="none" cap="none" strike="noStrike">
                <a:solidFill>
                  <a:srgbClr val="171717"/>
                </a:solidFill>
                <a:latin typeface="Plus Jakarta Sans"/>
                <a:ea typeface="Plus Jakarta Sans"/>
                <a:cs typeface="Plus Jakarta Sans"/>
                <a:sym typeface="Plus Jakarta Sans"/>
              </a:rPr>
              <a:t>motor que genera la estructura de tu base</a:t>
            </a:r>
            <a:r>
              <a:rPr b="0" i="0" lang="es" sz="1150" u="none" cap="none" strike="noStrike">
                <a:solidFill>
                  <a:srgbClr val="171717"/>
                </a:solidFill>
                <a:latin typeface="Plus Jakarta Sans"/>
                <a:ea typeface="Plus Jakarta Sans"/>
                <a:cs typeface="Plus Jakarta Sans"/>
                <a:sym typeface="Plus Jakarta Sans"/>
              </a:rPr>
              <a:t> desde lenguaje natural.</a:t>
            </a:r>
            <a:endParaRPr/>
          </a:p>
          <a:p>
            <a:pPr indent="0" lvl="0" marL="0" marR="0" rtl="0" algn="l">
              <a:lnSpc>
                <a:spcPct val="110000"/>
              </a:lnSpc>
              <a:spcBef>
                <a:spcPts val="4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Le hablás en simple y crea las tablas, define los tipos de campo, arma las relaciones y genera las vistas.</a:t>
            </a:r>
            <a:endParaRPr/>
          </a:p>
          <a:p>
            <a:pPr indent="0" lvl="0" marL="0" marR="0" rtl="0" algn="l">
              <a:lnSpc>
                <a:spcPct val="110000"/>
              </a:lnSpc>
              <a:spcBef>
                <a:spcPts val="4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Vos seguís siendo el arquitecto;</a:t>
            </a:r>
            <a:r>
              <a:rPr b="0" i="0" lang="es" sz="1150" u="none" cap="none" strike="noStrike">
                <a:solidFill>
                  <a:srgbClr val="171717"/>
                </a:solidFill>
                <a:latin typeface="Plus Jakarta Sans"/>
                <a:ea typeface="Plus Jakarta Sans"/>
                <a:cs typeface="Plus Jakarta Sans"/>
                <a:sym typeface="Plus Jakarta Sans"/>
              </a:rPr>
              <a:t> Omni es el constructor más rápido del mundo.</a:t>
            </a:r>
            <a:endParaRPr/>
          </a:p>
        </p:txBody>
      </p:sp>
      <p:sp>
        <p:nvSpPr>
          <p:cNvPr id="327" name="Google Shape;327;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Omni AI</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28" name="Google Shape;328;p2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Tu arquitecto digital</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6"/>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6"/>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335" name="Google Shape;335;p26"/>
          <p:cNvSpPr txBox="1"/>
          <p:nvPr/>
        </p:nvSpPr>
        <p:spPr>
          <a:xfrm>
            <a:off x="413625" y="20063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36" name="Google Shape;336;p26"/>
          <p:cNvSpPr txBox="1"/>
          <p:nvPr/>
        </p:nvSpPr>
        <p:spPr>
          <a:xfrm>
            <a:off x="5397850" y="2462200"/>
            <a:ext cx="3423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s" sz="1200" u="none" cap="none" strike="noStrike">
                <a:solidFill>
                  <a:srgbClr val="171717"/>
                </a:solidFill>
                <a:latin typeface="Plus Jakarta Sans"/>
                <a:ea typeface="Plus Jakarta Sans"/>
                <a:cs typeface="Plus Jakarta Sans"/>
                <a:sym typeface="Plus Jakarta Sans"/>
              </a:rPr>
              <a:t>El prompt para Omni AI: </a:t>
            </a:r>
            <a:endParaRPr b="1" i="0" sz="1200" u="none" cap="none" strike="noStrike">
              <a:solidFill>
                <a:srgbClr val="171717"/>
              </a:solidFill>
              <a:latin typeface="Plus Jakarta Sans"/>
              <a:ea typeface="Plus Jakarta Sans"/>
              <a:cs typeface="Plus Jakarta Sans"/>
              <a:sym typeface="Plus Jakarta Sans"/>
            </a:endParaRPr>
          </a:p>
          <a:p>
            <a:pPr indent="0" lvl="0" marL="0" marR="0" rtl="0" algn="l">
              <a:lnSpc>
                <a:spcPct val="115000"/>
              </a:lnSpc>
              <a:spcBef>
                <a:spcPts val="0"/>
              </a:spcBef>
              <a:spcAft>
                <a:spcPts val="0"/>
              </a:spcAft>
              <a:buClr>
                <a:srgbClr val="000000"/>
              </a:buClr>
              <a:buSzPts val="1200"/>
              <a:buFont typeface="Arial"/>
              <a:buNone/>
            </a:pPr>
            <a:r>
              <a:t/>
            </a:r>
            <a:endParaRPr sz="1200">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1" lang="es" sz="1200">
                <a:solidFill>
                  <a:srgbClr val="171717"/>
                </a:solidFill>
                <a:latin typeface="Plus Jakarta Sans"/>
                <a:ea typeface="Plus Jakarta Sans"/>
                <a:cs typeface="Plus Jakarta Sans"/>
                <a:sym typeface="Plus Jakarta Sans"/>
              </a:rPr>
              <a:t>N</a:t>
            </a:r>
            <a:r>
              <a:rPr b="1" i="0" lang="es" sz="1200" u="none" cap="none" strike="noStrike">
                <a:solidFill>
                  <a:srgbClr val="171717"/>
                </a:solidFill>
                <a:latin typeface="Plus Jakarta Sans"/>
                <a:ea typeface="Plus Jakarta Sans"/>
                <a:cs typeface="Plus Jakarta Sans"/>
                <a:sym typeface="Plus Jakarta Sans"/>
              </a:rPr>
              <a:t>o le digas </a:t>
            </a:r>
            <a:r>
              <a:rPr b="0" i="0" lang="es" sz="1200" u="none" cap="none" strike="noStrike">
                <a:solidFill>
                  <a:srgbClr val="171717"/>
                </a:solidFill>
                <a:latin typeface="Plus Jakarta Sans Light"/>
                <a:ea typeface="Plus Jakarta Sans Light"/>
                <a:cs typeface="Plus Jakarta Sans Light"/>
                <a:sym typeface="Plus Jakarta Sans Light"/>
              </a:rPr>
              <a:t>"hacé una base para mi negocio" (vago). </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t/>
            </a:r>
            <a:endParaRPr sz="1200">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1" i="0" lang="es" sz="1200" u="none" cap="none" strike="noStrike">
                <a:solidFill>
                  <a:srgbClr val="171717"/>
                </a:solidFill>
                <a:latin typeface="Plus Jakarta Sans"/>
                <a:ea typeface="Plus Jakarta Sans"/>
                <a:cs typeface="Plus Jakarta Sans"/>
                <a:sym typeface="Plus Jakarta Sans"/>
              </a:rPr>
              <a:t>Decile:</a:t>
            </a:r>
            <a:r>
              <a:rPr b="0" i="0" lang="es" sz="1200" u="none" cap="none" strike="noStrike">
                <a:solidFill>
                  <a:srgbClr val="171717"/>
                </a:solidFill>
                <a:latin typeface="Plus Jakarta Sans Light"/>
                <a:ea typeface="Plus Jakarta Sans Light"/>
                <a:cs typeface="Plus Jakarta Sans Light"/>
                <a:sym typeface="Plus Jakarta Sans Light"/>
              </a:rPr>
              <a:t> "Creá una base de coaching con tabla Clientes (email, teléfono) y tabla Sesiones (fecha, notas, status de pago), vinculadas, con vista calendario". Específico = útil.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7"/>
          <p:cNvSpPr txBox="1"/>
          <p:nvPr/>
        </p:nvSpPr>
        <p:spPr>
          <a:xfrm>
            <a:off x="739075" y="2481425"/>
            <a:ext cx="7132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definir el cerebro de datos de tu proceso.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Identificá las tablas que necesitás (ej. Clientes, Pedidos) y sus campos.</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Escribí un prompt para Omni AI (o diseñala a mano) con esos campos y relaciones.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estructura de datos pensada. Ladrillo 3.</a:t>
            </a:r>
            <a:endParaRPr/>
          </a:p>
        </p:txBody>
      </p:sp>
      <p:sp>
        <p:nvSpPr>
          <p:cNvPr id="342" name="Google Shape;342;p2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3</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43" name="Google Shape;343;p2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Diseñá tu base</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8"/>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49" name="Google Shape;349;p28"/>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F8F2E8"/>
                </a:solidFill>
                <a:latin typeface="Plus Jakarta Sans ExtraBold"/>
                <a:ea typeface="Plus Jakarta Sans ExtraBold"/>
                <a:cs typeface="Plus Jakarta Sans ExtraBold"/>
                <a:sym typeface="Plus Jakarta Sans ExtraBold"/>
              </a:rPr>
              <a:t>Tu ecosistema completo</a:t>
            </a:r>
            <a:endParaRPr b="0" i="0" sz="3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9"/>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Cerebro (datos)</a:t>
            </a:r>
            <a:endParaRPr b="0" i="0" sz="1200" u="none" cap="none" strike="noStrike">
              <a:solidFill>
                <a:srgbClr val="FAFAFA"/>
              </a:solidFill>
              <a:latin typeface="Plus Jakarta Sans"/>
              <a:ea typeface="Plus Jakarta Sans"/>
              <a:cs typeface="Plus Jakarta Sans"/>
              <a:sym typeface="Plus Jakarta Sans"/>
            </a:endParaRPr>
          </a:p>
        </p:txBody>
      </p:sp>
      <p:sp>
        <p:nvSpPr>
          <p:cNvPr id="355" name="Google Shape;355;p29"/>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El Ecosistema No-Code</a:t>
            </a:r>
            <a:endParaRPr b="1" i="0" sz="2000" u="none" cap="none" strike="noStrike">
              <a:solidFill>
                <a:srgbClr val="260700"/>
              </a:solidFill>
              <a:latin typeface="Plus Jakarta Sans"/>
              <a:ea typeface="Plus Jakarta Sans"/>
              <a:cs typeface="Plus Jakarta Sans"/>
              <a:sym typeface="Plus Jakarta Sans"/>
            </a:endParaRPr>
          </a:p>
        </p:txBody>
      </p:sp>
      <p:sp>
        <p:nvSpPr>
          <p:cNvPr id="356" name="Google Shape;356;p29"/>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Airtable</a:t>
            </a:r>
            <a:endParaRPr b="0" i="0" sz="1200" u="none" cap="none" strike="noStrike">
              <a:solidFill>
                <a:srgbClr val="222224"/>
              </a:solidFill>
              <a:latin typeface="Plus Jakarta Sans"/>
              <a:ea typeface="Plus Jakarta Sans"/>
              <a:cs typeface="Plus Jakarta Sans"/>
              <a:sym typeface="Plus Jakarta Sans"/>
            </a:endParaRPr>
          </a:p>
        </p:txBody>
      </p:sp>
      <p:cxnSp>
        <p:nvCxnSpPr>
          <p:cNvPr id="357" name="Google Shape;357;p29"/>
          <p:cNvCxnSpPr>
            <a:stCxn id="354" idx="2"/>
            <a:endCxn id="356"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358" name="Google Shape;358;p29"/>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Sistema Nervioso</a:t>
            </a:r>
            <a:endParaRPr b="0" i="0" sz="1200" u="none" cap="none" strike="noStrike">
              <a:solidFill>
                <a:srgbClr val="FAFAFA"/>
              </a:solidFill>
              <a:latin typeface="Plus Jakarta Sans"/>
              <a:ea typeface="Plus Jakarta Sans"/>
              <a:cs typeface="Plus Jakarta Sans"/>
              <a:sym typeface="Plus Jakarta Sans"/>
            </a:endParaRPr>
          </a:p>
        </p:txBody>
      </p:sp>
      <p:sp>
        <p:nvSpPr>
          <p:cNvPr id="359" name="Google Shape;359;p29"/>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Make / Zapier</a:t>
            </a:r>
            <a:endParaRPr b="0" i="0" sz="1200" u="none" cap="none" strike="noStrike">
              <a:solidFill>
                <a:srgbClr val="222224"/>
              </a:solidFill>
              <a:latin typeface="Plus Jakarta Sans"/>
              <a:ea typeface="Plus Jakarta Sans"/>
              <a:cs typeface="Plus Jakarta Sans"/>
              <a:sym typeface="Plus Jakarta Sans"/>
            </a:endParaRPr>
          </a:p>
        </p:txBody>
      </p:sp>
      <p:cxnSp>
        <p:nvCxnSpPr>
          <p:cNvPr id="360" name="Google Shape;360;p29"/>
          <p:cNvCxnSpPr>
            <a:stCxn id="358" idx="2"/>
            <a:endCxn id="359"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361" name="Google Shape;361;p29"/>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La Cara (apps)</a:t>
            </a:r>
            <a:endParaRPr b="0" i="0" sz="1200" u="none" cap="none" strike="noStrike">
              <a:solidFill>
                <a:srgbClr val="FAFAFA"/>
              </a:solidFill>
              <a:latin typeface="Plus Jakarta Sans"/>
              <a:ea typeface="Plus Jakarta Sans"/>
              <a:cs typeface="Plus Jakarta Sans"/>
              <a:sym typeface="Plus Jakarta Sans"/>
            </a:endParaRPr>
          </a:p>
        </p:txBody>
      </p:sp>
      <p:cxnSp>
        <p:nvCxnSpPr>
          <p:cNvPr id="362" name="Google Shape;362;p29"/>
          <p:cNvCxnSpPr>
            <a:stCxn id="361" idx="0"/>
            <a:endCxn id="355"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363" name="Google Shape;363;p29"/>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Softr / Glide</a:t>
            </a:r>
            <a:endParaRPr b="0" i="0" sz="1200" u="none" cap="none" strike="noStrike">
              <a:solidFill>
                <a:srgbClr val="FAFAFA"/>
              </a:solidFill>
              <a:latin typeface="Plus Jakarta Sans"/>
              <a:ea typeface="Plus Jakarta Sans"/>
              <a:cs typeface="Plus Jakarta Sans"/>
              <a:sym typeface="Plus Jakarta Sans"/>
            </a:endParaRPr>
          </a:p>
        </p:txBody>
      </p:sp>
      <p:sp>
        <p:nvSpPr>
          <p:cNvPr id="364" name="Google Shape;364;p29"/>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Inteligencia</a:t>
            </a:r>
            <a:endParaRPr b="0" i="0" sz="1200" u="none" cap="none" strike="noStrike">
              <a:solidFill>
                <a:srgbClr val="FAFAFA"/>
              </a:solidFill>
              <a:latin typeface="Plus Jakarta Sans"/>
              <a:ea typeface="Plus Jakarta Sans"/>
              <a:cs typeface="Plus Jakarta Sans"/>
              <a:sym typeface="Plus Jakarta Sans"/>
            </a:endParaRPr>
          </a:p>
        </p:txBody>
      </p:sp>
      <p:cxnSp>
        <p:nvCxnSpPr>
          <p:cNvPr id="365" name="Google Shape;365;p29"/>
          <p:cNvCxnSpPr>
            <a:stCxn id="363" idx="3"/>
            <a:endCxn id="355"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366" name="Google Shape;366;p29"/>
          <p:cNvCxnSpPr>
            <a:stCxn id="364" idx="1"/>
            <a:endCxn id="355"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367" name="Google Shape;367;p29"/>
          <p:cNvCxnSpPr>
            <a:stCxn id="358" idx="0"/>
            <a:endCxn id="355"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368" name="Google Shape;368;p29"/>
          <p:cNvCxnSpPr>
            <a:stCxn id="355" idx="3"/>
            <a:endCxn id="354"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369" name="Google Shape;369;p29"/>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GPT / Claude</a:t>
            </a:r>
            <a:endParaRPr b="0" i="0" sz="1200" u="none" cap="none" strike="noStrike">
              <a:solidFill>
                <a:srgbClr val="FAFAFA"/>
              </a:solidFill>
              <a:latin typeface="Plus Jakarta Sans"/>
              <a:ea typeface="Plus Jakarta Sans"/>
              <a:cs typeface="Plus Jakarta Sans"/>
              <a:sym typeface="Plus Jakarta Sans"/>
            </a:endParaRPr>
          </a:p>
        </p:txBody>
      </p:sp>
      <p:cxnSp>
        <p:nvCxnSpPr>
          <p:cNvPr id="370" name="Google Shape;370;p29"/>
          <p:cNvCxnSpPr>
            <a:stCxn id="355" idx="0"/>
            <a:endCxn id="369"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0"/>
          <p:cNvSpPr txBox="1"/>
          <p:nvPr/>
        </p:nvSpPr>
        <p:spPr>
          <a:xfrm>
            <a:off x="739075" y="2116100"/>
            <a:ext cx="65748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Airtable (Cerebro): </a:t>
            </a:r>
            <a:r>
              <a:rPr b="0" i="0" lang="es" sz="1150" u="none" cap="none" strike="noStrike">
                <a:solidFill>
                  <a:srgbClr val="171717"/>
                </a:solidFill>
                <a:latin typeface="Plus Jakarta Sans"/>
                <a:ea typeface="Plus Jakarta Sans"/>
                <a:cs typeface="Plus Jakarta Sans"/>
                <a:sym typeface="Plus Jakarta Sans"/>
              </a:rPr>
              <a:t>un lead se registra acá.</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Make (Sistema Nervioso): </a:t>
            </a:r>
            <a:r>
              <a:rPr b="0" i="0" lang="es" sz="1150" u="none" cap="none" strike="noStrike">
                <a:solidFill>
                  <a:srgbClr val="171717"/>
                </a:solidFill>
                <a:latin typeface="Plus Jakarta Sans"/>
                <a:ea typeface="Plus Jakarta Sans"/>
                <a:cs typeface="Plus Jakarta Sans"/>
                <a:sym typeface="Plus Jakarta Sans"/>
              </a:rPr>
              <a:t>detecta la fila nueva y la mueve (ej. la manda a Slack).</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Softr (Cara): </a:t>
            </a:r>
            <a:r>
              <a:rPr b="0" i="0" lang="es" sz="1150" u="none" cap="none" strike="noStrike">
                <a:solidFill>
                  <a:srgbClr val="171717"/>
                </a:solidFill>
                <a:latin typeface="Plus Jakarta Sans"/>
                <a:ea typeface="Plus Jakarta Sans"/>
                <a:cs typeface="Plus Jakarta Sans"/>
                <a:sym typeface="Plus Jakarta Sans"/>
              </a:rPr>
              <a:t>el equipo consulta ese lead desde un portal, sin tocar Airtable.</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Inteligencia: </a:t>
            </a:r>
            <a:r>
              <a:rPr b="0" i="0" lang="es" sz="1150" u="none" cap="none" strike="noStrike">
                <a:solidFill>
                  <a:srgbClr val="171717"/>
                </a:solidFill>
                <a:latin typeface="Plus Jakarta Sans"/>
                <a:ea typeface="Plus Jakarta Sans"/>
                <a:cs typeface="Plus Jakarta Sans"/>
                <a:sym typeface="Plus Jakarta Sans"/>
              </a:rPr>
              <a:t>Make le pide a la IA clasificar el lead antes de avisar.</a:t>
            </a:r>
            <a:endParaRPr/>
          </a:p>
        </p:txBody>
      </p:sp>
      <p:sp>
        <p:nvSpPr>
          <p:cNvPr id="376" name="Google Shape;376;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Armá tu ecosistema</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77" name="Google Shape;377;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recorrido del dato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Errores</a:t>
            </a:r>
            <a:r>
              <a:rPr b="0" i="0" lang="es" sz="2400" u="none" cap="none" strike="noStrike">
                <a:solidFill>
                  <a:srgbClr val="260700"/>
                </a:solidFill>
                <a:latin typeface="Plus Jakarta Sans"/>
                <a:ea typeface="Plus Jakarta Sans"/>
                <a:cs typeface="Plus Jakarta Sans"/>
                <a:sym typeface="Plus Jakarta Sans"/>
              </a:rPr>
              <a:t> del arquitecto</a:t>
            </a:r>
            <a:endParaRPr b="0" i="0" sz="2400" u="none" cap="none" strike="noStrike">
              <a:solidFill>
                <a:srgbClr val="260700"/>
              </a:solidFill>
              <a:latin typeface="Plus Jakarta Sans"/>
              <a:ea typeface="Plus Jakarta Sans"/>
              <a:cs typeface="Plus Jakarta Sans"/>
              <a:sym typeface="Plus Jakarta Sans"/>
            </a:endParaRPr>
          </a:p>
        </p:txBody>
      </p:sp>
      <p:sp>
        <p:nvSpPr>
          <p:cNvPr id="383" name="Google Shape;383;p31"/>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Ceguera de planificación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Sin código igual hace falta diseñar. Automatizar el caos = caos más rápido.</a:t>
            </a:r>
            <a:endParaRPr/>
          </a:p>
        </p:txBody>
      </p:sp>
      <p:sp>
        <p:nvSpPr>
          <p:cNvPr id="384" name="Google Shape;384;p31"/>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Efecto Frankenstein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Conectar 15 herramientas cuando una sola hace el 80%. Cada conexión es un punto de falla.</a:t>
            </a:r>
            <a:endParaRPr/>
          </a:p>
        </p:txBody>
      </p:sp>
      <p:sp>
        <p:nvSpPr>
          <p:cNvPr id="385" name="Google Shape;385;p31"/>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Ignorar los límites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Un flujo que corre cada minuto sin necesidad agota tu presupuesto en un día.</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2"/>
          <p:cNvSpPr txBox="1"/>
          <p:nvPr/>
        </p:nvSpPr>
        <p:spPr>
          <a:xfrm>
            <a:off x="739075" y="2481425"/>
            <a:ext cx="7449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empaquetar tu proceso en un JSON limpio.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Creá un Objeto { } con un Array [ ] de elementos anidados (ej. una lista de registros).</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Comillas dobles en claves y textos; sin comas al final. Validá en jsonlint.com.</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JSON validado. ¡Pre-Entrega 2 lista!</a:t>
            </a:r>
            <a:endParaRPr/>
          </a:p>
        </p:txBody>
      </p:sp>
      <p:sp>
        <p:nvSpPr>
          <p:cNvPr id="391" name="Google Shape;391;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4</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92" name="Google Shape;392;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Armá y validá tu JSON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PE</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98" name="Google Shape;398;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Pre-Entrega 2</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Los 4 pasos se integran en un entregable: la justificación de tu stack + tu estructura de datos en JSON.</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1 → </a:t>
            </a:r>
            <a:r>
              <a:rPr b="0" i="0" lang="es" sz="1300" u="none" cap="none" strike="noStrike">
                <a:solidFill>
                  <a:srgbClr val="171717"/>
                </a:solidFill>
                <a:latin typeface="Plus Jakarta Sans"/>
                <a:ea typeface="Plus Jakarta Sans"/>
                <a:cs typeface="Plus Jakarta Sans"/>
                <a:sym typeface="Plus Jakarta Sans"/>
              </a:rPr>
              <a:t>enfoque No-Code o Low-Code elegido.</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Pasos 2-3 → </a:t>
            </a:r>
            <a:r>
              <a:rPr b="0" i="0" lang="es" sz="1300" u="none" cap="none" strike="noStrike">
                <a:solidFill>
                  <a:srgbClr val="171717"/>
                </a:solidFill>
                <a:latin typeface="Plus Jakarta Sans"/>
                <a:ea typeface="Plus Jakarta Sans"/>
                <a:cs typeface="Plus Jakarta Sans"/>
                <a:sym typeface="Plus Jakarta Sans"/>
              </a:rPr>
              <a:t>costos estimados y estructura de datos diseñada.</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4 → </a:t>
            </a:r>
            <a:r>
              <a:rPr b="0" i="0" lang="es" sz="1300" u="none" cap="none" strike="noStrike">
                <a:solidFill>
                  <a:srgbClr val="171717"/>
                </a:solidFill>
                <a:latin typeface="Plus Jakarta Sans"/>
                <a:ea typeface="Plus Jakarta Sans"/>
                <a:cs typeface="Plus Jakarta Sans"/>
                <a:sym typeface="Plus Jakarta Sans"/>
              </a:rPr>
              <a:t>el JSON validado en jsonlint.com.</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Objetivo de aprendizaje: </a:t>
            </a:r>
            <a:r>
              <a:rPr b="0" i="0" lang="es" sz="1300" u="none" cap="none" strike="noStrike">
                <a:solidFill>
                  <a:srgbClr val="171717"/>
                </a:solidFill>
                <a:latin typeface="Plus Jakarta Sans"/>
                <a:ea typeface="Plus Jakarta Sans"/>
                <a:cs typeface="Plus Jakarta Sans"/>
                <a:sym typeface="Plus Jakarta Sans"/>
              </a:rPr>
              <a:t>justificar técnicamente tu stack y estructurar las variables del proceso en un formato universal.</a:t>
            </a:r>
            <a:endParaRPr/>
          </a:p>
        </p:txBody>
      </p:sp>
      <p:sp>
        <p:nvSpPr>
          <p:cNvPr id="404" name="Google Shape;404;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05" name="Google Shape;405;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Pre-Entrega 2</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5"/>
          <p:cNvSpPr txBox="1"/>
          <p:nvPr/>
        </p:nvSpPr>
        <p:spPr>
          <a:xfrm>
            <a:off x="1351225" y="2272675"/>
            <a:ext cx="5238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Duración estimada: ~2,5 horas</a:t>
            </a:r>
            <a:endParaRPr/>
          </a:p>
          <a:p>
            <a:pPr indent="0" lvl="0" marL="0" marR="0" rtl="0" algn="l">
              <a:lnSpc>
                <a:spcPct val="110000"/>
              </a:lnSpc>
              <a:spcBef>
                <a:spcPts val="15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Entrega: documento .pdf con la justificación + el JSON</a:t>
            </a:r>
            <a:endParaRPr/>
          </a:p>
          <a:p>
            <a:pPr indent="0" lvl="0" marL="0" marR="0" rtl="0" algn="l">
              <a:lnSpc>
                <a:spcPct val="110000"/>
              </a:lnSpc>
              <a:spcBef>
                <a:spcPts val="4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Analizá un proceso de negocio, justificá tu stack (No-Code/Low-Code, mín. 100 palabras) y estructurá sus variables en un JSON válido: un Objeto con un Array anidado.</a:t>
            </a:r>
            <a:endParaRPr/>
          </a:p>
        </p:txBody>
      </p:sp>
      <p:sp>
        <p:nvSpPr>
          <p:cNvPr id="411" name="Google Shape;411;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Tu misión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412" name="Google Shape;412;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entregable</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6"/>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Pasos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18" name="Google Shape;418;p36"/>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Tomá el proceso que elegiste en el Módulo 1 y desglosá sus pasos.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Escribí una justificación (mín. 100 palabras): ¿No-Code o Low-Code? Argumentá por flexibilidad, velocidad y límites.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En un editor de texto, creá un Objeto { } que contenga un Array [ ] de elementos relacionados.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Revisá que todas las claves y textos lleven comillas dobles " y que no queden comas al final.</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Validá tu estructura en jsonlint.com para garantizar un JSON limpio.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del tiempo:</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Análisis del proceso y elección de stack — 30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Justificación escrita (≥100 palabras) — 40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Armado y validación del JSON — 1 h 20 min.</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2,5 horas.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un documento .pdf con la justificación teórica y la estructura JSON validada.</a:t>
            </a:r>
            <a:endParaRPr/>
          </a:p>
        </p:txBody>
      </p:sp>
      <p:sp>
        <p:nvSpPr>
          <p:cNvPr id="424" name="Google Shape;424;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25" name="Google Shape;425;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60 pts</a:t>
            </a:r>
            <a:endParaRPr b="0" i="0" sz="2400" u="none" cap="none" strike="noStrike">
              <a:solidFill>
                <a:srgbClr val="260700"/>
              </a:solidFill>
              <a:latin typeface="Plus Jakarta Sans"/>
              <a:ea typeface="Plus Jakarta Sans"/>
              <a:cs typeface="Plus Jakarta Sans"/>
              <a:sym typeface="Plus Jakarta Sans"/>
            </a:endParaRPr>
          </a:p>
        </p:txBody>
      </p:sp>
      <p:sp>
        <p:nvSpPr>
          <p:cNvPr id="431" name="Google Shape;431;p3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Sintaxis JSON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archivo es 100% válido en jsonlint.com: comillas dobles y sin comas huérfanas.</a:t>
            </a:r>
            <a:endParaRPr/>
          </a:p>
        </p:txBody>
      </p:sp>
      <p:sp>
        <p:nvSpPr>
          <p:cNvPr id="432" name="Google Shape;432;p3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Modelado relacional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Integra al menos un Objeto { } y un Array [ ] de elementos anidados.</a:t>
            </a:r>
            <a:endParaRPr/>
          </a:p>
        </p:txBody>
      </p:sp>
      <p:sp>
        <p:nvSpPr>
          <p:cNvPr id="433" name="Google Shape;433;p3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Justificación estratégica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Párrafo (≥100 palabras) argumentando la plataforma por flexibilidad, velocidad y costos.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Ya tenés el cerebro de datos y el JSON. En el Módulo 3 vas a construir la orquestación real con Make (Integromat).</a:t>
            </a:r>
            <a:endParaRPr/>
          </a:p>
          <a:p>
            <a:pPr indent="-228600" lvl="0" marL="228600" marR="0" rtl="0" algn="l">
              <a:lnSpc>
                <a:spcPct val="110000"/>
              </a:lnSpc>
              <a:spcBef>
                <a:spcPts val="3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Módulo 3: </a:t>
            </a:r>
            <a:r>
              <a:rPr b="0" i="0" lang="es" sz="1300" u="none" cap="none" strike="noStrike">
                <a:solidFill>
                  <a:srgbClr val="171717"/>
                </a:solidFill>
                <a:latin typeface="Plus Jakarta Sans"/>
                <a:ea typeface="Plus Jakarta Sans"/>
                <a:cs typeface="Plus Jakarta Sans"/>
                <a:sym typeface="Plus Jakarta Sans"/>
              </a:rPr>
              <a:t>conectás apps visualmente en escenarios de Make: triggers, acciones y módulos.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Tu JSON y tu stack de hoy </a:t>
            </a:r>
            <a:r>
              <a:rPr b="0" i="0" lang="es" sz="1300" u="none" cap="none" strike="noStrike">
                <a:solidFill>
                  <a:srgbClr val="171717"/>
                </a:solidFill>
                <a:latin typeface="Plus Jakarta Sans"/>
                <a:ea typeface="Plus Jakarta Sans"/>
                <a:cs typeface="Plus Jakarta Sans"/>
                <a:sym typeface="Plus Jakarta Sans"/>
              </a:rPr>
              <a:t>son la base de los flujos que vas a armar.</a:t>
            </a:r>
            <a:endParaRPr/>
          </a:p>
          <a:p>
            <a:pPr indent="0" lvl="0" marL="0" marR="0" rtl="0" algn="l">
              <a:lnSpc>
                <a:spcPct val="110000"/>
              </a:lnSpc>
              <a:spcBef>
                <a:spcPts val="40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No se trata de saber usar 100 herramientas, sino de saber qué función cumple cada una.</a:t>
            </a:r>
            <a:endParaRPr/>
          </a:p>
        </p:txBody>
      </p:sp>
      <p:sp>
        <p:nvSpPr>
          <p:cNvPr id="439" name="Google Shape;439;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440" name="Google Shape;440;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Puente al Módulo 3</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0"/>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Cuándo usar qué: esa es la pregunta que vale oro. Soltá todas las dudas del módulo.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446" name="Google Shape;446;p40"/>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1"/>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¡Cerramos el Módulo 2,</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arquitectos!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452" name="Google Shape;452;p41"/>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453" name="Google Shape;453;p41"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