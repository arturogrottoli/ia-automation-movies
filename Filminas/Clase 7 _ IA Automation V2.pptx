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5143500" cx="9144000"/>
  <p:notesSz cx="6858000" cy="9144000"/>
  <p:embeddedFontLst>
    <p:embeddedFont>
      <p:font typeface="Plus Jakarta Sans ExtraBold"/>
      <p:bold r:id="rId46"/>
      <p:boldItalic r:id="rId47"/>
    </p:embeddedFont>
    <p:embeddedFont>
      <p:font typeface="Plus Jakarta Sans"/>
      <p:regular r:id="rId48"/>
      <p:bold r:id="rId49"/>
      <p:italic r:id="rId50"/>
      <p:boldItalic r:id="rId51"/>
    </p:embeddedFont>
    <p:embeddedFont>
      <p:font typeface="Plus Jakarta Sans Light"/>
      <p:regular r:id="rId52"/>
      <p:bold r:id="rId53"/>
      <p:italic r:id="rId54"/>
      <p:boldItalic r:id="rId5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6" roundtripDataSignature="AMtx7miZGL1d/pJGZvrxUgJOHNvQJHmh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PlusJakartaSansExtraBold-bold.fntdata"/><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lusJakartaSans-regular.fntdata"/><Relationship Id="rId47" Type="http://schemas.openxmlformats.org/officeDocument/2006/relationships/font" Target="fonts/PlusJakartaSansExtraBold-boldItalic.fntdata"/><Relationship Id="rId49" Type="http://schemas.openxmlformats.org/officeDocument/2006/relationships/font" Target="fonts/PlusJakarta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usJakartaSans-boldItalic.fntdata"/><Relationship Id="rId50" Type="http://schemas.openxmlformats.org/officeDocument/2006/relationships/font" Target="fonts/PlusJakartaSans-italic.fntdata"/><Relationship Id="rId53" Type="http://schemas.openxmlformats.org/officeDocument/2006/relationships/font" Target="fonts/PlusJakartaSansLight-bold.fntdata"/><Relationship Id="rId52" Type="http://schemas.openxmlformats.org/officeDocument/2006/relationships/font" Target="fonts/PlusJakartaSansLight-regular.fntdata"/><Relationship Id="rId11" Type="http://schemas.openxmlformats.org/officeDocument/2006/relationships/slide" Target="slides/slide6.xml"/><Relationship Id="rId55" Type="http://schemas.openxmlformats.org/officeDocument/2006/relationships/font" Target="fonts/PlusJakartaSansLight-boldItalic.fntdata"/><Relationship Id="rId10" Type="http://schemas.openxmlformats.org/officeDocument/2006/relationships/slide" Target="slides/slide5.xml"/><Relationship Id="rId54" Type="http://schemas.openxmlformats.org/officeDocument/2006/relationships/font" Target="fonts/PlusJakartaSansLight-italic.fntdata"/><Relationship Id="rId13" Type="http://schemas.openxmlformats.org/officeDocument/2006/relationships/slide" Target="slides/slide8.xml"/><Relationship Id="rId12" Type="http://schemas.openxmlformats.org/officeDocument/2006/relationships/slide" Target="slides/slide7.xml"/><Relationship Id="rId56" Type="http://customschemas.google.com/relationships/presentationmetadata" Target="meta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 name="Google Shape;89;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efadbaaab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3efadbaaab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 name="Google Shape;23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9" name="Google Shape;339;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3" name="Google Shape;373;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43"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1" name="Shape 11"/>
        <p:cNvGrpSpPr/>
        <p:nvPr/>
      </p:nvGrpSpPr>
      <p:grpSpPr>
        <a:xfrm>
          <a:off x="0" y="0"/>
          <a:ext cx="0" cy="0"/>
          <a:chOff x="0" y="0"/>
          <a:chExt cx="0" cy="0"/>
        </a:xfrm>
      </p:grpSpPr>
      <p:sp>
        <p:nvSpPr>
          <p:cNvPr id="12" name="Google Shape;12;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3" name="Google Shape;13;p44"/>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14" name="Google Shape;14;p44"/>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15" name="Google Shape;15;p44"/>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16" name="Google Shape;16;p44"/>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7" name="Shape 17"/>
        <p:cNvGrpSpPr/>
        <p:nvPr/>
      </p:nvGrpSpPr>
      <p:grpSpPr>
        <a:xfrm>
          <a:off x="0" y="0"/>
          <a:ext cx="0" cy="0"/>
          <a:chOff x="0" y="0"/>
          <a:chExt cx="0" cy="0"/>
        </a:xfrm>
      </p:grpSpPr>
      <p:sp>
        <p:nvSpPr>
          <p:cNvPr id="18" name="Google Shape;18;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9" name="Shape 19"/>
        <p:cNvGrpSpPr/>
        <p:nvPr/>
      </p:nvGrpSpPr>
      <p:grpSpPr>
        <a:xfrm>
          <a:off x="0" y="0"/>
          <a:ext cx="0" cy="0"/>
          <a:chOff x="0" y="0"/>
          <a:chExt cx="0" cy="0"/>
        </a:xfrm>
      </p:grpSpPr>
      <p:sp>
        <p:nvSpPr>
          <p:cNvPr id="20" name="Google Shape;20;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21" name="Shape 21"/>
        <p:cNvGrpSpPr/>
        <p:nvPr/>
      </p:nvGrpSpPr>
      <p:grpSpPr>
        <a:xfrm>
          <a:off x="0" y="0"/>
          <a:ext cx="0" cy="0"/>
          <a:chOff x="0" y="0"/>
          <a:chExt cx="0" cy="0"/>
        </a:xfrm>
      </p:grpSpPr>
      <p:sp>
        <p:nvSpPr>
          <p:cNvPr id="22" name="Google Shape;22;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3" name="Shape 23"/>
        <p:cNvGrpSpPr/>
        <p:nvPr/>
      </p:nvGrpSpPr>
      <p:grpSpPr>
        <a:xfrm>
          <a:off x="0" y="0"/>
          <a:ext cx="0" cy="0"/>
          <a:chOff x="0" y="0"/>
          <a:chExt cx="0" cy="0"/>
        </a:xfrm>
      </p:grpSpPr>
      <p:sp>
        <p:nvSpPr>
          <p:cNvPr id="24" name="Google Shape;24;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25" name="Shape 25"/>
        <p:cNvGrpSpPr/>
        <p:nvPr/>
      </p:nvGrpSpPr>
      <p:grpSpPr>
        <a:xfrm>
          <a:off x="0" y="0"/>
          <a:ext cx="0" cy="0"/>
          <a:chOff x="0" y="0"/>
          <a:chExt cx="0" cy="0"/>
        </a:xfrm>
      </p:grpSpPr>
      <p:pic>
        <p:nvPicPr>
          <p:cNvPr id="26" name="Google Shape;26;p49"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27" name="Google Shape;27;p49"/>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8" name="Google Shape;28;p49"/>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9" name="Google Shape;29;p49"/>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30" name="Google Shape;30;p49"/>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31" name="Shape 31"/>
        <p:cNvGrpSpPr/>
        <p:nvPr/>
      </p:nvGrpSpPr>
      <p:grpSpPr>
        <a:xfrm>
          <a:off x="0" y="0"/>
          <a:ext cx="0" cy="0"/>
          <a:chOff x="0" y="0"/>
          <a:chExt cx="0" cy="0"/>
        </a:xfrm>
      </p:grpSpPr>
      <p:sp>
        <p:nvSpPr>
          <p:cNvPr id="32" name="Google Shape;32;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33" name="Google Shape;33;p50"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4" name="Shape 34"/>
        <p:cNvGrpSpPr/>
        <p:nvPr/>
      </p:nvGrpSpPr>
      <p:grpSpPr>
        <a:xfrm>
          <a:off x="0" y="0"/>
          <a:ext cx="0" cy="0"/>
          <a:chOff x="0" y="0"/>
          <a:chExt cx="0" cy="0"/>
        </a:xfrm>
      </p:grpSpPr>
      <p:sp>
        <p:nvSpPr>
          <p:cNvPr id="35" name="Google Shape;35;p5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6" name="Google Shape;36;p5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7" name="Google Shape;3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8" name="Shape 38"/>
        <p:cNvGrpSpPr/>
        <p:nvPr/>
      </p:nvGrpSpPr>
      <p:grpSpPr>
        <a:xfrm>
          <a:off x="0" y="0"/>
          <a:ext cx="0" cy="0"/>
          <a:chOff x="0" y="0"/>
          <a:chExt cx="0" cy="0"/>
        </a:xfrm>
      </p:grpSpPr>
      <p:sp>
        <p:nvSpPr>
          <p:cNvPr id="39" name="Google Shape;39;p5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0" name="Google Shape;40;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5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5" name="Shape 45"/>
        <p:cNvGrpSpPr/>
        <p:nvPr/>
      </p:nvGrpSpPr>
      <p:grpSpPr>
        <a:xfrm>
          <a:off x="0" y="0"/>
          <a:ext cx="0" cy="0"/>
          <a:chOff x="0" y="0"/>
          <a:chExt cx="0" cy="0"/>
        </a:xfrm>
      </p:grpSpPr>
      <p:sp>
        <p:nvSpPr>
          <p:cNvPr id="46" name="Google Shape;46;p5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7" name="Google Shape;47;p5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8" name="Google Shape;48;p5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9" name="Google Shape;49;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5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2" name="Google Shape;5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3" name="Shape 53"/>
        <p:cNvGrpSpPr/>
        <p:nvPr/>
      </p:nvGrpSpPr>
      <p:grpSpPr>
        <a:xfrm>
          <a:off x="0" y="0"/>
          <a:ext cx="0" cy="0"/>
          <a:chOff x="0" y="0"/>
          <a:chExt cx="0" cy="0"/>
        </a:xfrm>
      </p:grpSpPr>
      <p:sp>
        <p:nvSpPr>
          <p:cNvPr id="54" name="Google Shape;54;p5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5" name="Google Shape;55;p5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6" name="Google Shape;56;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7" name="Shape 57"/>
        <p:cNvGrpSpPr/>
        <p:nvPr/>
      </p:nvGrpSpPr>
      <p:grpSpPr>
        <a:xfrm>
          <a:off x="0" y="0"/>
          <a:ext cx="0" cy="0"/>
          <a:chOff x="0" y="0"/>
          <a:chExt cx="0" cy="0"/>
        </a:xfrm>
      </p:grpSpPr>
      <p:sp>
        <p:nvSpPr>
          <p:cNvPr id="58" name="Google Shape;58;p5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9" name="Google Shape;59;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 name="Shape 60"/>
        <p:cNvGrpSpPr/>
        <p:nvPr/>
      </p:nvGrpSpPr>
      <p:grpSpPr>
        <a:xfrm>
          <a:off x="0" y="0"/>
          <a:ext cx="0" cy="0"/>
          <a:chOff x="0" y="0"/>
          <a:chExt cx="0" cy="0"/>
        </a:xfrm>
      </p:grpSpPr>
      <p:sp>
        <p:nvSpPr>
          <p:cNvPr id="61" name="Google Shape;61;p5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3" name="Google Shape;63;p5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4" name="Google Shape;64;p5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5" name="Google Shape;65;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6" name="Shape 66"/>
        <p:cNvGrpSpPr/>
        <p:nvPr/>
      </p:nvGrpSpPr>
      <p:grpSpPr>
        <a:xfrm>
          <a:off x="0" y="0"/>
          <a:ext cx="0" cy="0"/>
          <a:chOff x="0" y="0"/>
          <a:chExt cx="0" cy="0"/>
        </a:xfrm>
      </p:grpSpPr>
      <p:sp>
        <p:nvSpPr>
          <p:cNvPr id="67" name="Google Shape;67;p5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68" name="Google Shape;68;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9" name="Shape 69"/>
        <p:cNvGrpSpPr/>
        <p:nvPr/>
      </p:nvGrpSpPr>
      <p:grpSpPr>
        <a:xfrm>
          <a:off x="0" y="0"/>
          <a:ext cx="0" cy="0"/>
          <a:chOff x="0" y="0"/>
          <a:chExt cx="0" cy="0"/>
        </a:xfrm>
      </p:grpSpPr>
      <p:sp>
        <p:nvSpPr>
          <p:cNvPr id="70" name="Google Shape;70;p6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1" name="Google Shape;71;p6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2" name="Google Shape;72;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73" name="Shape 73"/>
        <p:cNvGrpSpPr/>
        <p:nvPr/>
      </p:nvGrpSpPr>
      <p:grpSpPr>
        <a:xfrm>
          <a:off x="0" y="0"/>
          <a:ext cx="0" cy="0"/>
          <a:chOff x="0" y="0"/>
          <a:chExt cx="0" cy="0"/>
        </a:xfrm>
      </p:grpSpPr>
      <p:pic>
        <p:nvPicPr>
          <p:cNvPr id="74" name="Google Shape;74;p61"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75" name="Google Shape;75;p61"/>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76" name="Google Shape;76;p61"/>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77" name="Google Shape;77;p61"/>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78" name="Google Shape;78;p61"/>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79" name="Shape 79"/>
        <p:cNvGrpSpPr/>
        <p:nvPr/>
      </p:nvGrpSpPr>
      <p:grpSpPr>
        <a:xfrm>
          <a:off x="0" y="0"/>
          <a:ext cx="0" cy="0"/>
          <a:chOff x="0" y="0"/>
          <a:chExt cx="0" cy="0"/>
        </a:xfrm>
      </p:grpSpPr>
      <p:pic>
        <p:nvPicPr>
          <p:cNvPr id="80" name="Google Shape;80;p62"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81" name="Google Shape;81;p62"/>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62"/>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3" name="Google Shape;83;p62"/>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4" name="Google Shape;84;p62"/>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5" name="Shape 85"/>
        <p:cNvGrpSpPr/>
        <p:nvPr/>
      </p:nvGrpSpPr>
      <p:grpSpPr>
        <a:xfrm>
          <a:off x="0" y="0"/>
          <a:ext cx="0" cy="0"/>
          <a:chOff x="0" y="0"/>
          <a:chExt cx="0" cy="0"/>
        </a:xfrm>
      </p:grpSpPr>
      <p:sp>
        <p:nvSpPr>
          <p:cNvPr id="86" name="Google Shape;86;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nvSpPr>
        <p:spPr>
          <a:xfrm>
            <a:off x="1340550" y="1539125"/>
            <a:ext cx="64629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600"/>
              <a:buFont typeface="Arial"/>
              <a:buNone/>
            </a:pPr>
            <a:r>
              <a:rPr b="0" i="0" lang="es" sz="6600" u="none" cap="none" strike="noStrike">
                <a:solidFill>
                  <a:srgbClr val="F8F2E8"/>
                </a:solidFill>
                <a:latin typeface="Plus Jakarta Sans ExtraBold"/>
                <a:ea typeface="Plus Jakarta Sans ExtraBold"/>
                <a:cs typeface="Plus Jakarta Sans ExtraBold"/>
                <a:sym typeface="Plus Jakarta Sans ExtraBold"/>
              </a:rPr>
              <a:t>IA Automation</a:t>
            </a:r>
            <a:endParaRPr b="0" i="0" sz="66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92" name="Google Shape;92;p1"/>
          <p:cNvSpPr txBox="1"/>
          <p:nvPr/>
        </p:nvSpPr>
        <p:spPr>
          <a:xfrm>
            <a:off x="1340550" y="13381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000" u="none" cap="none" strike="noStrike">
                <a:solidFill>
                  <a:srgbClr val="F8F2E8"/>
                </a:solidFill>
                <a:latin typeface="Plus Jakarta Sans Light"/>
                <a:ea typeface="Plus Jakarta Sans Light"/>
                <a:cs typeface="Plus Jakarta Sans Light"/>
                <a:sym typeface="Plus Jakarta Sans Light"/>
              </a:rPr>
              <a:t>Programa · Comisión 2026</a:t>
            </a:r>
            <a:endParaRPr b="0" i="0" sz="1000" u="none" cap="none" strike="noStrike">
              <a:solidFill>
                <a:srgbClr val="F8F2E8"/>
              </a:solidFill>
              <a:latin typeface="Plus Jakarta Sans Light"/>
              <a:ea typeface="Plus Jakarta Sans Light"/>
              <a:cs typeface="Plus Jakarta Sans Light"/>
              <a:sym typeface="Plus Jakarta Sans Light"/>
            </a:endParaRPr>
          </a:p>
        </p:txBody>
      </p:sp>
      <p:pic>
        <p:nvPicPr>
          <p:cNvPr id="93" name="Google Shape;93;p1" title="logo gradient 1.png"/>
          <p:cNvPicPr preferRelativeResize="0"/>
          <p:nvPr/>
        </p:nvPicPr>
        <p:blipFill rotWithShape="1">
          <a:blip r:embed="rId3">
            <a:alphaModFix/>
          </a:blip>
          <a:srcRect b="0" l="0" r="0" t="0"/>
          <a:stretch/>
        </p:blipFill>
        <p:spPr>
          <a:xfrm>
            <a:off x="3830803" y="4523150"/>
            <a:ext cx="1547950" cy="452250"/>
          </a:xfrm>
          <a:prstGeom prst="rect">
            <a:avLst/>
          </a:prstGeom>
          <a:noFill/>
          <a:ln>
            <a:noFill/>
          </a:ln>
        </p:spPr>
      </p:pic>
      <p:sp>
        <p:nvSpPr>
          <p:cNvPr id="94" name="Google Shape;94;p1"/>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s" sz="1600" u="none" cap="none" strike="noStrike">
                <a:solidFill>
                  <a:srgbClr val="F8F2E8"/>
                </a:solidFill>
                <a:latin typeface="Plus Jakarta Sans"/>
                <a:ea typeface="Plus Jakarta Sans"/>
                <a:cs typeface="Plus Jakarta Sans"/>
                <a:sym typeface="Plus Jakarta Sans"/>
              </a:rPr>
              <a:t>Módulo 7:</a:t>
            </a:r>
            <a:endParaRPr b="1" i="0" sz="1600" u="none" cap="none" strike="noStrike">
              <a:solidFill>
                <a:srgbClr val="F8F2E8"/>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000"/>
              <a:buFont typeface="Arial"/>
              <a:buNone/>
            </a:pPr>
            <a:r>
              <a:rPr b="0" i="0" lang="es" sz="1600" u="none" cap="none" strike="noStrike">
                <a:solidFill>
                  <a:srgbClr val="F8F2E8"/>
                </a:solidFill>
                <a:latin typeface="Plus Jakarta Sans Light"/>
                <a:ea typeface="Plus Jakarta Sans Light"/>
                <a:cs typeface="Plus Jakarta Sans Light"/>
                <a:sym typeface="Plus Jakarta Sans Light"/>
              </a:rPr>
              <a:t>Diseño de Agentes y Automatización de la Creatividad</a:t>
            </a:r>
            <a:endParaRPr b="0" i="0" sz="1600" u="none" cap="none" strike="noStrike">
              <a:solidFill>
                <a:srgbClr val="F8F2E8"/>
              </a:solidFill>
              <a:latin typeface="Plus Jakarta Sans Light"/>
              <a:ea typeface="Plus Jakarta Sans Light"/>
              <a:cs typeface="Plus Jakarta Sans Light"/>
              <a:sym typeface="Plus Jakarta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Objetivos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0" name="Google Shape;100;p3"/>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Dar memoria a tus agentes con RAG usando Notion como base de conocimiento.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Automatizar la generación de contenido multi-red desde una idea semilla.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Insertar aprobación humana (Human-in-the-Loop) en flujos críticos.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Monitorear tus automatizaciones con cuadros de mando automáticos.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Integrar todo en un pipeline de contenido autónomo con control de calidad.</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Agenda</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6" name="Google Shape;106;p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Agentes con memoria RAG en Notion.</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Automatización de generación de contenido.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Human-in-the-Loop: aprobación humana.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Cuadros de mando para monitoreo.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Pre-Entrega 7: tu pipeline con HITL.</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efadbaaaba_0_0"/>
          <p:cNvSpPr txBox="1"/>
          <p:nvPr/>
        </p:nvSpPr>
        <p:spPr>
          <a:xfrm>
            <a:off x="652525" y="1605717"/>
            <a:ext cx="7911300" cy="171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¡Esta clase va a ser     grabada!	</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12" name="Google Shape;112;g3efadbaaaba_0_0"/>
          <p:cNvSpPr/>
          <p:nvPr/>
        </p:nvSpPr>
        <p:spPr>
          <a:xfrm>
            <a:off x="4457845" y="3514842"/>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18" name="Google Shape;118;p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8F2E8"/>
                </a:solidFill>
                <a:latin typeface="Plus Jakarta Sans ExtraBold"/>
                <a:ea typeface="Plus Jakarta Sans ExtraBold"/>
                <a:cs typeface="Plus Jakarta Sans ExtraBold"/>
                <a:sym typeface="Plus Jakarta Sans ExtraBold"/>
              </a:rPr>
              <a:t>Agentes con memoria RAG</a:t>
            </a:r>
            <a:endParaRPr b="0" i="0" sz="3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nvSpPr>
        <p:spPr>
          <a:xfrm>
            <a:off x="739075" y="2481425"/>
            <a:ext cx="5517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RAG (Retrieval-Augmented Generation): la IA </a:t>
            </a:r>
            <a:r>
              <a:rPr b="1" i="0" lang="es" sz="1150" u="none" cap="none" strike="noStrike">
                <a:solidFill>
                  <a:srgbClr val="171717"/>
                </a:solidFill>
                <a:latin typeface="Plus Jakarta Sans"/>
                <a:ea typeface="Plus Jakarta Sans"/>
                <a:cs typeface="Plus Jakarta Sans"/>
                <a:sym typeface="Plus Jakarta Sans"/>
              </a:rPr>
              <a:t>recupera info de una fuente externa</a:t>
            </a:r>
            <a:r>
              <a:rPr b="0" i="0" lang="es" sz="1150" u="none" cap="none" strike="noStrike">
                <a:solidFill>
                  <a:srgbClr val="171717"/>
                </a:solidFill>
                <a:latin typeface="Plus Jakarta Sans"/>
                <a:ea typeface="Plus Jakarta Sans"/>
                <a:cs typeface="Plus Jakarta Sans"/>
                <a:sym typeface="Plus Jakarta Sans"/>
              </a:rPr>
              <a:t> (tu Notion) antes de responder.</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El bibliotecario: </a:t>
            </a:r>
            <a:r>
              <a:rPr b="0" i="0" lang="es" sz="1150" u="none" cap="none" strike="noStrike">
                <a:solidFill>
                  <a:srgbClr val="171717"/>
                </a:solidFill>
                <a:latin typeface="Plus Jakarta Sans"/>
                <a:ea typeface="Plus Jakarta Sans"/>
                <a:cs typeface="Plus Jakarta Sans"/>
                <a:sym typeface="Plus Jakarta Sans"/>
              </a:rPr>
              <a:t>la IA normal responde de memoria (puede inventar). Con RAG corre a la estantería, busca el libro exacto y responde con evidencia.</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El resultado: </a:t>
            </a:r>
            <a:r>
              <a:rPr b="0" i="0" lang="es" sz="1150" u="none" cap="none" strike="noStrike">
                <a:solidFill>
                  <a:srgbClr val="171717"/>
                </a:solidFill>
                <a:latin typeface="Plus Jakarta Sans"/>
                <a:ea typeface="Plus Jakarta Sans"/>
                <a:cs typeface="Plus Jakarta Sans"/>
                <a:sym typeface="Plus Jakarta Sans"/>
              </a:rPr>
              <a:t>precisión absoluta, contexto actualizado y tus datos privados y seguros.</a:t>
            </a:r>
            <a:endParaRPr/>
          </a:p>
        </p:txBody>
      </p:sp>
      <p:sp>
        <p:nvSpPr>
          <p:cNvPr id="124" name="Google Shape;124;p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es" sz="3800" u="none" cap="none" strike="noStrike">
                <a:solidFill>
                  <a:srgbClr val="171717"/>
                </a:solidFill>
                <a:latin typeface="Plus Jakarta Sans ExtraBold"/>
                <a:ea typeface="Plus Jakarta Sans ExtraBold"/>
                <a:cs typeface="Plus Jakarta Sans ExtraBold"/>
                <a:sym typeface="Plus Jakarta Sans ExtraBold"/>
              </a:rPr>
              <a:t>¿Qué es RAG?</a:t>
            </a:r>
            <a:endParaRPr b="0" i="0" sz="38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25" name="Google Shape;125;p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Examen a libro abierto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nvSpPr>
        <p:spPr>
          <a:xfrm>
            <a:off x="739075" y="2481425"/>
            <a:ext cx="5574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Tus bases de datos dejan de ser "cementerios de datos" y se vuelven el cerebro del agente.</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Búsqueda semántica: </a:t>
            </a:r>
            <a:r>
              <a:rPr b="0" i="0" lang="es" sz="1150" u="none" cap="none" strike="noStrike">
                <a:solidFill>
                  <a:srgbClr val="171717"/>
                </a:solidFill>
                <a:latin typeface="Plus Jakarta Sans"/>
                <a:ea typeface="Plus Jakarta Sans"/>
                <a:cs typeface="Plus Jakarta Sans"/>
                <a:sym typeface="Plus Jakarta Sans"/>
              </a:rPr>
              <a:t>el agente no lee todo de golpe; busca las páginas con el significado más cercano a tu pregunta.</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Ejemplo: </a:t>
            </a:r>
            <a:r>
              <a:rPr b="0" i="0" lang="es" sz="1150" u="none" cap="none" strike="noStrike">
                <a:solidFill>
                  <a:srgbClr val="171717"/>
                </a:solidFill>
                <a:latin typeface="Plus Jakarta Sans"/>
                <a:ea typeface="Plus Jakarta Sans"/>
                <a:cs typeface="Plus Jakarta Sans"/>
                <a:sym typeface="Plus Jakarta Sans"/>
              </a:rPr>
              <a:t>preguntás "¿qué colores usamos?" → detecta la página "Identidad Visual" y responde "Azul Cobalto y Blanco Hueso".</a:t>
            </a:r>
            <a:endParaRPr/>
          </a:p>
        </p:txBody>
      </p:sp>
      <p:sp>
        <p:nvSpPr>
          <p:cNvPr id="131" name="Google Shape;131;p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Notion como cerebro</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32" name="Google Shape;132;p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Tu base de conocimiento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9"/>
          <p:cNvSpPr/>
          <p:nvPr/>
        </p:nvSpPr>
        <p:spPr>
          <a:xfrm>
            <a:off x="6824125" y="2759980"/>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Instrucciones</a:t>
            </a:r>
            <a:endParaRPr b="0" i="0" sz="1200" u="none" cap="none" strike="noStrike">
              <a:solidFill>
                <a:srgbClr val="FAFAFA"/>
              </a:solidFill>
              <a:latin typeface="Plus Jakarta Sans"/>
              <a:ea typeface="Plus Jakarta Sans"/>
              <a:cs typeface="Plus Jakarta Sans"/>
              <a:sym typeface="Plus Jakarta Sans"/>
            </a:endParaRPr>
          </a:p>
        </p:txBody>
      </p:sp>
      <p:sp>
        <p:nvSpPr>
          <p:cNvPr id="138" name="Google Shape;138;p9"/>
          <p:cNvSpPr/>
          <p:nvPr/>
        </p:nvSpPr>
        <p:spPr>
          <a:xfrm>
            <a:off x="3403275" y="2073153"/>
            <a:ext cx="2405100" cy="997200"/>
          </a:xfrm>
          <a:prstGeom prst="roundRect">
            <a:avLst>
              <a:gd fmla="val 16667" name="adj"/>
            </a:avLst>
          </a:prstGeom>
          <a:solidFill>
            <a:srgbClr val="FF632B"/>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es" sz="2000" u="none" cap="none" strike="noStrike">
                <a:solidFill>
                  <a:srgbClr val="260700"/>
                </a:solidFill>
                <a:latin typeface="Plus Jakarta Sans"/>
                <a:ea typeface="Plus Jakarta Sans"/>
                <a:cs typeface="Plus Jakarta Sans"/>
                <a:sym typeface="Plus Jakarta Sans"/>
              </a:rPr>
              <a:t>Agente RAG</a:t>
            </a:r>
            <a:endParaRPr b="1" i="0" sz="2000" u="none" cap="none" strike="noStrike">
              <a:solidFill>
                <a:srgbClr val="260700"/>
              </a:solidFill>
              <a:latin typeface="Plus Jakarta Sans"/>
              <a:ea typeface="Plus Jakarta Sans"/>
              <a:cs typeface="Plus Jakarta Sans"/>
              <a:sym typeface="Plus Jakarta Sans"/>
            </a:endParaRPr>
          </a:p>
        </p:txBody>
      </p:sp>
      <p:sp>
        <p:nvSpPr>
          <p:cNvPr id="139" name="Google Shape;139;p9"/>
          <p:cNvSpPr/>
          <p:nvPr/>
        </p:nvSpPr>
        <p:spPr>
          <a:xfrm>
            <a:off x="6824125" y="3618097"/>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el roleplay</a:t>
            </a:r>
            <a:endParaRPr b="0" i="0" sz="1200" u="none" cap="none" strike="noStrike">
              <a:solidFill>
                <a:srgbClr val="222224"/>
              </a:solidFill>
              <a:latin typeface="Plus Jakarta Sans"/>
              <a:ea typeface="Plus Jakarta Sans"/>
              <a:cs typeface="Plus Jakarta Sans"/>
              <a:sym typeface="Plus Jakarta Sans"/>
            </a:endParaRPr>
          </a:p>
        </p:txBody>
      </p:sp>
      <p:cxnSp>
        <p:nvCxnSpPr>
          <p:cNvPr id="140" name="Google Shape;140;p9"/>
          <p:cNvCxnSpPr>
            <a:stCxn id="137" idx="2"/>
            <a:endCxn id="139" idx="0"/>
          </p:cNvCxnSpPr>
          <p:nvPr/>
        </p:nvCxnSpPr>
        <p:spPr>
          <a:xfrm>
            <a:off x="7523725" y="3340180"/>
            <a:ext cx="0" cy="277800"/>
          </a:xfrm>
          <a:prstGeom prst="straightConnector1">
            <a:avLst/>
          </a:prstGeom>
          <a:noFill/>
          <a:ln cap="flat" cmpd="sng" w="9525">
            <a:solidFill>
              <a:srgbClr val="CCCCCC"/>
            </a:solidFill>
            <a:prstDash val="solid"/>
            <a:round/>
            <a:headEnd len="sm" w="sm" type="none"/>
            <a:tailEnd len="med" w="med" type="oval"/>
          </a:ln>
        </p:spPr>
      </p:cxnSp>
      <p:sp>
        <p:nvSpPr>
          <p:cNvPr id="141" name="Google Shape;141;p9"/>
          <p:cNvSpPr/>
          <p:nvPr/>
        </p:nvSpPr>
        <p:spPr>
          <a:xfrm>
            <a:off x="920675" y="27599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Acceso a datos</a:t>
            </a:r>
            <a:endParaRPr b="0" i="0" sz="1200" u="none" cap="none" strike="noStrike">
              <a:solidFill>
                <a:srgbClr val="FAFAFA"/>
              </a:solidFill>
              <a:latin typeface="Plus Jakarta Sans"/>
              <a:ea typeface="Plus Jakarta Sans"/>
              <a:cs typeface="Plus Jakarta Sans"/>
              <a:sym typeface="Plus Jakarta Sans"/>
            </a:endParaRPr>
          </a:p>
        </p:txBody>
      </p:sp>
      <p:sp>
        <p:nvSpPr>
          <p:cNvPr id="142" name="Google Shape;142;p9"/>
          <p:cNvSpPr/>
          <p:nvPr/>
        </p:nvSpPr>
        <p:spPr>
          <a:xfrm>
            <a:off x="920675" y="3618035"/>
            <a:ext cx="1399200" cy="580200"/>
          </a:xfrm>
          <a:prstGeom prst="roundRect">
            <a:avLst>
              <a:gd fmla="val 16667" name="adj"/>
            </a:avLst>
          </a:prstGeom>
          <a:noFill/>
          <a:ln cap="flat" cmpd="sng" w="9525">
            <a:solidFill>
              <a:srgbClr val="22222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222224"/>
                </a:solidFill>
                <a:latin typeface="Plus Jakarta Sans"/>
                <a:ea typeface="Plus Jakarta Sans"/>
                <a:cs typeface="Plus Jakarta Sans"/>
                <a:sym typeface="Plus Jakarta Sans"/>
              </a:rPr>
              <a:t>memoria larga</a:t>
            </a:r>
            <a:endParaRPr b="0" i="0" sz="1200" u="none" cap="none" strike="noStrike">
              <a:solidFill>
                <a:srgbClr val="222224"/>
              </a:solidFill>
              <a:latin typeface="Plus Jakarta Sans"/>
              <a:ea typeface="Plus Jakarta Sans"/>
              <a:cs typeface="Plus Jakarta Sans"/>
              <a:sym typeface="Plus Jakarta Sans"/>
            </a:endParaRPr>
          </a:p>
        </p:txBody>
      </p:sp>
      <p:cxnSp>
        <p:nvCxnSpPr>
          <p:cNvPr id="143" name="Google Shape;143;p9"/>
          <p:cNvCxnSpPr>
            <a:stCxn id="141" idx="2"/>
            <a:endCxn id="142" idx="0"/>
          </p:cNvCxnSpPr>
          <p:nvPr/>
        </p:nvCxnSpPr>
        <p:spPr>
          <a:xfrm>
            <a:off x="1620275" y="3340118"/>
            <a:ext cx="0" cy="277800"/>
          </a:xfrm>
          <a:prstGeom prst="straightConnector1">
            <a:avLst/>
          </a:prstGeom>
          <a:noFill/>
          <a:ln cap="flat" cmpd="sng" w="9525">
            <a:solidFill>
              <a:srgbClr val="CCCCCC"/>
            </a:solidFill>
            <a:prstDash val="solid"/>
            <a:round/>
            <a:headEnd len="sm" w="sm" type="none"/>
            <a:tailEnd len="med" w="med" type="oval"/>
          </a:ln>
        </p:spPr>
      </p:cxnSp>
      <p:sp>
        <p:nvSpPr>
          <p:cNvPr id="144" name="Google Shape;144;p9"/>
          <p:cNvSpPr/>
          <p:nvPr/>
        </p:nvSpPr>
        <p:spPr>
          <a:xfrm>
            <a:off x="3906225" y="36180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Memoria del chat</a:t>
            </a:r>
            <a:endParaRPr b="0" i="0" sz="1200" u="none" cap="none" strike="noStrike">
              <a:solidFill>
                <a:srgbClr val="FAFAFA"/>
              </a:solidFill>
              <a:latin typeface="Plus Jakarta Sans"/>
              <a:ea typeface="Plus Jakarta Sans"/>
              <a:cs typeface="Plus Jakarta Sans"/>
              <a:sym typeface="Plus Jakarta Sans"/>
            </a:endParaRPr>
          </a:p>
        </p:txBody>
      </p:sp>
      <p:cxnSp>
        <p:nvCxnSpPr>
          <p:cNvPr id="145" name="Google Shape;145;p9"/>
          <p:cNvCxnSpPr>
            <a:stCxn id="144" idx="0"/>
            <a:endCxn id="138" idx="2"/>
          </p:cNvCxnSpPr>
          <p:nvPr/>
        </p:nvCxnSpPr>
        <p:spPr>
          <a:xfrm rot="10800000">
            <a:off x="4605825" y="3070293"/>
            <a:ext cx="0" cy="547800"/>
          </a:xfrm>
          <a:prstGeom prst="straightConnector1">
            <a:avLst/>
          </a:prstGeom>
          <a:noFill/>
          <a:ln cap="flat" cmpd="sng" w="9525">
            <a:solidFill>
              <a:srgbClr val="CCCCCC"/>
            </a:solidFill>
            <a:prstDash val="solid"/>
            <a:round/>
            <a:headEnd len="med" w="med" type="oval"/>
            <a:tailEnd len="sm" w="sm" type="none"/>
          </a:ln>
        </p:spPr>
      </p:cxnSp>
      <p:sp>
        <p:nvSpPr>
          <p:cNvPr id="146" name="Google Shape;146;p9"/>
          <p:cNvSpPr/>
          <p:nvPr/>
        </p:nvSpPr>
        <p:spPr>
          <a:xfrm>
            <a:off x="920675" y="141141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memoria corta</a:t>
            </a:r>
            <a:endParaRPr b="0" i="0" sz="1200" u="none" cap="none" strike="noStrike">
              <a:solidFill>
                <a:srgbClr val="FAFAFA"/>
              </a:solidFill>
              <a:latin typeface="Plus Jakarta Sans"/>
              <a:ea typeface="Plus Jakarta Sans"/>
              <a:cs typeface="Plus Jakarta Sans"/>
              <a:sym typeface="Plus Jakarta Sans"/>
            </a:endParaRPr>
          </a:p>
        </p:txBody>
      </p:sp>
      <p:sp>
        <p:nvSpPr>
          <p:cNvPr id="147" name="Google Shape;147;p9"/>
          <p:cNvSpPr/>
          <p:nvPr/>
        </p:nvSpPr>
        <p:spPr>
          <a:xfrm>
            <a:off x="6824125" y="1411468"/>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Fuente</a:t>
            </a:r>
            <a:endParaRPr b="0" i="0" sz="1200" u="none" cap="none" strike="noStrike">
              <a:solidFill>
                <a:srgbClr val="FAFAFA"/>
              </a:solidFill>
              <a:latin typeface="Plus Jakarta Sans"/>
              <a:ea typeface="Plus Jakarta Sans"/>
              <a:cs typeface="Plus Jakarta Sans"/>
              <a:sym typeface="Plus Jakarta Sans"/>
            </a:endParaRPr>
          </a:p>
        </p:txBody>
      </p:sp>
      <p:cxnSp>
        <p:nvCxnSpPr>
          <p:cNvPr id="148" name="Google Shape;148;p9"/>
          <p:cNvCxnSpPr>
            <a:stCxn id="146" idx="3"/>
            <a:endCxn id="138" idx="1"/>
          </p:cNvCxnSpPr>
          <p:nvPr/>
        </p:nvCxnSpPr>
        <p:spPr>
          <a:xfrm>
            <a:off x="2319875" y="1701518"/>
            <a:ext cx="1083300" cy="870300"/>
          </a:xfrm>
          <a:prstGeom prst="bentConnector3">
            <a:avLst>
              <a:gd fmla="val 50005" name="adj1"/>
            </a:avLst>
          </a:prstGeom>
          <a:noFill/>
          <a:ln cap="flat" cmpd="sng" w="9525">
            <a:solidFill>
              <a:srgbClr val="CCCCCC"/>
            </a:solidFill>
            <a:prstDash val="solid"/>
            <a:round/>
            <a:headEnd len="med" w="med" type="oval"/>
            <a:tailEnd len="sm" w="sm" type="none"/>
          </a:ln>
        </p:spPr>
      </p:cxnSp>
      <p:cxnSp>
        <p:nvCxnSpPr>
          <p:cNvPr id="149" name="Google Shape;149;p9"/>
          <p:cNvCxnSpPr>
            <a:stCxn id="147" idx="1"/>
            <a:endCxn id="138" idx="3"/>
          </p:cNvCxnSpPr>
          <p:nvPr/>
        </p:nvCxnSpPr>
        <p:spPr>
          <a:xfrm flipH="1">
            <a:off x="5808325" y="1701568"/>
            <a:ext cx="1015800" cy="870300"/>
          </a:xfrm>
          <a:prstGeom prst="bentConnector3">
            <a:avLst>
              <a:gd fmla="val 49998" name="adj1"/>
            </a:avLst>
          </a:prstGeom>
          <a:noFill/>
          <a:ln cap="flat" cmpd="sng" w="9525">
            <a:solidFill>
              <a:srgbClr val="CCCCCC"/>
            </a:solidFill>
            <a:prstDash val="solid"/>
            <a:round/>
            <a:headEnd len="med" w="med" type="oval"/>
            <a:tailEnd len="sm" w="sm" type="none"/>
          </a:ln>
        </p:spPr>
      </p:cxnSp>
      <p:cxnSp>
        <p:nvCxnSpPr>
          <p:cNvPr id="150" name="Google Shape;150;p9"/>
          <p:cNvCxnSpPr>
            <a:stCxn id="141" idx="0"/>
            <a:endCxn id="138" idx="1"/>
          </p:cNvCxnSpPr>
          <p:nvPr/>
        </p:nvCxnSpPr>
        <p:spPr>
          <a:xfrm rot="-5400000">
            <a:off x="2417675" y="1774418"/>
            <a:ext cx="188100" cy="1782900"/>
          </a:xfrm>
          <a:prstGeom prst="bentConnector2">
            <a:avLst/>
          </a:prstGeom>
          <a:noFill/>
          <a:ln cap="flat" cmpd="sng" w="9525">
            <a:solidFill>
              <a:srgbClr val="CCCCCC"/>
            </a:solidFill>
            <a:prstDash val="solid"/>
            <a:round/>
            <a:headEnd len="med" w="med" type="oval"/>
            <a:tailEnd len="sm" w="sm" type="none"/>
          </a:ln>
        </p:spPr>
      </p:cxnSp>
      <p:cxnSp>
        <p:nvCxnSpPr>
          <p:cNvPr id="151" name="Google Shape;151;p9"/>
          <p:cNvCxnSpPr>
            <a:stCxn id="138" idx="3"/>
            <a:endCxn id="137" idx="0"/>
          </p:cNvCxnSpPr>
          <p:nvPr/>
        </p:nvCxnSpPr>
        <p:spPr>
          <a:xfrm>
            <a:off x="5808375" y="2571753"/>
            <a:ext cx="1715400" cy="188100"/>
          </a:xfrm>
          <a:prstGeom prst="bentConnector2">
            <a:avLst/>
          </a:prstGeom>
          <a:noFill/>
          <a:ln cap="flat" cmpd="sng" w="9525">
            <a:solidFill>
              <a:srgbClr val="CCCCCC"/>
            </a:solidFill>
            <a:prstDash val="solid"/>
            <a:round/>
            <a:headEnd len="sm" w="sm" type="none"/>
            <a:tailEnd len="med" w="med" type="oval"/>
          </a:ln>
        </p:spPr>
      </p:cxnSp>
      <p:sp>
        <p:nvSpPr>
          <p:cNvPr id="152" name="Google Shape;152;p9"/>
          <p:cNvSpPr/>
          <p:nvPr/>
        </p:nvSpPr>
        <p:spPr>
          <a:xfrm>
            <a:off x="3906225" y="945193"/>
            <a:ext cx="1399200" cy="580200"/>
          </a:xfrm>
          <a:prstGeom prst="roundRect">
            <a:avLst>
              <a:gd fmla="val 16667" name="adj"/>
            </a:avLst>
          </a:prstGeom>
          <a:solidFill>
            <a:srgbClr val="260700"/>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s" sz="1200" u="none" cap="none" strike="noStrike">
                <a:solidFill>
                  <a:srgbClr val="FAFAFA"/>
                </a:solidFill>
                <a:latin typeface="Plus Jakarta Sans"/>
                <a:ea typeface="Plus Jakarta Sans"/>
                <a:cs typeface="Plus Jakarta Sans"/>
                <a:sym typeface="Plus Jakarta Sans"/>
              </a:rPr>
              <a:t>Notion validado</a:t>
            </a:r>
            <a:endParaRPr b="0" i="0" sz="1200" u="none" cap="none" strike="noStrike">
              <a:solidFill>
                <a:srgbClr val="FAFAFA"/>
              </a:solidFill>
              <a:latin typeface="Plus Jakarta Sans"/>
              <a:ea typeface="Plus Jakarta Sans"/>
              <a:cs typeface="Plus Jakarta Sans"/>
              <a:sym typeface="Plus Jakarta Sans"/>
            </a:endParaRPr>
          </a:p>
        </p:txBody>
      </p:sp>
      <p:cxnSp>
        <p:nvCxnSpPr>
          <p:cNvPr id="153" name="Google Shape;153;p9"/>
          <p:cNvCxnSpPr>
            <a:stCxn id="138" idx="0"/>
            <a:endCxn id="152" idx="2"/>
          </p:cNvCxnSpPr>
          <p:nvPr/>
        </p:nvCxnSpPr>
        <p:spPr>
          <a:xfrm rot="10800000">
            <a:off x="4605825" y="1525353"/>
            <a:ext cx="0" cy="547800"/>
          </a:xfrm>
          <a:prstGeom prst="straightConnector1">
            <a:avLst/>
          </a:prstGeom>
          <a:noFill/>
          <a:ln cap="flat" cmpd="sng" w="9525">
            <a:solidFill>
              <a:srgbClr val="CCCCCC"/>
            </a:solidFill>
            <a:prstDash val="solid"/>
            <a:round/>
            <a:headEnd len="sm" w="sm" type="none"/>
            <a:tailEnd len="med" w="med" type="oval"/>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0"/>
          <p:cNvSpPr txBox="1"/>
          <p:nvPr/>
        </p:nvSpPr>
        <p:spPr>
          <a:xfrm>
            <a:off x="739075" y="2481425"/>
            <a:ext cx="580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00"/>
              <a:buFont typeface="Arial"/>
              <a:buNone/>
            </a:pPr>
            <a:r>
              <a:rPr b="0" i="0" lang="es" sz="1100" u="none" cap="none" strike="noStrike">
                <a:solidFill>
                  <a:srgbClr val="171717"/>
                </a:solidFill>
                <a:latin typeface="Plus Jakarta Sans"/>
                <a:ea typeface="Plus Jakarta Sans"/>
                <a:cs typeface="Plus Jakarta Sans"/>
                <a:sym typeface="Plus Jakarta Sans"/>
              </a:rPr>
              <a:t>Creá una base "Base de Conocimiento": cada fila, un trozo atómico (política, horarios, manual).</a:t>
            </a:r>
            <a:endParaRPr/>
          </a:p>
          <a:p>
            <a:pPr indent="0" lvl="0" marL="0" marR="0" rtl="0" algn="l">
              <a:lnSpc>
                <a:spcPct val="110000"/>
              </a:lnSpc>
              <a:spcBef>
                <a:spcPts val="250"/>
              </a:spcBef>
              <a:spcAft>
                <a:spcPts val="0"/>
              </a:spcAft>
              <a:buClr>
                <a:srgbClr val="000000"/>
              </a:buClr>
              <a:buSzPts val="1100"/>
              <a:buFont typeface="Arial"/>
              <a:buNone/>
            </a:pPr>
            <a:r>
              <a:rPr b="0" i="0" lang="es" sz="1100" u="none" cap="none" strike="noStrike">
                <a:solidFill>
                  <a:srgbClr val="171717"/>
                </a:solidFill>
                <a:latin typeface="Plus Jakarta Sans"/>
                <a:ea typeface="Plus Jakarta Sans"/>
                <a:cs typeface="Plus Jakarta Sans"/>
                <a:sym typeface="Plus Jakarta Sans"/>
              </a:rPr>
              <a:t>Creá el agente y vinculá esa base como su fuente.</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El prompt clave: </a:t>
            </a:r>
            <a:r>
              <a:rPr b="0" i="0" lang="es" sz="1100" u="none" cap="none" strike="noStrike">
                <a:solidFill>
                  <a:srgbClr val="171717"/>
                </a:solidFill>
                <a:latin typeface="Plus Jakarta Sans"/>
                <a:ea typeface="Plus Jakarta Sans"/>
                <a:cs typeface="Plus Jakarta Sans"/>
                <a:sym typeface="Plus Jakarta Sans"/>
              </a:rPr>
              <a:t>"Respondé solo con la base vinculada. Si no está, decí que no lo sabés. Citá la página".</a:t>
            </a:r>
            <a:endParaRPr/>
          </a:p>
          <a:p>
            <a:pPr indent="0" lvl="0" marL="0" marR="0" rtl="0" algn="l">
              <a:lnSpc>
                <a:spcPct val="110000"/>
              </a:lnSpc>
              <a:spcBef>
                <a:spcPts val="250"/>
              </a:spcBef>
              <a:spcAft>
                <a:spcPts val="0"/>
              </a:spcAft>
              <a:buClr>
                <a:srgbClr val="000000"/>
              </a:buClr>
              <a:buSzPts val="1100"/>
              <a:buFont typeface="Arial"/>
              <a:buNone/>
            </a:pPr>
            <a:r>
              <a:rPr b="1" i="0" lang="es" sz="1100" u="none" cap="none" strike="noStrike">
                <a:solidFill>
                  <a:srgbClr val="171717"/>
                </a:solidFill>
                <a:latin typeface="Plus Jakarta Sans"/>
                <a:ea typeface="Plus Jakarta Sans"/>
                <a:cs typeface="Plus Jakarta Sans"/>
                <a:sym typeface="Plus Jakarta Sans"/>
              </a:rPr>
              <a:t>Prueba de fuego: </a:t>
            </a:r>
            <a:r>
              <a:rPr b="0" i="0" lang="es" sz="1100" u="none" cap="none" strike="noStrike">
                <a:solidFill>
                  <a:srgbClr val="171717"/>
                </a:solidFill>
                <a:latin typeface="Plus Jakarta Sans"/>
                <a:ea typeface="Plus Jakarta Sans"/>
                <a:cs typeface="Plus Jakarta Sans"/>
                <a:sym typeface="Plus Jakarta Sans"/>
              </a:rPr>
              <a:t>preguntale algo escondido en un doc. Si responde citándolo, ¡funciona!</a:t>
            </a:r>
            <a:endParaRPr/>
          </a:p>
        </p:txBody>
      </p:sp>
      <p:sp>
        <p:nvSpPr>
          <p:cNvPr id="159" name="Google Shape;159;p1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Tu primer agente RAG</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60" name="Google Shape;160;p1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Paso a paso en Notion</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1"/>
          <p:cNvSpPr txBox="1"/>
          <p:nvPr/>
        </p:nvSpPr>
        <p:spPr>
          <a:xfrm>
            <a:off x="601100" y="678225"/>
            <a:ext cx="82200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0" i="0" lang="es" sz="3700" u="none" cap="none" strike="noStrike">
                <a:solidFill>
                  <a:srgbClr val="260700"/>
                </a:solidFill>
                <a:latin typeface="Plus Jakarta Sans ExtraBold"/>
                <a:ea typeface="Plus Jakarta Sans ExtraBold"/>
                <a:cs typeface="Plus Jakarta Sans ExtraBold"/>
                <a:sym typeface="Plus Jakarta Sans ExtraBold"/>
              </a:rPr>
              <a:t>Errores comunes al armar un agente RAG</a:t>
            </a:r>
            <a:endParaRPr b="0" i="0" sz="3700" u="none" cap="none" strike="noStrike">
              <a:solidFill>
                <a:srgbClr val="2607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166" name="Google Shape;166;p11"/>
          <p:cNvSpPr/>
          <p:nvPr/>
        </p:nvSpPr>
        <p:spPr>
          <a:xfrm flipH="1">
            <a:off x="752578" y="2177175"/>
            <a:ext cx="2328900" cy="2328900"/>
          </a:xfrm>
          <a:prstGeom prst="foldedCorner">
            <a:avLst>
              <a:gd fmla="val 16667" name="adj"/>
            </a:avLst>
          </a:prstGeom>
          <a:solidFill>
            <a:srgbClr val="FF632B"/>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050"/>
              <a:buFont typeface="Arial"/>
              <a:buNone/>
            </a:pPr>
            <a:r>
              <a:rPr b="1" i="0" lang="es" sz="1050" u="none" cap="none" strike="noStrike">
                <a:solidFill>
                  <a:srgbClr val="171717"/>
                </a:solidFill>
                <a:latin typeface="Plus Jakarta Sans"/>
                <a:ea typeface="Plus Jakarta Sans"/>
                <a:cs typeface="Plus Jakarta Sans"/>
                <a:sym typeface="Plus Jakarta Sans"/>
              </a:rPr>
              <a:t>Info desactualizada</a:t>
            </a:r>
            <a:endParaRPr/>
          </a:p>
          <a:p>
            <a:pPr indent="0" lvl="0" marL="0" marR="0" rtl="0" algn="ctr">
              <a:lnSpc>
                <a:spcPct val="105000"/>
              </a:lnSpc>
              <a:spcBef>
                <a:spcPts val="200"/>
              </a:spcBef>
              <a:spcAft>
                <a:spcPts val="0"/>
              </a:spcAft>
              <a:buClr>
                <a:srgbClr val="000000"/>
              </a:buClr>
              <a:buSzPts val="950"/>
              <a:buFont typeface="Arial"/>
              <a:buNone/>
            </a:pPr>
            <a:r>
              <a:rPr b="0" i="0" lang="es" sz="950" u="none" cap="none" strike="noStrike">
                <a:solidFill>
                  <a:srgbClr val="171717"/>
                </a:solidFill>
                <a:latin typeface="Plus Jakarta Sans"/>
                <a:ea typeface="Plus Jakarta Sans"/>
                <a:cs typeface="Plus Jakarta Sans"/>
                <a:sym typeface="Plus Jakarta Sans"/>
              </a:rPr>
              <a:t>Borradores o notas contradictorias confunden al agente. Dale solo una vista "Verificada".</a:t>
            </a:r>
            <a:endParaRPr/>
          </a:p>
        </p:txBody>
      </p:sp>
      <p:sp>
        <p:nvSpPr>
          <p:cNvPr id="167" name="Google Shape;167;p11"/>
          <p:cNvSpPr/>
          <p:nvPr/>
        </p:nvSpPr>
        <p:spPr>
          <a:xfrm flipH="1">
            <a:off x="3215420" y="2177175"/>
            <a:ext cx="2328900" cy="2328900"/>
          </a:xfrm>
          <a:prstGeom prst="foldedCorner">
            <a:avLst>
              <a:gd fmla="val 16667" name="adj"/>
            </a:avLst>
          </a:prstGeom>
          <a:solidFill>
            <a:srgbClr val="FE64A3"/>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050"/>
              <a:buFont typeface="Arial"/>
              <a:buNone/>
            </a:pPr>
            <a:r>
              <a:rPr b="1" i="0" lang="es" sz="1050" u="none" cap="none" strike="noStrike">
                <a:solidFill>
                  <a:srgbClr val="171717"/>
                </a:solidFill>
                <a:latin typeface="Plus Jakarta Sans"/>
                <a:ea typeface="Plus Jakarta Sans"/>
                <a:cs typeface="Plus Jakarta Sans"/>
                <a:sym typeface="Plus Jakarta Sans"/>
              </a:rPr>
              <a:t>Instrucciones vagas</a:t>
            </a:r>
            <a:endParaRPr/>
          </a:p>
          <a:p>
            <a:pPr indent="0" lvl="0" marL="0" marR="0" rtl="0" algn="ctr">
              <a:lnSpc>
                <a:spcPct val="105000"/>
              </a:lnSpc>
              <a:spcBef>
                <a:spcPts val="200"/>
              </a:spcBef>
              <a:spcAft>
                <a:spcPts val="0"/>
              </a:spcAft>
              <a:buClr>
                <a:srgbClr val="000000"/>
              </a:buClr>
              <a:buSzPts val="950"/>
              <a:buFont typeface="Arial"/>
              <a:buNone/>
            </a:pPr>
            <a:r>
              <a:rPr b="0" i="0" lang="es" sz="950" u="none" cap="none" strike="noStrike">
                <a:solidFill>
                  <a:srgbClr val="171717"/>
                </a:solidFill>
                <a:latin typeface="Plus Jakarta Sans"/>
                <a:ea typeface="Plus Jakarta Sans"/>
                <a:cs typeface="Plus Jakarta Sans"/>
                <a:sym typeface="Plus Jakarta Sans"/>
              </a:rPr>
              <a:t>"Ayudame con dudas" hace que use internet. Decile: "Tu única fuente es la base vinculada".</a:t>
            </a:r>
            <a:endParaRPr/>
          </a:p>
        </p:txBody>
      </p:sp>
      <p:sp>
        <p:nvSpPr>
          <p:cNvPr id="168" name="Google Shape;168;p11"/>
          <p:cNvSpPr/>
          <p:nvPr/>
        </p:nvSpPr>
        <p:spPr>
          <a:xfrm flipH="1">
            <a:off x="5741925" y="2177175"/>
            <a:ext cx="2328900" cy="2328900"/>
          </a:xfrm>
          <a:prstGeom prst="foldedCorner">
            <a:avLst>
              <a:gd fmla="val 16667" name="adj"/>
            </a:avLst>
          </a:prstGeom>
          <a:solidFill>
            <a:srgbClr val="FDAB2E"/>
          </a:solidFill>
          <a:ln>
            <a:noFill/>
          </a:ln>
        </p:spPr>
        <p:txBody>
          <a:bodyPr anchorCtr="0" anchor="ctr" bIns="80250" lIns="80250" spcFirstLastPara="1" rIns="80250" wrap="square" tIns="80250">
            <a:noAutofit/>
          </a:bodyPr>
          <a:lstStyle/>
          <a:p>
            <a:pPr indent="0" lvl="0" marL="0" marR="0" rtl="0" algn="ctr">
              <a:lnSpc>
                <a:spcPct val="105000"/>
              </a:lnSpc>
              <a:spcBef>
                <a:spcPts val="0"/>
              </a:spcBef>
              <a:spcAft>
                <a:spcPts val="0"/>
              </a:spcAft>
              <a:buClr>
                <a:srgbClr val="000000"/>
              </a:buClr>
              <a:buSzPts val="1050"/>
              <a:buFont typeface="Arial"/>
              <a:buNone/>
            </a:pPr>
            <a:r>
              <a:rPr b="1" i="0" lang="es" sz="1050" u="none" cap="none" strike="noStrike">
                <a:solidFill>
                  <a:srgbClr val="171717"/>
                </a:solidFill>
                <a:latin typeface="Plus Jakarta Sans"/>
                <a:ea typeface="Plus Jakarta Sans"/>
                <a:cs typeface="Plus Jakarta Sans"/>
                <a:sym typeface="Plus Jakarta Sans"/>
              </a:rPr>
              <a:t>Páginas gigantes (ruido)</a:t>
            </a:r>
            <a:endParaRPr/>
          </a:p>
          <a:p>
            <a:pPr indent="0" lvl="0" marL="0" marR="0" rtl="0" algn="ctr">
              <a:lnSpc>
                <a:spcPct val="105000"/>
              </a:lnSpc>
              <a:spcBef>
                <a:spcPts val="200"/>
              </a:spcBef>
              <a:spcAft>
                <a:spcPts val="0"/>
              </a:spcAft>
              <a:buClr>
                <a:srgbClr val="000000"/>
              </a:buClr>
              <a:buSzPts val="950"/>
              <a:buFont typeface="Arial"/>
              <a:buNone/>
            </a:pPr>
            <a:r>
              <a:rPr b="0" i="0" lang="es" sz="950" u="none" cap="none" strike="noStrike">
                <a:solidFill>
                  <a:srgbClr val="171717"/>
                </a:solidFill>
                <a:latin typeface="Plus Jakarta Sans"/>
                <a:ea typeface="Plus Jakarta Sans"/>
                <a:cs typeface="Plus Jakarta Sans"/>
                <a:sym typeface="Plus Jakarta Sans"/>
              </a:rPr>
              <a:t>Una página de 50 págs le cuesta. Dividí en piezas chicas y atómicas: un tema por página.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2"/>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12"/>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175" name="Google Shape;175;p12"/>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pensar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76" name="Google Shape;176;p12"/>
          <p:cNvSpPr txBox="1"/>
          <p:nvPr/>
        </p:nvSpPr>
        <p:spPr>
          <a:xfrm>
            <a:off x="5738675" y="3019825"/>
            <a:ext cx="3082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Pensá en las preguntas que tu equipo (o vos) repite todo el tiempo: precios, políticas, cómo se hace X. Esa lista es exactamente la base de conocimiento de tu primer agente RAG.</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3"/>
          <p:cNvSpPr txBox="1"/>
          <p:nvPr/>
        </p:nvSpPr>
        <p:spPr>
          <a:xfrm>
            <a:off x="739075" y="2481425"/>
            <a:ext cx="59595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darle memoria a tu agente.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Creá una base de conocimiento (RAG) en Notion/Airtable.</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Cargá info atómica y validada: un tema por página/fila (sin manuales kilométricos).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cerebro de datos curado. Ladrillo 1 de la Pre-Entrega 7.</a:t>
            </a:r>
            <a:endParaRPr/>
          </a:p>
        </p:txBody>
      </p:sp>
      <p:sp>
        <p:nvSpPr>
          <p:cNvPr id="182" name="Google Shape;182;p1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1</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183" name="Google Shape;183;p1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Tu base de conocimiento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4"/>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189" name="Google Shape;189;p14"/>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8F2E8"/>
                </a:solidFill>
                <a:latin typeface="Plus Jakarta Sans ExtraBold"/>
                <a:ea typeface="Plus Jakarta Sans ExtraBold"/>
                <a:cs typeface="Plus Jakarta Sans ExtraBold"/>
                <a:sym typeface="Plus Jakarta Sans ExtraBold"/>
              </a:rPr>
              <a:t>Generación de contenido</a:t>
            </a:r>
            <a:endParaRPr b="0" i="0" sz="3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Captura (Trigger): </a:t>
            </a:r>
            <a:r>
              <a:rPr b="0" i="0" lang="es" sz="1300" u="none" cap="none" strike="noStrike">
                <a:solidFill>
                  <a:srgbClr val="171717"/>
                </a:solidFill>
                <a:latin typeface="Plus Jakarta Sans"/>
                <a:ea typeface="Plus Jakarta Sans"/>
                <a:cs typeface="Plus Jakarta Sans"/>
                <a:sym typeface="Plus Jakarta Sans"/>
              </a:rPr>
              <a:t>nace la idea en Airtable o Notion.</a:t>
            </a:r>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Procesamiento (IA): </a:t>
            </a:r>
            <a:r>
              <a:rPr b="0" i="0" lang="es" sz="1300" u="none" cap="none" strike="noStrike">
                <a:solidFill>
                  <a:srgbClr val="171717"/>
                </a:solidFill>
                <a:latin typeface="Plus Jakarta Sans"/>
                <a:ea typeface="Plus Jakarta Sans"/>
                <a:cs typeface="Plus Jakarta Sans"/>
                <a:sym typeface="Plus Jakarta Sans"/>
              </a:rPr>
              <a:t>Claude/GPT transforman la idea en piezas.</a:t>
            </a:r>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Formateo: </a:t>
            </a:r>
            <a:r>
              <a:rPr b="0" i="0" lang="es" sz="1300" u="none" cap="none" strike="noStrike">
                <a:solidFill>
                  <a:srgbClr val="171717"/>
                </a:solidFill>
                <a:latin typeface="Plus Jakarta Sans"/>
                <a:ea typeface="Plus Jakarta Sans"/>
                <a:cs typeface="Plus Jakarta Sans"/>
                <a:sym typeface="Plus Jakarta Sans"/>
              </a:rPr>
              <a:t>adaptás tono y largo para cada red.</a:t>
            </a:r>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Distribución: </a:t>
            </a:r>
            <a:r>
              <a:rPr b="0" i="0" lang="es" sz="1300" u="none" cap="none" strike="noStrike">
                <a:solidFill>
                  <a:srgbClr val="171717"/>
                </a:solidFill>
                <a:latin typeface="Plus Jakarta Sans"/>
                <a:ea typeface="Plus Jakarta Sans"/>
                <a:cs typeface="Plus Jakarta Sans"/>
                <a:sym typeface="Plus Jakarta Sans"/>
              </a:rPr>
              <a:t>el contenido va a su destino (Slack, Gmail, "Listo para publicar").</a:t>
            </a:r>
            <a:endParaRPr/>
          </a:p>
          <a:p>
            <a:pPr indent="0" lvl="0" marL="0" marR="0" rtl="0" algn="l">
              <a:lnSpc>
                <a:spcPct val="110000"/>
              </a:lnSpc>
              <a:spcBef>
                <a:spcPts val="30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La IA ejecuta lo mecánico; vos definís la estructura.</a:t>
            </a:r>
            <a:endParaRPr/>
          </a:p>
        </p:txBody>
      </p:sp>
      <p:sp>
        <p:nvSpPr>
          <p:cNvPr id="195" name="Google Shape;195;p1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FF632B"/>
                </a:solidFill>
                <a:latin typeface="Plus Jakarta Sans ExtraBold"/>
                <a:ea typeface="Plus Jakarta Sans ExtraBold"/>
                <a:cs typeface="Plus Jakarta Sans ExtraBold"/>
                <a:sym typeface="Plus Jakarta Sans ExtraBold"/>
              </a:rPr>
              <a:t>El ciclo del contenido</a:t>
            </a:r>
            <a:endParaRPr b="0" i="0" sz="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96" name="Google Shape;196;p1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De la idea a la publicación</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6"/>
          <p:cNvSpPr txBox="1"/>
          <p:nvPr/>
        </p:nvSpPr>
        <p:spPr>
          <a:xfrm>
            <a:off x="739075" y="2481425"/>
            <a:ext cx="6372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No escribís el post: solo le das el "qué". Ej: "Beneficios de Notion para equipos chicos" + "tono divertido".</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Airtable como centro de comando: </a:t>
            </a:r>
            <a:r>
              <a:rPr b="0" i="0" lang="es" sz="1150" u="none" cap="none" strike="noStrike">
                <a:solidFill>
                  <a:srgbClr val="171717"/>
                </a:solidFill>
                <a:latin typeface="Plus Jakarta Sans"/>
                <a:ea typeface="Plus Jakarta Sans"/>
                <a:cs typeface="Plus Jakarta Sans"/>
                <a:sym typeface="Plus Jakarta Sans"/>
              </a:rPr>
              <a:t>una vista "Por Procesar" dispara el flujo; los campos Tono, Audiencia y Keywords pasan como variables a la IA.</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El cerebro: </a:t>
            </a:r>
            <a:r>
              <a:rPr b="0" i="0" lang="es" sz="1150" u="none" cap="none" strike="noStrike">
                <a:solidFill>
                  <a:srgbClr val="171717"/>
                </a:solidFill>
                <a:latin typeface="Plus Jakarta Sans"/>
                <a:ea typeface="Plus Jakarta Sans"/>
                <a:cs typeface="Plus Jakarta Sans"/>
                <a:sym typeface="Plus Jakarta Sans"/>
              </a:rPr>
              <a:t>Claude para un estilo más humano; GPT si necesitás JSON estricto.</a:t>
            </a:r>
            <a:endParaRPr/>
          </a:p>
        </p:txBody>
      </p:sp>
      <p:sp>
        <p:nvSpPr>
          <p:cNvPr id="202" name="Google Shape;202;p1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171717"/>
                </a:solidFill>
                <a:latin typeface="Plus Jakarta Sans ExtraBold"/>
                <a:ea typeface="Plus Jakarta Sans ExtraBold"/>
                <a:cs typeface="Plus Jakarta Sans ExtraBold"/>
                <a:sym typeface="Plus Jakarta Sans ExtraBold"/>
              </a:rPr>
              <a:t>La idea semilla</a:t>
            </a:r>
            <a:endParaRPr b="0" i="0" sz="36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03" name="Google Shape;203;p1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input mínimo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¿Qué delegar?</a:t>
            </a:r>
            <a:r>
              <a:rPr b="0" i="0" lang="es" sz="2400" u="none" cap="none" strike="noStrike">
                <a:solidFill>
                  <a:srgbClr val="260700"/>
                </a:solidFill>
                <a:latin typeface="Plus Jakarta Sans"/>
                <a:ea typeface="Plus Jakarta Sans"/>
                <a:cs typeface="Plus Jakarta Sans"/>
                <a:sym typeface="Plus Jakarta Sans"/>
              </a:rPr>
              <a:t> a la IA</a:t>
            </a:r>
            <a:endParaRPr b="0" i="0" sz="2400" u="none" cap="none" strike="noStrike">
              <a:solidFill>
                <a:srgbClr val="260700"/>
              </a:solidFill>
              <a:latin typeface="Plus Jakarta Sans"/>
              <a:ea typeface="Plus Jakarta Sans"/>
              <a:cs typeface="Plus Jakarta Sans"/>
              <a:sym typeface="Plus Jakarta Sans"/>
            </a:endParaRPr>
          </a:p>
        </p:txBody>
      </p:sp>
      <p:sp>
        <p:nvSpPr>
          <p:cNvPr id="209" name="Google Shape;209;p17"/>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Evergreen → Sí</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Tips, tutoriales, conceptos. Joyas que programás y reutilizás. Automatizá.</a:t>
            </a:r>
            <a:endParaRPr/>
          </a:p>
        </p:txBody>
      </p:sp>
      <p:sp>
        <p:nvSpPr>
          <p:cNvPr id="210" name="Google Shape;210;p17"/>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Actualidad → Híbrido</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Reacciones a tendencias: automatizá la estructura, pero la opinión es tuya.</a:t>
            </a:r>
            <a:endParaRPr/>
          </a:p>
        </p:txBody>
      </p:sp>
      <p:sp>
        <p:nvSpPr>
          <p:cNvPr id="211" name="Google Shape;211;p17"/>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Empatía → No</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Responder comentarios o una crisis de marca. Acá el toque humano es irreemplazable.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8"/>
          <p:cNvSpPr txBox="1"/>
          <p:nvPr/>
        </p:nvSpPr>
        <p:spPr>
          <a:xfrm>
            <a:off x="739075" y="2481425"/>
            <a:ext cx="5613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El miedo del emprendedor: que la audiencia note que el contenido es artificial.</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Variables de marca: </a:t>
            </a:r>
            <a:r>
              <a:rPr b="0" i="0" lang="es" sz="1150" u="none" cap="none" strike="noStrike">
                <a:solidFill>
                  <a:srgbClr val="171717"/>
                </a:solidFill>
                <a:latin typeface="Plus Jakarta Sans"/>
                <a:ea typeface="Plus Jakarta Sans"/>
                <a:cs typeface="Plus Jakarta Sans"/>
                <a:sym typeface="Plus Jakarta Sans"/>
              </a:rPr>
              <a:t>sumá una tabla con tus muletillas ("¡Vamos!"), lo que tu marca nunca diría y tu formato de firma.</a:t>
            </a:r>
            <a:endParaRPr/>
          </a:p>
          <a:p>
            <a:pPr indent="0" lvl="0" marL="0" marR="0" rtl="0" algn="l">
              <a:lnSpc>
                <a:spcPct val="110000"/>
              </a:lnSpc>
              <a:spcBef>
                <a:spcPts val="3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Al pasar esto a la IA, el texto deja de sonar a manual genérico y empieza a sonar como vos.</a:t>
            </a:r>
            <a:endParaRPr/>
          </a:p>
        </p:txBody>
      </p:sp>
      <p:sp>
        <p:nvSpPr>
          <p:cNvPr id="217" name="Google Shape;217;p1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Evitá el efecto robot</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18" name="Google Shape;218;p1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171717"/>
                </a:solidFill>
                <a:highlight>
                  <a:srgbClr val="FDAB2E"/>
                </a:highlight>
                <a:latin typeface="Plus Jakarta Sans"/>
                <a:ea typeface="Plus Jakarta Sans"/>
                <a:cs typeface="Plus Jakarta Sans"/>
                <a:sym typeface="Plus Jakarta Sans"/>
              </a:rPr>
              <a:t>Humanizá con voz de marca</a:t>
            </a:r>
            <a:endParaRPr b="0" i="0" sz="19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9"/>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4" name="Google Shape;224;p19"/>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25" name="Google Shape;225;p19"/>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Coder Tips</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26" name="Google Shape;226;p19"/>
          <p:cNvSpPr txBox="1"/>
          <p:nvPr/>
        </p:nvSpPr>
        <p:spPr>
          <a:xfrm>
            <a:off x="6363575" y="2481425"/>
            <a:ext cx="2191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¿Qué delegar y qué no? La IA es una Thermomix: vos elegís la receta (estrategia) y ponés los ingredientes (idea semilla); el robot pica y cocina (el flujo); pero vos probás y ajustás la sal (revisión humana). El sabor final siempre es tuyo.</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20"/>
          <p:cNvSpPr txBox="1"/>
          <p:nvPr/>
        </p:nvSpPr>
        <p:spPr>
          <a:xfrm>
            <a:off x="739075" y="2481425"/>
            <a:ext cx="59307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que tu pipeline genere la pieza solo.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Configurá el Trigger: una fila en estado "Generando" con una Idea Semilla dinámica.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Sumá el nodo de IA (Claude/GPT) con tu contexto privado para redactar la pieza.</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generador de contenido. Ladrillo 2.</a:t>
            </a:r>
            <a:endParaRPr/>
          </a:p>
        </p:txBody>
      </p:sp>
      <p:sp>
        <p:nvSpPr>
          <p:cNvPr id="232" name="Google Shape;232;p2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2</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33" name="Google Shape;233;p2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trigger y la IA</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1"/>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s" sz="6000" u="none" cap="none" strike="noStrike">
                <a:solidFill>
                  <a:srgbClr val="F8F2E8"/>
                </a:solidFill>
                <a:latin typeface="Plus Jakarta Sans ExtraBold"/>
                <a:ea typeface="Plus Jakarta Sans ExtraBold"/>
                <a:cs typeface="Plus Jakarta Sans ExtraBold"/>
                <a:sym typeface="Plus Jakarta Sans ExtraBold"/>
              </a:rPr>
              <a:t>Break,</a:t>
            </a:r>
            <a:endParaRPr b="0" i="0" sz="6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andá por un cafecito</a:t>
            </a:r>
            <a:endParaRPr b="0" i="0" sz="2400" u="none" cap="none" strike="noStrike">
              <a:solidFill>
                <a:srgbClr val="F8F2E8"/>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o mate, ¡y volvemos!</a:t>
            </a:r>
            <a:endParaRPr b="0" i="0" sz="2400" u="none" cap="none" strike="noStrike">
              <a:solidFill>
                <a:srgbClr val="F8F2E8"/>
              </a:solidFill>
              <a:latin typeface="Plus Jakarta Sans"/>
              <a:ea typeface="Plus Jakarta Sans"/>
              <a:cs typeface="Plus Jakarta Sans"/>
              <a:sym typeface="Plus Jakarta Sans"/>
            </a:endParaRPr>
          </a:p>
        </p:txBody>
      </p:sp>
      <p:pic>
        <p:nvPicPr>
          <p:cNvPr id="239" name="Google Shape;239;p21" title="Vector.png"/>
          <p:cNvPicPr preferRelativeResize="0"/>
          <p:nvPr/>
        </p:nvPicPr>
        <p:blipFill rotWithShape="1">
          <a:blip r:embed="rId3">
            <a:alphaModFix/>
          </a:blip>
          <a:srcRect b="0" l="29" r="39" t="0"/>
          <a:stretch/>
        </p:blipFill>
        <p:spPr>
          <a:xfrm>
            <a:off x="7520578" y="2347936"/>
            <a:ext cx="524575" cy="4476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2"/>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03</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45" name="Google Shape;245;p22"/>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Human-in-the-Loop</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3"/>
          <p:cNvSpPr txBox="1"/>
          <p:nvPr/>
        </p:nvSpPr>
        <p:spPr>
          <a:xfrm>
            <a:off x="739075" y="2481425"/>
            <a:ext cx="55173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Un modelo híbrido: la IA hace el trabajo pesado (el 90%) y el </a:t>
            </a:r>
            <a:r>
              <a:rPr b="1" i="0" lang="es" sz="1150" u="none" cap="none" strike="noStrike">
                <a:solidFill>
                  <a:srgbClr val="171717"/>
                </a:solidFill>
                <a:latin typeface="Plus Jakarta Sans"/>
                <a:ea typeface="Plus Jakarta Sans"/>
                <a:cs typeface="Plus Jakarta Sans"/>
                <a:sym typeface="Plus Jakarta Sans"/>
              </a:rPr>
              <a:t>humano valida en los puntos críticos</a:t>
            </a:r>
            <a:r>
              <a:rPr b="0" i="0" lang="es" sz="1150" u="none" cap="none" strike="noStrike">
                <a:solidFill>
                  <a:srgbClr val="171717"/>
                </a:solidFill>
                <a:latin typeface="Plus Jakarta Sans"/>
                <a:ea typeface="Plus Jakarta Sans"/>
                <a:cs typeface="Plus Jakarta Sans"/>
                <a:sym typeface="Plus Jakarta Sans"/>
              </a:rPr>
              <a:t>.</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El chef: </a:t>
            </a:r>
            <a:r>
              <a:rPr b="0" i="0" lang="es" sz="1150" u="none" cap="none" strike="noStrike">
                <a:solidFill>
                  <a:srgbClr val="171717"/>
                </a:solidFill>
                <a:latin typeface="Plus Jakarta Sans"/>
                <a:ea typeface="Plus Jakarta Sans"/>
                <a:cs typeface="Plus Jakarta Sans"/>
                <a:sym typeface="Plus Jakarta Sans"/>
              </a:rPr>
              <a:t>el robot cocina 100 platos rapidísimo, pero vos probás una cucharada antes de servir. Si está bien, luz verde.</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Por qué es vital: </a:t>
            </a:r>
            <a:r>
              <a:rPr b="0" i="0" lang="es" sz="1150" u="none" cap="none" strike="noStrike">
                <a:solidFill>
                  <a:srgbClr val="171717"/>
                </a:solidFill>
                <a:latin typeface="Plus Jakarta Sans"/>
                <a:ea typeface="Plus Jakarta Sans"/>
                <a:cs typeface="Plus Jakarta Sans"/>
                <a:sym typeface="Plus Jakarta Sans"/>
              </a:rPr>
              <a:t>frena alucinaciones, cuida el tono de marca y los casos de alto riesgo (dinero, publicar, clientes VIP).</a:t>
            </a:r>
            <a:endParaRPr/>
          </a:p>
        </p:txBody>
      </p:sp>
      <p:sp>
        <p:nvSpPr>
          <p:cNvPr id="251" name="Google Shape;251;p2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800"/>
              <a:buFont typeface="Arial"/>
              <a:buNone/>
            </a:pPr>
            <a:r>
              <a:rPr b="0" i="0" lang="es" sz="3800" u="none" cap="none" strike="noStrike">
                <a:solidFill>
                  <a:srgbClr val="171717"/>
                </a:solidFill>
                <a:latin typeface="Plus Jakarta Sans ExtraBold"/>
                <a:ea typeface="Plus Jakarta Sans ExtraBold"/>
                <a:cs typeface="Plus Jakarta Sans ExtraBold"/>
                <a:sym typeface="Plus Jakarta Sans ExtraBold"/>
              </a:rPr>
              <a:t>¿Qué es HITL?</a:t>
            </a:r>
            <a:endParaRPr b="0" i="0" sz="38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52" name="Google Shape;252;p2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Human-in-the-Loop</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Trigger: </a:t>
            </a:r>
            <a:r>
              <a:rPr b="0" i="0" lang="es" sz="1300" u="none" cap="none" strike="noStrike">
                <a:solidFill>
                  <a:srgbClr val="171717"/>
                </a:solidFill>
                <a:latin typeface="Plus Jakarta Sans"/>
                <a:ea typeface="Plus Jakarta Sans"/>
                <a:cs typeface="Plus Jakarta Sans"/>
                <a:sym typeface="Plus Jakarta Sans"/>
              </a:rPr>
              <a:t>ocurre un evento (llega un lead).</a:t>
            </a:r>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IA: </a:t>
            </a:r>
            <a:r>
              <a:rPr b="0" i="0" lang="es" sz="1300" u="none" cap="none" strike="noStrike">
                <a:solidFill>
                  <a:srgbClr val="171717"/>
                </a:solidFill>
                <a:latin typeface="Plus Jakarta Sans"/>
                <a:ea typeface="Plus Jakarta Sans"/>
                <a:cs typeface="Plus Jakarta Sans"/>
                <a:sym typeface="Plus Jakarta Sans"/>
              </a:rPr>
              <a:t>analiza y redacta una propuesta.</a:t>
            </a:r>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Pausa (HITL): </a:t>
            </a:r>
            <a:r>
              <a:rPr b="0" i="0" lang="es" sz="1300" u="none" cap="none" strike="noStrike">
                <a:solidFill>
                  <a:srgbClr val="171717"/>
                </a:solidFill>
                <a:latin typeface="Plus Jakarta Sans"/>
                <a:ea typeface="Plus Jakarta Sans"/>
                <a:cs typeface="Plus Jakarta Sans"/>
                <a:sym typeface="Plus Jakarta Sans"/>
              </a:rPr>
              <a:t>en vez de enviar, te avisa con botones "Aprobar" / "Editar".</a:t>
            </a:r>
            <a:endParaRPr/>
          </a:p>
          <a:p>
            <a:pPr indent="-228600" lvl="0" marL="228600" marR="0" rtl="0" algn="l">
              <a:lnSpc>
                <a:spcPct val="110000"/>
              </a:lnSpc>
              <a:spcBef>
                <a:spcPts val="18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Acción humana: </a:t>
            </a:r>
            <a:r>
              <a:rPr b="0" i="0" lang="es" sz="1300" u="none" cap="none" strike="noStrike">
                <a:solidFill>
                  <a:srgbClr val="171717"/>
                </a:solidFill>
                <a:latin typeface="Plus Jakarta Sans"/>
                <a:ea typeface="Plus Jakarta Sans"/>
                <a:cs typeface="Plus Jakarta Sans"/>
                <a:sym typeface="Plus Jakarta Sans"/>
              </a:rPr>
              <a:t>hacés clic.</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Ejecución final: </a:t>
            </a:r>
            <a:r>
              <a:rPr b="0" i="0" lang="es" sz="1300" u="none" cap="none" strike="noStrike">
                <a:solidFill>
                  <a:srgbClr val="171717"/>
                </a:solidFill>
                <a:latin typeface="Plus Jakarta Sans"/>
                <a:ea typeface="Plus Jakarta Sans"/>
                <a:cs typeface="Plus Jakarta Sans"/>
                <a:sym typeface="Plus Jakarta Sans"/>
              </a:rPr>
              <a:t>solo si aprobaste, el flujo continúa y envía.</a:t>
            </a:r>
            <a:endParaRPr/>
          </a:p>
        </p:txBody>
      </p:sp>
      <p:sp>
        <p:nvSpPr>
          <p:cNvPr id="258" name="Google Shape;258;p2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F632B"/>
                </a:solidFill>
                <a:latin typeface="Plus Jakarta Sans ExtraBold"/>
                <a:ea typeface="Plus Jakarta Sans ExtraBold"/>
                <a:cs typeface="Plus Jakarta Sans ExtraBold"/>
                <a:sym typeface="Plus Jakarta Sans ExtraBold"/>
              </a:rPr>
              <a:t>El flujo HITL</a:t>
            </a:r>
            <a:endParaRPr b="0" i="0" sz="3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59" name="Google Shape;259;p2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171717"/>
                </a:solidFill>
                <a:latin typeface="Plus Jakarta Sans"/>
                <a:ea typeface="Plus Jakarta Sans"/>
                <a:cs typeface="Plus Jakarta Sans"/>
                <a:sym typeface="Plus Jakarta Sans"/>
              </a:rPr>
              <a:t>El semáforo de aprobación</a:t>
            </a:r>
            <a:endParaRPr b="0" i="0" sz="19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Insertar la pausa</a:t>
            </a:r>
            <a:endParaRPr b="0" i="0" sz="2400" u="none" cap="none" strike="noStrike">
              <a:solidFill>
                <a:srgbClr val="260700"/>
              </a:solidFill>
              <a:latin typeface="Plus Jakarta Sans"/>
              <a:ea typeface="Plus Jakarta Sans"/>
              <a:cs typeface="Plus Jakarta Sans"/>
              <a:sym typeface="Plus Jakarta Sans"/>
            </a:endParaRPr>
          </a:p>
        </p:txBody>
      </p:sp>
      <p:sp>
        <p:nvSpPr>
          <p:cNvPr id="265" name="Google Shape;265;p25"/>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Slack / Teams</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Mensajes con botones interactivos. Apretás y Slack avisa a tu flujo qué decidiste. Lo más elegante.</a:t>
            </a:r>
            <a:endParaRPr/>
          </a:p>
        </p:txBody>
      </p:sp>
      <p:sp>
        <p:nvSpPr>
          <p:cNvPr id="266" name="Google Shape;266;p25"/>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Airtable / Sheets</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La IA escribe el borrador y se detiene. El flujo sigue cuando cambiás el estatus a "Aprobado".</a:t>
            </a:r>
            <a:endParaRPr/>
          </a:p>
        </p:txBody>
      </p:sp>
      <p:sp>
        <p:nvSpPr>
          <p:cNvPr id="267" name="Google Shape;267;p25"/>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Wait for Webhook</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El flujo se pausa y te manda un link. Editás en un formulario y, al enviar, se reanuda.</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6"/>
          <p:cNvSpPr txBox="1"/>
          <p:nvPr/>
        </p:nvSpPr>
        <p:spPr>
          <a:xfrm>
            <a:off x="739075" y="2481425"/>
            <a:ext cx="5661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ponerle un freno de seguridad a tu pipeline.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Que la IA escriba el borrador y se detenga: checkbox "Aprobado" en Airtable o aviso a Slack.</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Poné un filtro final: el flujo solo distribuye si "Aprobado" pasa a true.</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control de calidad HITL. Ladrillo 3.</a:t>
            </a:r>
            <a:endParaRPr/>
          </a:p>
        </p:txBody>
      </p:sp>
      <p:sp>
        <p:nvSpPr>
          <p:cNvPr id="273" name="Google Shape;273;p2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3</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74" name="Google Shape;274;p2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0" i="0" lang="es" sz="1900" u="none" cap="none" strike="noStrike">
                <a:solidFill>
                  <a:srgbClr val="171717"/>
                </a:solidFill>
                <a:highlight>
                  <a:srgbClr val="FDAB2E"/>
                </a:highlight>
                <a:latin typeface="Plus Jakarta Sans"/>
                <a:ea typeface="Plus Jakarta Sans"/>
                <a:cs typeface="Plus Jakarta Sans"/>
                <a:sym typeface="Plus Jakarta Sans"/>
              </a:rPr>
              <a:t>Insertá la pausa humana</a:t>
            </a:r>
            <a:endParaRPr b="0" i="0" sz="19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7"/>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04</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80" name="Google Shape;280;p27"/>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8F2E8"/>
                </a:solidFill>
                <a:latin typeface="Plus Jakarta Sans ExtraBold"/>
                <a:ea typeface="Plus Jakarta Sans ExtraBold"/>
                <a:cs typeface="Plus Jakarta Sans ExtraBold"/>
                <a:sym typeface="Plus Jakarta Sans ExtraBold"/>
              </a:rPr>
              <a:t>Cuadros de mando</a:t>
            </a:r>
            <a:endParaRPr b="0" i="0" sz="40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28"/>
          <p:cNvSpPr txBox="1"/>
          <p:nvPr/>
        </p:nvSpPr>
        <p:spPr>
          <a:xfrm>
            <a:off x="739075" y="2481425"/>
            <a:ext cx="60267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El reporte: </a:t>
            </a:r>
            <a:r>
              <a:rPr b="0" i="0" lang="es" sz="1150" u="none" cap="none" strike="noStrike">
                <a:solidFill>
                  <a:srgbClr val="171717"/>
                </a:solidFill>
                <a:latin typeface="Plus Jakarta Sans"/>
                <a:ea typeface="Plus Jakarta Sans"/>
                <a:cs typeface="Plus Jakarta Sans"/>
                <a:sym typeface="Plus Jakarta Sans"/>
              </a:rPr>
              <a:t>una foto del pasado (un PDF del viernes). Útil para el archivo, pero llega tarde.</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El dashboard: </a:t>
            </a:r>
            <a:r>
              <a:rPr b="0" i="0" lang="es" sz="1150" u="none" cap="none" strike="noStrike">
                <a:solidFill>
                  <a:srgbClr val="171717"/>
                </a:solidFill>
                <a:latin typeface="Plus Jakarta Sans"/>
                <a:ea typeface="Plus Jakarta Sans"/>
                <a:cs typeface="Plus Jakarta Sans"/>
                <a:sym typeface="Plus Jakarta Sans"/>
              </a:rPr>
              <a:t>el tablero del coche. Mientras manejás, te dice la velocidad, la nafta y si hay una luz roja.</a:t>
            </a:r>
            <a:endParaRPr/>
          </a:p>
          <a:p>
            <a:pPr indent="0" lvl="0" marL="0" marR="0" rtl="0" algn="l">
              <a:lnSpc>
                <a:spcPct val="110000"/>
              </a:lnSpc>
              <a:spcBef>
                <a:spcPts val="3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Sin un tablero en vivo, tus flujos son un agujero negro: no sabés cuántos posts salieron ni cuántos errores hubo.</a:t>
            </a:r>
            <a:endParaRPr/>
          </a:p>
        </p:txBody>
      </p:sp>
      <p:sp>
        <p:nvSpPr>
          <p:cNvPr id="286" name="Google Shape;286;p2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0" i="0" lang="es" sz="3000" u="none" cap="none" strike="noStrike">
                <a:solidFill>
                  <a:srgbClr val="171717"/>
                </a:solidFill>
                <a:latin typeface="Plus Jakarta Sans ExtraBold"/>
                <a:ea typeface="Plus Jakarta Sans ExtraBold"/>
                <a:cs typeface="Plus Jakarta Sans ExtraBold"/>
                <a:sym typeface="Plus Jakarta Sans ExtraBold"/>
              </a:rPr>
              <a:t>Reporte vs. Dashboard</a:t>
            </a:r>
            <a:endParaRPr b="0" i="0" sz="3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287" name="Google Shape;287;p2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tablero del coche</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2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3 componentes</a:t>
            </a:r>
            <a:endParaRPr b="0" i="0" sz="2400" u="none" cap="none" strike="noStrike">
              <a:solidFill>
                <a:srgbClr val="260700"/>
              </a:solidFill>
              <a:latin typeface="Plus Jakarta Sans"/>
              <a:ea typeface="Plus Jakarta Sans"/>
              <a:cs typeface="Plus Jakarta Sans"/>
              <a:sym typeface="Plus Jakarta Sans"/>
            </a:endParaRPr>
          </a:p>
        </p:txBody>
      </p:sp>
      <p:sp>
        <p:nvSpPr>
          <p:cNvPr id="293" name="Google Shape;293;p29"/>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Fuente de la verdad</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Airtable/Sheets: cada flujo deja una huella (Fecha, Estado, Plataforma, Error).</a:t>
            </a:r>
            <a:endParaRPr/>
          </a:p>
        </p:txBody>
      </p:sp>
      <p:sp>
        <p:nvSpPr>
          <p:cNvPr id="294" name="Google Shape;294;p29"/>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Visualización</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Notion o Sheets: insertás vistas y gráficos. No hace falta Power BI.</a:t>
            </a:r>
            <a:endParaRPr/>
          </a:p>
        </p:txBody>
      </p:sp>
      <p:sp>
        <p:nvSpPr>
          <p:cNvPr id="295" name="Google Shape;295;p29"/>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KPIs</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Tasa de aprobación, volumen de salida y tasa de error. Máximo 4, no más.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30"/>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0000"/>
              </a:lnSpc>
              <a:spcBef>
                <a:spcPts val="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Tasa de aprobación: </a:t>
            </a:r>
            <a:r>
              <a:rPr b="0" i="0" lang="es" sz="1300" u="none" cap="none" strike="noStrike">
                <a:solidFill>
                  <a:srgbClr val="171717"/>
                </a:solidFill>
                <a:latin typeface="Plus Jakarta Sans"/>
                <a:ea typeface="Plus Jakarta Sans"/>
                <a:cs typeface="Plus Jakarta Sans"/>
                <a:sym typeface="Plus Jakarta Sans"/>
              </a:rPr>
              <a:t>¿qué % de lo que genera la IA aprueba un humano? Mide la calidad de tus prompts.</a:t>
            </a:r>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Volumen de salida: </a:t>
            </a:r>
            <a:r>
              <a:rPr b="0" i="0" lang="es" sz="1300" u="none" cap="none" strike="noStrike">
                <a:solidFill>
                  <a:srgbClr val="171717"/>
                </a:solidFill>
                <a:latin typeface="Plus Jakarta Sans"/>
                <a:ea typeface="Plus Jakarta Sans"/>
                <a:cs typeface="Plus Jakarta Sans"/>
                <a:sym typeface="Plus Jakarta Sans"/>
              </a:rPr>
              <a:t>¿cuántos activos (posts, emails, tareas) se procesaron hoy?</a:t>
            </a:r>
            <a:endParaRPr/>
          </a:p>
          <a:p>
            <a:pPr indent="-228600" lvl="0" marL="228600" marR="0" rtl="0" algn="l">
              <a:lnSpc>
                <a:spcPct val="110000"/>
              </a:lnSpc>
              <a:spcBef>
                <a:spcPts val="2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Tasa de error: </a:t>
            </a:r>
            <a:r>
              <a:rPr b="0" i="0" lang="es" sz="1300" u="none" cap="none" strike="noStrike">
                <a:solidFill>
                  <a:srgbClr val="171717"/>
                </a:solidFill>
                <a:latin typeface="Plus Jakarta Sans"/>
                <a:ea typeface="Plus Jakarta Sans"/>
                <a:cs typeface="Plus Jakarta Sans"/>
                <a:sym typeface="Plus Jakarta Sans"/>
              </a:rPr>
              <a:t>¿cuántas veces falló la API de Claude u OpenAI?</a:t>
            </a:r>
            <a:endParaRPr/>
          </a:p>
          <a:p>
            <a:pPr indent="0" lvl="0" marL="0" marR="0" rtl="0" algn="l">
              <a:lnSpc>
                <a:spcPct val="110000"/>
              </a:lnSpc>
              <a:spcBef>
                <a:spcPts val="30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Elegí máximo 4 KPIs. Menos es más: un dashboard con 50 gráficos no lo mira nadie.</a:t>
            </a:r>
            <a:endParaRPr/>
          </a:p>
        </p:txBody>
      </p:sp>
      <p:sp>
        <p:nvSpPr>
          <p:cNvPr id="301" name="Google Shape;301;p3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F632B"/>
                </a:solidFill>
                <a:latin typeface="Plus Jakarta Sans ExtraBold"/>
                <a:ea typeface="Plus Jakarta Sans ExtraBold"/>
                <a:cs typeface="Plus Jakarta Sans ExtraBold"/>
                <a:sym typeface="Plus Jakarta Sans ExtraBold"/>
              </a:rPr>
              <a:t>Los KPIs clave</a:t>
            </a:r>
            <a:endParaRPr b="0" i="0" sz="3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02" name="Google Shape;302;p3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Qué medir (y nada más)</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1"/>
          <p:cNvSpPr txBox="1"/>
          <p:nvPr/>
        </p:nvSpPr>
        <p:spPr>
          <a:xfrm>
            <a:off x="739075" y="2481425"/>
            <a:ext cx="60750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En 2026 no solo visualizás datos: dejás que la IA los interprete.</a:t>
            </a:r>
            <a:endParaRPr/>
          </a:p>
          <a:p>
            <a:pPr indent="0" lvl="0" marL="0" marR="0" rtl="0" algn="l">
              <a:lnSpc>
                <a:spcPct val="110000"/>
              </a:lnSpc>
              <a:spcBef>
                <a:spcPts val="30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Ejemplo: </a:t>
            </a:r>
            <a:r>
              <a:rPr b="0" i="0" lang="es" sz="1150" u="none" cap="none" strike="noStrike">
                <a:solidFill>
                  <a:srgbClr val="171717"/>
                </a:solidFill>
                <a:latin typeface="Plus Jakarta Sans"/>
                <a:ea typeface="Plus Jakarta Sans"/>
                <a:cs typeface="Plus Jakarta Sans"/>
                <a:sym typeface="Plus Jakarta Sans"/>
              </a:rPr>
              <a:t>cada domingo, Claude lee tu tabla de la semana y te avisa por Slack: "La tasa de aprobación bajó 15% los miércoles. Revisá el prompt de tono".</a:t>
            </a:r>
            <a:endParaRPr/>
          </a:p>
          <a:p>
            <a:pPr indent="0" lvl="0" marL="0" marR="0" rtl="0" algn="l">
              <a:lnSpc>
                <a:spcPct val="110000"/>
              </a:lnSpc>
              <a:spcBef>
                <a:spcPts val="30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Tu dashboard pasa de visualización a consultoría estratégica automática.</a:t>
            </a:r>
            <a:endParaRPr/>
          </a:p>
        </p:txBody>
      </p:sp>
      <p:sp>
        <p:nvSpPr>
          <p:cNvPr id="308" name="Google Shape;308;p3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900"/>
              <a:buFont typeface="Arial"/>
              <a:buNone/>
            </a:pPr>
            <a:r>
              <a:rPr b="0" i="0" lang="es" sz="2900" u="none" cap="none" strike="noStrike">
                <a:solidFill>
                  <a:srgbClr val="171717"/>
                </a:solidFill>
                <a:latin typeface="Plus Jakarta Sans ExtraBold"/>
                <a:ea typeface="Plus Jakarta Sans ExtraBold"/>
                <a:cs typeface="Plus Jakarta Sans ExtraBold"/>
                <a:sym typeface="Plus Jakarta Sans ExtraBold"/>
              </a:rPr>
              <a:t>IA que se analiza sola</a:t>
            </a:r>
            <a:endParaRPr b="0" i="0" sz="29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09" name="Google Shape;309;p3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highlight>
                  <a:srgbClr val="FDAB2E"/>
                </a:highlight>
                <a:latin typeface="Plus Jakarta Sans"/>
                <a:ea typeface="Plus Jakarta Sans"/>
                <a:cs typeface="Plus Jakarta Sans"/>
                <a:sym typeface="Plus Jakarta Sans"/>
              </a:rPr>
              <a:t>El toque maestro</a:t>
            </a:r>
            <a:endParaRPr b="0" i="0" sz="20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32"/>
          <p:cNvSpPr txBox="1"/>
          <p:nvPr/>
        </p:nvSpPr>
        <p:spPr>
          <a:xfrm>
            <a:off x="739075" y="2481425"/>
            <a:ext cx="61518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Objetivo: </a:t>
            </a:r>
            <a:r>
              <a:rPr b="0" i="0" lang="es" sz="1150" u="none" cap="none" strike="noStrike">
                <a:solidFill>
                  <a:srgbClr val="171717"/>
                </a:solidFill>
                <a:latin typeface="Plus Jakarta Sans"/>
                <a:ea typeface="Plus Jakarta Sans"/>
                <a:cs typeface="Plus Jakarta Sans"/>
                <a:sym typeface="Plus Jakarta Sans"/>
              </a:rPr>
              <a:t>ver la salud de tu pipeline de un vistazo.</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Manos a la obra:</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Hacé que cada corrida deje una "huella" (fila con Fecha, Estado, Plataforma, Error).</a:t>
            </a:r>
            <a:endParaRPr/>
          </a:p>
          <a:p>
            <a:pPr indent="-228600" lvl="0" marL="228600" marR="0" rtl="0" algn="l">
              <a:lnSpc>
                <a:spcPct val="110000"/>
              </a:lnSpc>
              <a:spcBef>
                <a:spcPts val="150"/>
              </a:spcBef>
              <a:spcAft>
                <a:spcPts val="0"/>
              </a:spcAft>
              <a:buClr>
                <a:srgbClr val="FF632B"/>
              </a:buClr>
              <a:buSzPts val="1150"/>
              <a:buFont typeface="Plus Jakarta Sans"/>
              <a:buChar char="•"/>
            </a:pPr>
            <a:r>
              <a:rPr b="0" i="0" lang="es" sz="1150" u="none" cap="none" strike="noStrike">
                <a:solidFill>
                  <a:srgbClr val="171717"/>
                </a:solidFill>
                <a:latin typeface="Plus Jakarta Sans"/>
                <a:ea typeface="Plus Jakarta Sans"/>
                <a:cs typeface="Plus Jakarta Sans"/>
                <a:sym typeface="Plus Jakarta Sans"/>
              </a:rPr>
              <a:t>Armá una vista con los 3 KPIs: aprobación, volumen y errores.</a:t>
            </a:r>
            <a:endParaRPr/>
          </a:p>
          <a:p>
            <a:pPr indent="0" lvl="0" marL="0" marR="0" rtl="0" algn="l">
              <a:lnSpc>
                <a:spcPct val="110000"/>
              </a:lnSpc>
              <a:spcBef>
                <a:spcPts val="350"/>
              </a:spcBef>
              <a:spcAft>
                <a:spcPts val="0"/>
              </a:spcAft>
              <a:buClr>
                <a:srgbClr val="000000"/>
              </a:buClr>
              <a:buSzPts val="1150"/>
              <a:buFont typeface="Arial"/>
              <a:buNone/>
            </a:pPr>
            <a:r>
              <a:rPr b="1" i="0" lang="es" sz="1150" u="none" cap="none" strike="noStrike">
                <a:solidFill>
                  <a:srgbClr val="171717"/>
                </a:solidFill>
                <a:latin typeface="Plus Jakarta Sans"/>
                <a:ea typeface="Plus Jakarta Sans"/>
                <a:cs typeface="Plus Jakarta Sans"/>
                <a:sym typeface="Plus Jakarta Sans"/>
              </a:rPr>
              <a:t>Resultado: </a:t>
            </a:r>
            <a:r>
              <a:rPr b="0" i="0" lang="es" sz="1150" u="none" cap="none" strike="noStrike">
                <a:solidFill>
                  <a:srgbClr val="171717"/>
                </a:solidFill>
                <a:latin typeface="Plus Jakarta Sans"/>
                <a:ea typeface="Plus Jakarta Sans"/>
                <a:cs typeface="Plus Jakarta Sans"/>
                <a:sym typeface="Plus Jakarta Sans"/>
              </a:rPr>
              <a:t>tu cuadro de mando. ¡Pre-Entrega 7 lista!</a:t>
            </a:r>
            <a:endParaRPr/>
          </a:p>
        </p:txBody>
      </p:sp>
      <p:sp>
        <p:nvSpPr>
          <p:cNvPr id="315" name="Google Shape;315;p3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171717"/>
                </a:solidFill>
                <a:latin typeface="Plus Jakarta Sans ExtraBold"/>
                <a:ea typeface="Plus Jakarta Sans ExtraBold"/>
                <a:cs typeface="Plus Jakarta Sans ExtraBold"/>
                <a:sym typeface="Plus Jakarta Sans ExtraBold"/>
              </a:rPr>
              <a:t>Práctica · Paso 4</a:t>
            </a:r>
            <a:endParaRPr b="0" i="0" sz="32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16" name="Google Shape;316;p3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0" i="0" lang="es" sz="1800" u="none" cap="none" strike="noStrike">
                <a:solidFill>
                  <a:srgbClr val="171717"/>
                </a:solidFill>
                <a:highlight>
                  <a:srgbClr val="FDAB2E"/>
                </a:highlight>
                <a:latin typeface="Plus Jakarta Sans"/>
                <a:ea typeface="Plus Jakarta Sans"/>
                <a:cs typeface="Plus Jakarta Sans"/>
                <a:sym typeface="Plus Jakarta Sans"/>
              </a:rPr>
              <a:t>El dashboard de monitoreo</a:t>
            </a:r>
            <a:endParaRPr b="0" i="0" sz="18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PE</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322" name="Google Shape;322;p3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400"/>
              <a:buFont typeface="Arial"/>
              <a:buNone/>
            </a:pPr>
            <a:r>
              <a:rPr b="0" i="0" lang="es" sz="4400" u="none" cap="none" strike="noStrike">
                <a:solidFill>
                  <a:srgbClr val="F8F2E8"/>
                </a:solidFill>
                <a:latin typeface="Plus Jakarta Sans ExtraBold"/>
                <a:ea typeface="Plus Jakarta Sans ExtraBold"/>
                <a:cs typeface="Plus Jakarta Sans ExtraBold"/>
                <a:sym typeface="Plus Jakarta Sans ExtraBold"/>
              </a:rPr>
              <a:t>Pre-Entrega 7</a:t>
            </a:r>
            <a:endParaRPr b="0" i="0" sz="44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3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Construís un pipeline de contenido autónomo conectado a RAG, con un punto de pausa humano (HITL) antes de publicar.</a:t>
            </a:r>
            <a:endParaRPr/>
          </a:p>
          <a:p>
            <a:pPr indent="-228600" lvl="0" marL="228600" marR="0" rtl="0" algn="l">
              <a:lnSpc>
                <a:spcPct val="110000"/>
              </a:lnSpc>
              <a:spcBef>
                <a:spcPts val="30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Pasos 1-2 → </a:t>
            </a:r>
            <a:r>
              <a:rPr b="0" i="0" lang="es" sz="1300" u="none" cap="none" strike="noStrike">
                <a:solidFill>
                  <a:srgbClr val="171717"/>
                </a:solidFill>
                <a:latin typeface="Plus Jakarta Sans"/>
                <a:ea typeface="Plus Jakarta Sans"/>
                <a:cs typeface="Plus Jakarta Sans"/>
                <a:sym typeface="Plus Jakarta Sans"/>
              </a:rPr>
              <a:t>base de conocimiento (RAG) + generación con IA desde una idea semilla.</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3 → </a:t>
            </a:r>
            <a:r>
              <a:rPr b="0" i="0" lang="es" sz="1300" u="none" cap="none" strike="noStrike">
                <a:solidFill>
                  <a:srgbClr val="171717"/>
                </a:solidFill>
                <a:latin typeface="Plus Jakarta Sans"/>
                <a:ea typeface="Plus Jakarta Sans"/>
                <a:cs typeface="Plus Jakarta Sans"/>
                <a:sym typeface="Plus Jakarta Sans"/>
              </a:rPr>
              <a:t>el punto de pausa HITL + filtro condicional.</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Paso 4 → </a:t>
            </a:r>
            <a:r>
              <a:rPr b="0" i="0" lang="es" sz="1300" u="none" cap="none" strike="noStrike">
                <a:solidFill>
                  <a:srgbClr val="171717"/>
                </a:solidFill>
                <a:latin typeface="Plus Jakarta Sans"/>
                <a:ea typeface="Plus Jakarta Sans"/>
                <a:cs typeface="Plus Jakarta Sans"/>
                <a:sym typeface="Plus Jakarta Sans"/>
              </a:rPr>
              <a:t>el dashboard de monitoreo.</a:t>
            </a:r>
            <a:endParaRPr/>
          </a:p>
          <a:p>
            <a:pPr indent="0" lvl="0" marL="0" marR="0" rtl="0" algn="l">
              <a:lnSpc>
                <a:spcPct val="110000"/>
              </a:lnSpc>
              <a:spcBef>
                <a:spcPts val="35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Objetivo de aprendizaje: </a:t>
            </a:r>
            <a:r>
              <a:rPr b="0" i="0" lang="es" sz="1300" u="none" cap="none" strike="noStrike">
                <a:solidFill>
                  <a:srgbClr val="171717"/>
                </a:solidFill>
                <a:latin typeface="Plus Jakarta Sans"/>
                <a:ea typeface="Plus Jakarta Sans"/>
                <a:cs typeface="Plus Jakarta Sans"/>
                <a:sym typeface="Plus Jakarta Sans"/>
              </a:rPr>
              <a:t>diseñar un sistema autónomo que mitiga riesgos (alucinaciones, publicaciones erróneas) con un semáforo humano.</a:t>
            </a:r>
            <a:endParaRPr/>
          </a:p>
        </p:txBody>
      </p:sp>
      <p:sp>
        <p:nvSpPr>
          <p:cNvPr id="328" name="Google Shape;328;p3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¿De qué se trata?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29" name="Google Shape;329;p3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es" sz="2500" u="none" cap="none" strike="noStrike">
                <a:solidFill>
                  <a:srgbClr val="171717"/>
                </a:solidFill>
                <a:latin typeface="Plus Jakarta Sans"/>
                <a:ea typeface="Plus Jakarta Sans"/>
                <a:cs typeface="Plus Jakarta Sans"/>
                <a:sym typeface="Plus Jakarta Sans"/>
              </a:rPr>
              <a:t>Pre-Entrega 7</a:t>
            </a:r>
            <a:endParaRPr b="0" i="0" sz="25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35"/>
          <p:cNvSpPr txBox="1"/>
          <p:nvPr/>
        </p:nvSpPr>
        <p:spPr>
          <a:xfrm>
            <a:off x="1784550" y="2272675"/>
            <a:ext cx="55749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Duración estimada: ~3 horas</a:t>
            </a:r>
            <a:endParaRPr/>
          </a:p>
          <a:p>
            <a:pPr indent="0" lvl="0" marL="0" marR="0" rtl="0" algn="l">
              <a:lnSpc>
                <a:spcPct val="110000"/>
              </a:lnSpc>
              <a:spcBef>
                <a:spcPts val="150"/>
              </a:spcBef>
              <a:spcAft>
                <a:spcPts val="0"/>
              </a:spcAft>
              <a:buClr>
                <a:srgbClr val="000000"/>
              </a:buClr>
              <a:buSzPts val="1250"/>
              <a:buFont typeface="Arial"/>
              <a:buNone/>
            </a:pPr>
            <a:r>
              <a:rPr b="1" i="0" lang="es" sz="1250" u="none" cap="none" strike="noStrike">
                <a:solidFill>
                  <a:srgbClr val="FF632B"/>
                </a:solidFill>
                <a:latin typeface="Plus Jakarta Sans"/>
                <a:ea typeface="Plus Jakarta Sans"/>
                <a:cs typeface="Plus Jakarta Sans"/>
                <a:sym typeface="Plus Jakarta Sans"/>
              </a:rPr>
              <a:t>📄 Entrega: documento .pdf explicando el pipeline con el nodo HITL</a:t>
            </a:r>
            <a:endParaRPr/>
          </a:p>
          <a:p>
            <a:pPr indent="0" lvl="0" marL="0" marR="0" rtl="0" algn="l">
              <a:lnSpc>
                <a:spcPct val="110000"/>
              </a:lnSpc>
              <a:spcBef>
                <a:spcPts val="450"/>
              </a:spcBef>
              <a:spcAft>
                <a:spcPts val="0"/>
              </a:spcAft>
              <a:buClr>
                <a:srgbClr val="000000"/>
              </a:buClr>
              <a:buSzPts val="1150"/>
              <a:buFont typeface="Arial"/>
              <a:buNone/>
            </a:pPr>
            <a:r>
              <a:rPr b="0" i="0" lang="es" sz="1150" u="none" cap="none" strike="noStrike">
                <a:solidFill>
                  <a:srgbClr val="171717"/>
                </a:solidFill>
                <a:latin typeface="Plus Jakarta Sans"/>
                <a:ea typeface="Plus Jakarta Sans"/>
                <a:cs typeface="Plus Jakarta Sans"/>
                <a:sym typeface="Plus Jakarta Sans"/>
              </a:rPr>
              <a:t>Construí un pipeline que genere contenido desde una idea semilla, alimentado por una base de conocimiento, con un punto de pausa humano obligatorio antes de distribuir.</a:t>
            </a:r>
            <a:endParaRPr/>
          </a:p>
        </p:txBody>
      </p:sp>
      <p:sp>
        <p:nvSpPr>
          <p:cNvPr id="335" name="Google Shape;335;p3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171717"/>
                </a:solidFill>
                <a:latin typeface="Plus Jakarta Sans ExtraBold"/>
                <a:ea typeface="Plus Jakarta Sans ExtraBold"/>
                <a:cs typeface="Plus Jakarta Sans ExtraBold"/>
                <a:sym typeface="Plus Jakarta Sans ExtraBold"/>
              </a:rPr>
              <a:t>Tu misión</a:t>
            </a:r>
            <a:endParaRPr b="0" i="0" sz="4000" u="none" cap="none" strike="noStrike">
              <a:solidFill>
                <a:srgbClr val="171717"/>
              </a:solidFill>
              <a:latin typeface="Plus Jakarta Sans ExtraBold"/>
              <a:ea typeface="Plus Jakarta Sans ExtraBold"/>
              <a:cs typeface="Plus Jakarta Sans ExtraBold"/>
              <a:sym typeface="Plus Jakarta Sans ExtraBold"/>
            </a:endParaRPr>
          </a:p>
        </p:txBody>
      </p:sp>
      <p:sp>
        <p:nvSpPr>
          <p:cNvPr id="336" name="Google Shape;336;p3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highlight>
                  <a:srgbClr val="FDAB2E"/>
                </a:highlight>
                <a:latin typeface="Plus Jakarta Sans"/>
                <a:ea typeface="Plus Jakarta Sans"/>
                <a:cs typeface="Plus Jakarta Sans"/>
                <a:sym typeface="Plus Jakarta Sans"/>
              </a:rPr>
              <a:t>El entregable</a:t>
            </a:r>
            <a:endParaRPr b="0" i="0" sz="2200" u="none" cap="none" strike="noStrike">
              <a:solidFill>
                <a:srgbClr val="171717"/>
              </a:solidFill>
              <a:highlight>
                <a:srgbClr val="FDAB2E"/>
              </a:highlight>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36"/>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Pasos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42" name="Google Shape;342;p36"/>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Armá una base de conocimiento (RAG) en Notion/Airtable con info atómica y validada.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Configurá el Trigger: una fila en estado "Generando" con una Idea Semilla dinámica.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Sumá un nodo de IA (Claude/GPT) con tu contexto privado que redacte la pieza.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Insertá el punto de pausa HITL: checkbox "Aprobado" en Airtable o aviso a Slack.</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457200" marR="0" rtl="0" algn="l">
              <a:lnSpc>
                <a:spcPct val="115000"/>
              </a:lnSpc>
              <a:spcBef>
                <a:spcPts val="0"/>
              </a:spcBef>
              <a:spcAft>
                <a:spcPts val="0"/>
              </a:spcAft>
              <a:buClr>
                <a:srgbClr val="171717"/>
              </a:buClr>
              <a:buSzPts val="1200"/>
              <a:buFont typeface="Plus Jakarta Sans Light"/>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Poné un filtro final: el flujo solo distribuye si "Aprobado" pasa a true.</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Desglose del tiempo:</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Armar la base de conocimiento (RAG) — 50 min.</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Trigger + nodo de IA que redacta — 1 h.</a:t>
            </a:r>
            <a:endParaRPr/>
          </a:p>
          <a:p>
            <a:pPr indent="-228600" lvl="0" marL="228600" marR="0" rtl="0" algn="l">
              <a:lnSpc>
                <a:spcPct val="110000"/>
              </a:lnSpc>
              <a:spcBef>
                <a:spcPts val="150"/>
              </a:spcBef>
              <a:spcAft>
                <a:spcPts val="0"/>
              </a:spcAft>
              <a:buClr>
                <a:srgbClr val="FF632B"/>
              </a:buClr>
              <a:buSzPts val="1300"/>
              <a:buFont typeface="Plus Jakarta Sans"/>
              <a:buChar char="•"/>
            </a:pPr>
            <a:r>
              <a:rPr b="0" i="0" lang="es" sz="1300" u="none" cap="none" strike="noStrike">
                <a:solidFill>
                  <a:srgbClr val="171717"/>
                </a:solidFill>
                <a:latin typeface="Plus Jakarta Sans"/>
                <a:ea typeface="Plus Jakarta Sans"/>
                <a:cs typeface="Plus Jakarta Sans"/>
                <a:sym typeface="Plus Jakarta Sans"/>
              </a:rPr>
              <a:t>Punto de pausa HITL + filtro + dashboard — 1 h 10 min.</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FF632B"/>
                </a:solidFill>
                <a:latin typeface="Plus Jakarta Sans"/>
                <a:ea typeface="Plus Jakarta Sans"/>
                <a:cs typeface="Plus Jakarta Sans"/>
                <a:sym typeface="Plus Jakarta Sans"/>
              </a:rPr>
              <a:t>Total ≈ 3 horas.</a:t>
            </a:r>
            <a:endParaRPr/>
          </a:p>
          <a:p>
            <a:pPr indent="0" lvl="0" marL="0" marR="0" rtl="0" algn="l">
              <a:lnSpc>
                <a:spcPct val="110000"/>
              </a:lnSpc>
              <a:spcBef>
                <a:spcPts val="300"/>
              </a:spcBef>
              <a:spcAft>
                <a:spcPts val="0"/>
              </a:spcAft>
              <a:buClr>
                <a:srgbClr val="000000"/>
              </a:buClr>
              <a:buSzPts val="1300"/>
              <a:buFont typeface="Arial"/>
              <a:buNone/>
            </a:pPr>
            <a:r>
              <a:rPr b="1" i="0" lang="es" sz="1300" u="none" cap="none" strike="noStrike">
                <a:solidFill>
                  <a:srgbClr val="171717"/>
                </a:solidFill>
                <a:latin typeface="Plus Jakarta Sans"/>
                <a:ea typeface="Plus Jakarta Sans"/>
                <a:cs typeface="Plus Jakarta Sans"/>
                <a:sym typeface="Plus Jakarta Sans"/>
              </a:rPr>
              <a:t>Formato: </a:t>
            </a:r>
            <a:r>
              <a:rPr b="0" i="0" lang="es" sz="1300" u="none" cap="none" strike="noStrike">
                <a:solidFill>
                  <a:srgbClr val="171717"/>
                </a:solidFill>
                <a:latin typeface="Plus Jakarta Sans"/>
                <a:ea typeface="Plus Jakarta Sans"/>
                <a:cs typeface="Plus Jakarta Sans"/>
                <a:sym typeface="Plus Jakarta Sans"/>
              </a:rPr>
              <a:t>un .pdf explicando el pipeline (o el link al flujo activo) que demuestre el nodo HITL integrado.</a:t>
            </a:r>
            <a:endParaRPr/>
          </a:p>
        </p:txBody>
      </p:sp>
      <p:sp>
        <p:nvSpPr>
          <p:cNvPr id="348" name="Google Shape;348;p3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Tiempo y formato</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49" name="Google Shape;349;p3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Planificá tu entrega</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8"/>
          <p:cNvSpPr txBox="1"/>
          <p:nvPr/>
        </p:nvSpPr>
        <p:spPr>
          <a:xfrm>
            <a:off x="602400" y="659600"/>
            <a:ext cx="7326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lang="es" sz="4800">
                <a:solidFill>
                  <a:srgbClr val="FF632B"/>
                </a:solidFill>
                <a:latin typeface="Plus Jakarta Sans ExtraBold"/>
                <a:ea typeface="Plus Jakarta Sans ExtraBold"/>
                <a:cs typeface="Plus Jakarta Sans ExtraBold"/>
                <a:sym typeface="Plus Jakarta Sans ExtraBold"/>
              </a:rPr>
              <a:t>¿</a:t>
            </a:r>
            <a:r>
              <a:rPr b="0" i="0" lang="es" sz="4800" u="none" cap="none" strike="noStrike">
                <a:solidFill>
                  <a:srgbClr val="FF632B"/>
                </a:solidFill>
                <a:latin typeface="Plus Jakarta Sans ExtraBold"/>
                <a:ea typeface="Plus Jakarta Sans ExtraBold"/>
                <a:cs typeface="Plus Jakarta Sans ExtraBold"/>
                <a:sym typeface="Plus Jakarta Sans ExtraBold"/>
              </a:rPr>
              <a:t>Cómo se evalúa?</a:t>
            </a:r>
            <a:r>
              <a:rPr b="0" i="0" lang="es" sz="2400" u="none" cap="none" strike="noStrike">
                <a:solidFill>
                  <a:srgbClr val="260700"/>
                </a:solidFill>
                <a:latin typeface="Plus Jakarta Sans"/>
                <a:ea typeface="Plus Jakarta Sans"/>
                <a:cs typeface="Plus Jakarta Sans"/>
                <a:sym typeface="Plus Jakarta Sans"/>
              </a:rPr>
              <a:t> · 60 pts</a:t>
            </a:r>
            <a:endParaRPr b="0" i="0" sz="2400" u="none" cap="none" strike="noStrike">
              <a:solidFill>
                <a:srgbClr val="260700"/>
              </a:solidFill>
              <a:latin typeface="Plus Jakarta Sans"/>
              <a:ea typeface="Plus Jakarta Sans"/>
              <a:cs typeface="Plus Jakarta Sans"/>
              <a:sym typeface="Plus Jakarta Sans"/>
            </a:endParaRPr>
          </a:p>
        </p:txBody>
      </p:sp>
      <p:sp>
        <p:nvSpPr>
          <p:cNvPr id="355" name="Google Shape;355;p38"/>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Mecanismo de pausa HITL · 40%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Un semáforo: checkbox "Aprobado" en Airtable o alerta restrictiva a Slack/Email.</a:t>
            </a:r>
            <a:endParaRPr/>
          </a:p>
        </p:txBody>
      </p:sp>
      <p:sp>
        <p:nvSpPr>
          <p:cNvPr id="356" name="Google Shape;356;p38"/>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Distribución condicional · 30%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La publicación final solo se ejecuta cuando el humano valida la calidad.</a:t>
            </a:r>
            <a:endParaRPr/>
          </a:p>
        </p:txBody>
      </p:sp>
      <p:sp>
        <p:nvSpPr>
          <p:cNvPr id="357" name="Google Shape;357;p38"/>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5000"/>
              </a:lnSpc>
              <a:spcBef>
                <a:spcPts val="0"/>
              </a:spcBef>
              <a:spcAft>
                <a:spcPts val="0"/>
              </a:spcAft>
              <a:buClr>
                <a:srgbClr val="000000"/>
              </a:buClr>
              <a:buSzPts val="1450"/>
              <a:buFont typeface="Arial"/>
              <a:buNone/>
            </a:pPr>
            <a:r>
              <a:rPr b="1" i="0" lang="es" sz="1450" u="none" cap="none" strike="noStrike">
                <a:solidFill>
                  <a:srgbClr val="171717"/>
                </a:solidFill>
                <a:latin typeface="Plus Jakarta Sans"/>
                <a:ea typeface="Plus Jakarta Sans"/>
                <a:cs typeface="Plus Jakarta Sans"/>
                <a:sym typeface="Plus Jakarta Sans"/>
              </a:rPr>
              <a:t>Estructura RAG · 30%</a:t>
            </a:r>
            <a:endParaRPr/>
          </a:p>
          <a:p>
            <a:pPr indent="0" lvl="0" marL="0" marR="0" rtl="0" algn="ctr">
              <a:lnSpc>
                <a:spcPct val="105000"/>
              </a:lnSpc>
              <a:spcBef>
                <a:spcPts val="300"/>
              </a:spcBef>
              <a:spcAft>
                <a:spcPts val="0"/>
              </a:spcAft>
              <a:buClr>
                <a:srgbClr val="000000"/>
              </a:buClr>
              <a:buSzPts val="1150"/>
              <a:buFont typeface="Arial"/>
              <a:buNone/>
            </a:pPr>
            <a:r>
              <a:rPr b="0" i="0" lang="es" sz="1150" u="none" cap="none" strike="noStrike">
                <a:solidFill>
                  <a:srgbClr val="3A3A3A"/>
                </a:solidFill>
                <a:latin typeface="Plus Jakarta Sans"/>
                <a:ea typeface="Plus Jakarta Sans"/>
                <a:cs typeface="Plus Jakarta Sans"/>
                <a:sym typeface="Plus Jakarta Sans"/>
              </a:rPr>
              <a:t>Base de conocimiento en Notion/Airtable que alimenta al agente ante una idea semilla.</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0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a:ea typeface="Plus Jakarta Sans"/>
                <a:cs typeface="Plus Jakarta Sans"/>
                <a:sym typeface="Plus Jakarta Sans"/>
              </a:rPr>
              <a:t>Ya tenés agentes con memoria, generación de contenido y control de calidad. En el Módulo 8 unís todo en el Proyecto Integrador.</a:t>
            </a:r>
            <a:endParaRPr/>
          </a:p>
          <a:p>
            <a:pPr indent="-228600" lvl="0" marL="228600" marR="0" rtl="0" algn="l">
              <a:lnSpc>
                <a:spcPct val="110000"/>
              </a:lnSpc>
              <a:spcBef>
                <a:spcPts val="3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Módulo 8: </a:t>
            </a:r>
            <a:r>
              <a:rPr b="0" i="0" lang="es" sz="1300" u="none" cap="none" strike="noStrike">
                <a:solidFill>
                  <a:srgbClr val="171717"/>
                </a:solidFill>
                <a:latin typeface="Plus Jakarta Sans"/>
                <a:ea typeface="Plus Jakarta Sans"/>
                <a:cs typeface="Plus Jakarta Sans"/>
                <a:sym typeface="Plus Jakarta Sans"/>
              </a:rPr>
              <a:t>tu proyecto final de punta a punta (Entrega Final, no pre-entrega).</a:t>
            </a:r>
            <a:endParaRPr/>
          </a:p>
          <a:p>
            <a:pPr indent="-228600" lvl="0" marL="228600" marR="0" rtl="0" algn="l">
              <a:lnSpc>
                <a:spcPct val="110000"/>
              </a:lnSpc>
              <a:spcBef>
                <a:spcPts val="150"/>
              </a:spcBef>
              <a:spcAft>
                <a:spcPts val="0"/>
              </a:spcAft>
              <a:buClr>
                <a:srgbClr val="FF632B"/>
              </a:buClr>
              <a:buSzPts val="1300"/>
              <a:buFont typeface="Plus Jakarta Sans"/>
              <a:buChar char="•"/>
            </a:pPr>
            <a:r>
              <a:rPr b="1" i="0" lang="es" sz="1300" u="none" cap="none" strike="noStrike">
                <a:solidFill>
                  <a:srgbClr val="171717"/>
                </a:solidFill>
                <a:latin typeface="Plus Jakarta Sans"/>
                <a:ea typeface="Plus Jakarta Sans"/>
                <a:cs typeface="Plus Jakarta Sans"/>
                <a:sym typeface="Plus Jakarta Sans"/>
              </a:rPr>
              <a:t>Todo lo construido </a:t>
            </a:r>
            <a:r>
              <a:rPr b="0" i="0" lang="es" sz="1300" u="none" cap="none" strike="noStrike">
                <a:solidFill>
                  <a:srgbClr val="171717"/>
                </a:solidFill>
                <a:latin typeface="Plus Jakarta Sans"/>
                <a:ea typeface="Plus Jakarta Sans"/>
                <a:cs typeface="Plus Jakarta Sans"/>
                <a:sym typeface="Plus Jakarta Sans"/>
              </a:rPr>
              <a:t>(arquitectura, Make/n8n, IA, comunicación, RAG, HITL) converge en un sistema real.</a:t>
            </a:r>
            <a:endParaRPr/>
          </a:p>
          <a:p>
            <a:pPr indent="0" lvl="0" marL="0" marR="0" rtl="0" algn="l">
              <a:lnSpc>
                <a:spcPct val="110000"/>
              </a:lnSpc>
              <a:spcBef>
                <a:spcPts val="400"/>
              </a:spcBef>
              <a:spcAft>
                <a:spcPts val="0"/>
              </a:spcAft>
              <a:buClr>
                <a:srgbClr val="000000"/>
              </a:buClr>
              <a:buSzPts val="1300"/>
              <a:buFont typeface="Arial"/>
              <a:buNone/>
            </a:pPr>
            <a:r>
              <a:rPr b="0" i="1" lang="es" sz="1300" u="none" cap="none" strike="noStrike">
                <a:solidFill>
                  <a:srgbClr val="171717"/>
                </a:solidFill>
                <a:latin typeface="Plus Jakarta Sans"/>
                <a:ea typeface="Plus Jakarta Sans"/>
                <a:cs typeface="Plus Jakarta Sans"/>
                <a:sym typeface="Plus Jakarta Sans"/>
              </a:rPr>
              <a:t>La IA es velocidad; vos sos el criterio. El arquitecto es quien une ambos mundos.</a:t>
            </a:r>
            <a:endParaRPr/>
          </a:p>
        </p:txBody>
      </p:sp>
      <p:sp>
        <p:nvSpPr>
          <p:cNvPr id="363" name="Google Shape;363;p3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F632B"/>
                </a:solidFill>
                <a:latin typeface="Plus Jakarta Sans ExtraBold"/>
                <a:ea typeface="Plus Jakarta Sans ExtraBold"/>
                <a:cs typeface="Plus Jakarta Sans ExtraBold"/>
                <a:sym typeface="Plus Jakarta Sans ExtraBold"/>
              </a:rPr>
              <a:t>¿Cómo continúa el proyecto?</a:t>
            </a:r>
            <a:endParaRPr b="0" i="0" sz="28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64" name="Google Shape;364;p3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s" sz="2200" u="none" cap="none" strike="noStrike">
                <a:solidFill>
                  <a:srgbClr val="171717"/>
                </a:solidFill>
                <a:latin typeface="Plus Jakarta Sans"/>
                <a:ea typeface="Plus Jakarta Sans"/>
                <a:cs typeface="Plus Jakarta Sans"/>
                <a:sym typeface="Plus Jakarta Sans"/>
              </a:rPr>
              <a:t>Puente al Módulo 8</a:t>
            </a:r>
            <a:endParaRPr b="0" i="0" sz="22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40"/>
          <p:cNvSpPr txBox="1"/>
          <p:nvPr/>
        </p:nvSpPr>
        <p:spPr>
          <a:xfrm>
            <a:off x="739075" y="351022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La IA propone, el humano dispone. Soltá todas tus dudas del módulo.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370" name="Google Shape;370;p40"/>
          <p:cNvSpPr txBox="1"/>
          <p:nvPr/>
        </p:nvSpPr>
        <p:spPr>
          <a:xfrm>
            <a:off x="1415425" y="237142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¿Preguntas?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41"/>
          <p:cNvSpPr txBox="1"/>
          <p:nvPr/>
        </p:nvSpPr>
        <p:spPr>
          <a:xfrm>
            <a:off x="571500" y="2175175"/>
            <a:ext cx="64629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¡Cerramos el Módulo 7,</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70000"/>
              </a:lnSpc>
              <a:spcBef>
                <a:spcPts val="0"/>
              </a:spcBef>
              <a:spcAft>
                <a:spcPts val="0"/>
              </a:spcAft>
              <a:buClr>
                <a:srgbClr val="000000"/>
              </a:buClr>
              <a:buSzPts val="4000"/>
              <a:buFont typeface="Arial"/>
              <a:buNone/>
            </a:pPr>
            <a:r>
              <a:rPr b="0" i="0" lang="es" sz="4000" u="none" cap="none" strike="noStrike">
                <a:solidFill>
                  <a:srgbClr val="260700"/>
                </a:solidFill>
                <a:latin typeface="Plus Jakarta Sans ExtraBold"/>
                <a:ea typeface="Plus Jakarta Sans ExtraBold"/>
                <a:cs typeface="Plus Jakarta Sans ExtraBold"/>
                <a:sym typeface="Plus Jakarta Sans ExtraBold"/>
              </a:rPr>
              <a:t>arquitectos!</a:t>
            </a:r>
            <a:endParaRPr b="0" i="0" sz="4000" u="none" cap="none" strike="noStrike">
              <a:solidFill>
                <a:srgbClr val="260700"/>
              </a:solidFill>
              <a:latin typeface="Plus Jakarta Sans ExtraBold"/>
              <a:ea typeface="Plus Jakarta Sans ExtraBold"/>
              <a:cs typeface="Plus Jakarta Sans ExtraBold"/>
              <a:sym typeface="Plus Jakarta Sans ExtraBold"/>
            </a:endParaRPr>
          </a:p>
        </p:txBody>
      </p:sp>
      <p:sp>
        <p:nvSpPr>
          <p:cNvPr id="376" name="Google Shape;376;p41"/>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260700"/>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260700"/>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260700"/>
              </a:solidFill>
              <a:latin typeface="Plus Jakarta Sans"/>
              <a:ea typeface="Plus Jakarta Sans"/>
              <a:cs typeface="Plus Jakarta Sans"/>
              <a:sym typeface="Plus Jakarta Sans"/>
            </a:endParaRPr>
          </a:p>
        </p:txBody>
      </p:sp>
      <p:pic>
        <p:nvPicPr>
          <p:cNvPr id="377" name="Google Shape;377;p41" title="Group 1321320857.png"/>
          <p:cNvPicPr preferRelativeResize="0"/>
          <p:nvPr/>
        </p:nvPicPr>
        <p:blipFill rotWithShape="1">
          <a:blip r:embed="rId3">
            <a:alphaModFix/>
          </a:blip>
          <a:srcRect b="0" l="0" r="0" t="0"/>
          <a:stretch/>
        </p:blipFill>
        <p:spPr>
          <a:xfrm>
            <a:off x="7259075" y="488075"/>
            <a:ext cx="1221826" cy="356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